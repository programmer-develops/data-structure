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1011" r:id="rId2"/>
    <p:sldId id="993" r:id="rId3"/>
    <p:sldId id="1012" r:id="rId4"/>
    <p:sldId id="1013" r:id="rId5"/>
    <p:sldId id="691" r:id="rId6"/>
    <p:sldId id="1027" r:id="rId7"/>
    <p:sldId id="930" r:id="rId8"/>
    <p:sldId id="274" r:id="rId9"/>
    <p:sldId id="1063" r:id="rId10"/>
    <p:sldId id="1060" r:id="rId11"/>
    <p:sldId id="1061" r:id="rId12"/>
    <p:sldId id="1077" r:id="rId13"/>
    <p:sldId id="275" r:id="rId14"/>
    <p:sldId id="276" r:id="rId15"/>
    <p:sldId id="1078" r:id="rId16"/>
    <p:sldId id="1079" r:id="rId17"/>
    <p:sldId id="1059" r:id="rId18"/>
    <p:sldId id="277" r:id="rId19"/>
    <p:sldId id="1080" r:id="rId20"/>
    <p:sldId id="1081" r:id="rId21"/>
    <p:sldId id="278" r:id="rId22"/>
    <p:sldId id="1082" r:id="rId23"/>
    <p:sldId id="292" r:id="rId24"/>
    <p:sldId id="1083" r:id="rId25"/>
    <p:sldId id="1088" r:id="rId26"/>
    <p:sldId id="1089" r:id="rId27"/>
    <p:sldId id="280" r:id="rId28"/>
    <p:sldId id="1090" r:id="rId29"/>
    <p:sldId id="293" r:id="rId30"/>
    <p:sldId id="1091" r:id="rId31"/>
    <p:sldId id="281" r:id="rId32"/>
    <p:sldId id="282" r:id="rId33"/>
    <p:sldId id="1106" r:id="rId34"/>
    <p:sldId id="1107" r:id="rId35"/>
    <p:sldId id="283" r:id="rId36"/>
    <p:sldId id="1092" r:id="rId37"/>
    <p:sldId id="1093" r:id="rId38"/>
    <p:sldId id="284" r:id="rId39"/>
    <p:sldId id="1094" r:id="rId40"/>
    <p:sldId id="1095" r:id="rId41"/>
    <p:sldId id="285" r:id="rId42"/>
    <p:sldId id="1096" r:id="rId43"/>
    <p:sldId id="286" r:id="rId44"/>
    <p:sldId id="1097" r:id="rId45"/>
    <p:sldId id="1098" r:id="rId46"/>
    <p:sldId id="287" r:id="rId47"/>
    <p:sldId id="288" r:id="rId48"/>
    <p:sldId id="294" r:id="rId49"/>
    <p:sldId id="1108" r:id="rId50"/>
    <p:sldId id="1109" r:id="rId51"/>
    <p:sldId id="289" r:id="rId52"/>
    <p:sldId id="290" r:id="rId53"/>
    <p:sldId id="1070" r:id="rId54"/>
    <p:sldId id="1062" r:id="rId55"/>
    <p:sldId id="1087" r:id="rId56"/>
    <p:sldId id="1103" r:id="rId57"/>
    <p:sldId id="1064" r:id="rId58"/>
    <p:sldId id="1065" r:id="rId59"/>
    <p:sldId id="1085" r:id="rId60"/>
    <p:sldId id="1099" r:id="rId61"/>
    <p:sldId id="1102" r:id="rId62"/>
    <p:sldId id="1100" r:id="rId63"/>
    <p:sldId id="1101" r:id="rId64"/>
    <p:sldId id="1086" r:id="rId65"/>
    <p:sldId id="1084" r:id="rId66"/>
    <p:sldId id="1104" r:id="rId67"/>
    <p:sldId id="1105" r:id="rId68"/>
    <p:sldId id="1024" r:id="rId69"/>
    <p:sldId id="1014" r:id="rId70"/>
    <p:sldId id="269" r:id="rId71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4D17C-1552-7CB8-7A31-D330E23915B7}" v="10" dt="2026-01-11T12:41:16.804"/>
    <p1510:client id="{5C9F064A-D94D-420C-A86D-79213B717A8E}" v="1" dt="2026-01-10T05:02:32.9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88" d="100"/>
          <a:sy n="88" d="100"/>
        </p:scale>
        <p:origin x="885" y="57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49edf8e8-7ce8-44bc-8ba6-5e538ffde482::" providerId="AD" clId="Web-{4804D17C-1552-7CB8-7A31-D330E23915B7}"/>
    <pc:docChg chg="modSld">
      <pc:chgData name="Guest User" userId="S::urn:spo:tenantanon#49edf8e8-7ce8-44bc-8ba6-5e538ffde482::" providerId="AD" clId="Web-{4804D17C-1552-7CB8-7A31-D330E23915B7}" dt="2026-01-11T12:41:15.163" v="3" actId="20577"/>
      <pc:docMkLst>
        <pc:docMk/>
      </pc:docMkLst>
      <pc:sldChg chg="modSp">
        <pc:chgData name="Guest User" userId="S::urn:spo:tenantanon#49edf8e8-7ce8-44bc-8ba6-5e538ffde482::" providerId="AD" clId="Web-{4804D17C-1552-7CB8-7A31-D330E23915B7}" dt="2026-01-11T12:41:15.163" v="3" actId="20577"/>
        <pc:sldMkLst>
          <pc:docMk/>
          <pc:sldMk cId="751646105" sldId="1011"/>
        </pc:sldMkLst>
        <pc:spChg chg="mod">
          <ac:chgData name="Guest User" userId="S::urn:spo:tenantanon#49edf8e8-7ce8-44bc-8ba6-5e538ffde482::" providerId="AD" clId="Web-{4804D17C-1552-7CB8-7A31-D330E23915B7}" dt="2026-01-11T12:41:15.163" v="3" actId="20577"/>
          <ac:spMkLst>
            <pc:docMk/>
            <pc:sldMk cId="751646105" sldId="1011"/>
            <ac:spMk id="7" creationId="{707A6CE9-669B-DEE3-BF3E-8D5506EAE30B}"/>
          </ac:spMkLst>
        </pc:spChg>
      </pc:sldChg>
    </pc:docChg>
  </pc:docChgLst>
  <pc:docChgLst>
    <pc:chgData name="Jyoti Yadav" userId="8da2e7729ab2cedd" providerId="LiveId" clId="{741A7A88-242A-459A-A359-2627301AD1E9}"/>
    <pc:docChg chg="modSld">
      <pc:chgData name="Jyoti Yadav" userId="8da2e7729ab2cedd" providerId="LiveId" clId="{741A7A88-242A-459A-A359-2627301AD1E9}" dt="2026-01-10T05:02:32.908" v="13"/>
      <pc:docMkLst>
        <pc:docMk/>
      </pc:docMkLst>
      <pc:sldChg chg="modSp mod">
        <pc:chgData name="Jyoti Yadav" userId="8da2e7729ab2cedd" providerId="LiveId" clId="{741A7A88-242A-459A-A359-2627301AD1E9}" dt="2026-01-10T05:02:32.908" v="13"/>
        <pc:sldMkLst>
          <pc:docMk/>
          <pc:sldMk cId="751646105" sldId="1011"/>
        </pc:sldMkLst>
        <pc:spChg chg="mod">
          <ac:chgData name="Jyoti Yadav" userId="8da2e7729ab2cedd" providerId="LiveId" clId="{741A7A88-242A-459A-A359-2627301AD1E9}" dt="2026-01-10T05:02:27.891" v="11" actId="20577"/>
          <ac:spMkLst>
            <pc:docMk/>
            <pc:sldMk cId="751646105" sldId="1011"/>
            <ac:spMk id="7" creationId="{707A6CE9-669B-DEE3-BF3E-8D5506EAE30B}"/>
          </ac:spMkLst>
        </pc:spChg>
        <pc:spChg chg="mod">
          <ac:chgData name="Jyoti Yadav" userId="8da2e7729ab2cedd" providerId="LiveId" clId="{741A7A88-242A-459A-A359-2627301AD1E9}" dt="2026-01-10T05:02:32.908" v="13"/>
          <ac:spMkLst>
            <pc:docMk/>
            <pc:sldMk cId="751646105" sldId="1011"/>
            <ac:spMk id="9" creationId="{80A128E3-2186-5C09-4DCD-7BC6527248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319185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834174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82023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48164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E146-E500-E332-BAC6-B5D167E8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620BC-7131-637A-AEEE-40B75F12A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C5901-0ADD-E9C0-1E1F-22EAA4EAA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BA9CF-9F83-57DE-C8E2-B49FF72C1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97AE6-5F02-A4BE-E9D9-02AD278A45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CA7C8F7-4E8B-41E7-196C-6FF78B4E0E2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88932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036856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98004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D7411-4A39-B217-339C-D2ADA0F0F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06120-E923-6FC0-BB06-4BC1770D1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51E5E-DBD8-0754-B227-DB250D7DF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38D47-252F-1C4D-E69D-D6BA2CA0B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2DCF1-0BCD-367C-A7C8-D8C34944B0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4919125-D7B8-F0CF-2D83-9A82E159101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72516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0BC6-B372-9495-1B21-22483785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B5616-A25E-F981-B8FC-B03D5C4B4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8EBAC-CE6C-B795-BC64-D24C5C4C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C9369-F7AD-1A99-F56D-8F83C98EF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3D46F-C422-15D2-7BD6-D73184414C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B0307ED-BBB4-F0E6-0289-D3F98D40EE0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13610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609651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92994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5B24-5AE6-D7A7-8C2E-E0B84950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B4B27-710F-16E9-41A2-319369606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24BFC-A7F8-C7FC-2C21-755724C57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BC41B-C4D4-63FA-2145-F9E8B2A9E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D7219-C222-9400-0311-FDFBCB6D9E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7D20502-FF4B-CB25-C8A3-96A3DA30F4A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50057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EF35-F83B-583D-84A3-5E321242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FA193-4319-387A-C164-7A791EEA8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9E289-2362-ED78-BB69-7A206363D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AC76D-800A-BD91-F7EA-70DA7C3D9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EF194-631B-B810-FFC3-D0E3FF7843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1518EEA-310A-9996-F0C3-C9F7846DFA6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2150708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234801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83C8-F4B0-1432-9EB4-47822D19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896F2-ABEB-2DDE-06D9-D67E09BD3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9D222-492F-86C8-5DDB-AFD3B94C1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B8709-4E99-B64A-6F2E-B47CC8F7B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37D4-0956-09AB-DCB0-10C4323415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114B422-B6EF-4820-86ED-5C65CE9D64C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5099545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5921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33D0-5E06-98F0-D348-BAF0719C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D64B6-C4F9-B185-8721-AFE56BF3C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2B52F-7C0B-93B4-ECB9-0768F4E23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DEBB7-B4FF-3615-D41F-354192635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BEFA-AE5F-C3F4-AEBB-1910AAE0A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28E519C-E34C-A6F1-87E8-DDB255353A1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9733190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1CDF4-7BDE-2A16-8327-73E5932D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61B62-A42B-CB64-0088-6F7A2FA2D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AD658-6374-9FAA-1AC6-6CA386F35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C5CE1-1858-7759-1295-60CC71C63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C8D8E-897B-8B36-9240-2A90CFC5C9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3206C1E-4BAA-925E-0EF5-371CACA1F10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056415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C48D-93C8-3584-D246-CA915F44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7A757-C9E7-3808-944F-4C9CC602F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31DA1-266A-512E-A140-B69065539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A0CCF-8BC5-3929-7DEE-57155C84D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B86D7-24CE-0A6C-6579-F8C9B5CDA8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1B10271-0DB1-C75B-AF2A-0491BECFCFF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76531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180438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ED41B-1100-BFC8-EB6E-6E2C90ED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6FBF9-703A-9DCF-4969-B5543419F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707E7-EAC5-0A5A-7F2F-5671C76C8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29A78-AC53-E59B-F0D6-3936C36F8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B20EF-17A1-857C-C868-EE772B5BF2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F8C5A4C-11DA-509D-E6C4-207B55E31D2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09507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009013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D53A-49C5-8BD0-D9D6-224545C3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91F4C-6769-C170-E2B2-5C0D671B2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7DB5F-2BFF-1C1C-A7C5-EF01B26C8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78AD6-9B01-281D-E765-D799B6F34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BE951-93B0-3528-A878-DDD5A64C14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2AC908B-49B4-31ED-C240-506FF738E3C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627731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264210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7488600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305C7-815A-3C2B-6CA3-F270F69A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48EF7-5388-747E-B1DC-D8615A741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8EEF8-709A-62A5-0BEE-9D5408B57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C3427-5495-2207-B525-AF36DCC0A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65BEB-29F0-8A80-FF37-E9C81C6B10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6CE5796-24E6-BB70-CBD9-BA0C22063C2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6969858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C6A02-335D-C99A-6110-6B463A91A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AD110-902B-0CFC-8B94-9E01C8A32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60356-1A04-C966-760C-733F63328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688D2-6EB9-E203-C157-EB22C296C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BC766-03B1-6915-6932-9DB71C783C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A578C09-2A8B-B78A-9FC2-A83CF677381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0232323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8433093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4A50-6F1D-F927-5920-15AEACE3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0415D-2D6C-8184-5F6A-B3AEAD877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D9D16-3FC4-8571-A8EF-7116B2E4A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A772E-D1E2-A770-1236-AD9D77E94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82B31-A6EA-9CC9-8F93-57931B2170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61E434A-671F-F602-E924-7068391F463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7274300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B00B0-B211-016A-1555-E152E1B9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C86E5-1827-8B21-3633-56351ACE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4A0E9-1426-338F-2E10-EF984261E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19268-9EEE-B56B-9373-1955BD67A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72F6A-937D-451D-7103-15CCECF0D3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8D53744-92E6-C9D9-4F0A-09B25879709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5651948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233311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094C-29A7-63C5-2897-EA3CFFA3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EBE31-D85C-0B00-F1C4-BF06C1F10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95947-A676-49BB-3BB9-26547B450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E7C89-1A5F-BD6C-9684-B329EEC22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D6D41-8AA4-2081-E1CF-F8F80CB434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8F63B3A-4EBD-05AB-2873-556C46CC65B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7175810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AA2AB-4EF4-157F-E881-58737C41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095FC-2716-273C-D613-4870D61F3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8A823-4D50-F895-9383-F2FE9DBF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5B188-6D15-3ACA-CA23-E2A3453DB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DDDCA-C48F-9026-F99A-AB46097F08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214C3F4-4F43-0E8E-1FF4-BE695B2428B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64075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612884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CF1F-2E6E-1EBD-F816-796DF17C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28235-AA7A-23D4-70BD-B96605D7D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A9BC4-486B-CFEC-09A5-E2A9BAC96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A1EB4-EAB1-3854-6A4A-67107D6E5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CB935-9159-C616-ED32-2A36321B82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B64119A-1336-33FD-9FCC-BC824ECF9DF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9043419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050068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0AD1-5479-518C-A67E-03810A25E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F25BB-5A95-3478-1FB2-5BE86EF92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6B0B6-4449-134A-5B53-C86EA61AB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8B081-280B-8705-B05A-F1BE627AF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9BE40-EA57-DFB8-45FC-303CAFABED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DBE1D0B-A075-0FD9-E0F0-3C3526105E4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9552182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7EA8-6ABE-7CA7-E20A-5EA3A944A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89D9F-0296-065A-9AFC-F2B9341CD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37312-324A-8EE3-6B8B-5343E2F25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BE233-668B-3662-3E47-4B29532FE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B0206-61C5-DBFA-CEC0-8877524B84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F24EAB9-E87D-1FB8-F0F5-6FFCA1671B1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019465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309393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5160745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616665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378-903F-6A94-7C3E-F8AA681C7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99403-897F-9365-E3B3-29FB9A9A9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DFF4A-89D8-ACC9-C85F-DB6858CFB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ED14-69A7-2F21-90A0-AE3A0A84D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C6BDC-9F7A-A600-C185-8883C091CA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681C2D9-E070-B7EB-8463-93748D85970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4455174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A77BE-9605-94BB-C6EE-2698DBB9C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DE007-1E57-2B2E-75EA-804308FBD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8C17F-C1E3-9A28-7060-1F330CFA5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7BD39-AB72-550D-EBC0-8B88A7C70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B40B6-6B1C-E33F-EDAC-008C76F490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FDF71D1-4170-D1E7-F749-388D4BBA1F5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539308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922289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9397601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5551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2045814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6D844-3350-628D-2BC0-27924633C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67607-E053-79C6-3C3A-2B0E5087C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EC66C-B172-D340-4E87-53897755B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55951-779A-D6B6-3055-A3B09AD53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9AA5D-2B61-19BD-311E-6C75DCEB2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9255266-84FD-6055-F4BA-546F4D0C37E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9380624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783EB-3FD2-9AFB-4E82-D4C1078D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5B871-EED7-CC40-C137-24E5258CD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7E371-4E84-511A-88E1-90551B945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A4951-D5AB-C682-B760-9C160249E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98526-30BF-FC4A-9A07-EE030CE23B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F4B6E78-38E6-FE87-DFAC-F887EB6C14D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3903190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0673253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55344700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771-BD8F-262D-C2A3-12B90B06F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37BD8-D121-BBB6-6B5E-4C7B4BFD0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A621B-A93F-C8F7-4062-7C43445FE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88176-6B51-686F-22D2-465ED9082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64E30-FAA7-EC05-9CB1-343AC32AC5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6031BAE-6115-2A9A-2BB9-BF4310D25A6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864428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2FB66-1524-A5EF-254A-5CB2BA7A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378CE-B695-E5CD-BE5F-C1E6DE18E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9C817-7A1C-6AA4-EADB-668A60AEE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94A55-A004-1ED3-FB0D-E95E8A347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F45F5-7343-0465-A166-D04CE50DE6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DA5B5FB-6A72-EF96-D974-4648C19028D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306130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2BDB-634B-1582-8BE5-66AD9947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35FB8-0DF9-3F42-D3B8-98707469A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0D5B9-C3EF-26FB-ECC7-C9D69B316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BF47F-3555-4E00-1CD7-0BE424B75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E7A6B-51D7-759F-808C-0D003B1CB0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420E1E4-ECEB-B950-91B8-613616AE42F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12151428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7D9D8-9F37-35D0-400D-60817635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485FF-334E-C327-F1E6-B8825FCB3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7F7D4-3391-366D-32E9-E195AEFB3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0BC49-2D1A-0AE8-7821-8640DA46C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B03A4-DE25-215D-CABA-0DCB275861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83B6A48-3292-F001-70E8-32764D80463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740846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DA4E5-8247-6A5E-9DBD-028D2C98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95A90-E7F0-4DFD-A095-C579EF164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2FB1F-C3E1-E04E-0CA1-19CF79E23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F195E-7192-23D0-2F77-A24649CB4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12FE1-87DF-422A-AE9A-DF1C370BEF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7FB28D0-449B-8B8C-F81E-E002F383EFE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0781351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8B676-5179-E9E2-3F1A-FC1E04892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95BD7-8F79-BD14-E501-52E8D004B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49135-FEA4-E849-E333-D45EE0659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94378-1709-FA8C-9664-2FEB55E5D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4CC0C-95C6-5762-25F8-97B5CABFAF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0F7072F-D770-B786-B0E5-7E7E2CA7A59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4064387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4D8C-A1BD-6EEA-2254-13FDC8D9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2F684-C10B-D117-10FE-BDA1AC0C0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C619E-E00D-4284-878E-F42277540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9F25A-19E9-3756-0497-48E388079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BB975-BCF0-6B84-13C9-E663CF7F82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E0B43E5-3CEB-8609-F7A9-213B325DF8B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6940484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20E84-B5A1-0EB7-2155-04AAADE3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0DFA4-F3ED-2C76-7F71-4C4FBC9FD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C517A-7682-BD37-B12F-C0F4A5518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583C6-F359-FD4F-970F-65A4E6A8A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0CD09-E15D-5382-263F-F92D5DDF25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83A4318-E314-5F46-E645-B18AA9BDE37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99172759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06397-1F6A-F6C5-A3A8-B5AECBCB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3E6A0-DFBE-CC98-0499-A8C6635E9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BC0A4-8DC8-537C-271C-7F647C83C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6EEC1-6911-ED02-5717-857EAED55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1AD20-7F21-EBF1-9D22-850F47CC1F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F85BB2D-7811-83C0-CB85-D0C0BE5257C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7267481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1349-3B1A-4219-422B-9E452793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C6E87-1A18-81F5-76C3-1F1A34309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46D69-9C91-B6C1-C36A-D9E763DD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9B68-97B5-6C71-0B4F-7458139BC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82931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01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W0xVdCg1n" TargetMode="Externa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zvW--MER5" TargetMode="Externa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m2WkbpYDQ" TargetMode="Externa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CDlrmZCMK9" TargetMode="Externa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dsa/linked-list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tutorialspoint.com/data_structures_algorithms/linked_list_algorithms.htm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linked-list-set-2-inserting-a-node/" TargetMode="External"/><Relationship Id="rId5" Type="http://schemas.openxmlformats.org/officeDocument/2006/relationships/hyperlink" Target="https://www.geeksforgeeks.org/linked-list-set-1-introduction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ocw.mit.edu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Basics of 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/>
                <a:cs typeface="Times New Roman"/>
                <a:sym typeface="Arial"/>
              </a:rPr>
              <a:t>ETCCBD201 </a:t>
            </a:r>
            <a:endParaRPr lang="en-IN" sz="2800" b="1" dirty="0">
              <a:solidFill>
                <a:srgbClr val="FF0000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Ms. Jyoti Yadav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Session 14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92280" y="1347520"/>
            <a:ext cx="5861364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Linked List Operations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 Representation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Operation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Operations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Operations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Operation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Analysis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Questions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Errors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Quiz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Operations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1" y="1144905"/>
            <a:ext cx="8496942" cy="4417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basic operations performed on a linked list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traversal, insertion, deletion, and search operations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and understand algorithms and code for linked list operations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time complexity of different linked list operations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common errors while performing pointer manipulations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Linked List Types</a:t>
            </a:r>
            <a:r>
              <a:rPr lang="en-US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4" y="1065209"/>
            <a:ext cx="85809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lvl="0" indent="-1762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linked list is a linear data structure made up of nodes, where each node contains data and pointer(s).</a:t>
            </a:r>
          </a:p>
          <a:p>
            <a:pPr marL="176213" lvl="0" indent="-1762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arrays, linked lists store elements in non-contiguous memory locations.</a:t>
            </a:r>
          </a:p>
          <a:p>
            <a:pPr marL="176213" lvl="0" indent="-1762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head points to the first node, and the last node points to NULL (except in circular lists).</a:t>
            </a:r>
          </a:p>
          <a:p>
            <a:pPr marL="176213" lvl="0" indent="-1762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lists use one pointer and support forward traversal only.</a:t>
            </a:r>
          </a:p>
          <a:p>
            <a:pPr marL="176213" lvl="0" indent="-1762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lists use two pointers and support forward and backward traversal.</a:t>
            </a:r>
          </a:p>
          <a:p>
            <a:pPr marL="176213" lvl="0" indent="-1762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lists do not have NULL pointers; the last node points back to the head.</a:t>
            </a:r>
          </a:p>
          <a:p>
            <a:pPr marL="176213" lvl="0" indent="-1762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 provide dynamic memory allocation and efficient insertion and deletion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58244" y="1065209"/>
            <a:ext cx="8580969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linked list is composed of a series of connected __________.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of a singly linked list contains __________ pointer(s).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circular linked list, the last node points to the __________.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doubly linked list supports __________ traversal.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 store elements in __________ memory locations.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One-Word Answer Questions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6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the first node of a linked list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6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that supports backward traversal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6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with no NULL pointer</a:t>
            </a:r>
          </a:p>
          <a:p>
            <a:br>
              <a:rPr lang="en-US" sz="2400" dirty="0"/>
            </a:b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82594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Non-contiguous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IN" sz="3600" dirty="0">
                <a:solidFill>
                  <a:srgbClr val="FF0000"/>
                </a:solidFill>
              </a:rPr>
              <a:t>Linked List </a:t>
            </a:r>
            <a:r>
              <a:rPr lang="en-US" sz="3200" dirty="0">
                <a:solidFill>
                  <a:srgbClr val="FF0000"/>
                </a:solidFill>
              </a:rPr>
              <a:t>Operations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2D975-8EBA-F76D-6F55-20D94EF5C38B}"/>
              </a:ext>
            </a:extLst>
          </p:cNvPr>
          <p:cNvSpPr txBox="1"/>
          <p:nvPr/>
        </p:nvSpPr>
        <p:spPr>
          <a:xfrm>
            <a:off x="307975" y="1044471"/>
            <a:ext cx="8144073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operations on a linked list are: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Visiting every element and displaying it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a new element to the list</a:t>
            </a:r>
          </a:p>
          <a:p>
            <a:pPr marL="720725" lvl="1" indent="-3603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beginning</a:t>
            </a:r>
          </a:p>
          <a:p>
            <a:pPr marL="720725" lvl="1" indent="-3603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</a:t>
            </a:r>
          </a:p>
          <a:p>
            <a:pPr marL="720725" lvl="1" indent="-3603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another node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Removing an item from a list</a:t>
            </a:r>
          </a:p>
          <a:p>
            <a:pPr marL="720725" lvl="1" indent="-3603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beginning</a:t>
            </a:r>
          </a:p>
          <a:p>
            <a:pPr marL="720725" lvl="1" indent="-3603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end</a:t>
            </a:r>
          </a:p>
          <a:p>
            <a:pPr marL="720725" lvl="1" indent="-3603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node after a given node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supplied key is used to search element</a:t>
            </a:r>
          </a:p>
        </p:txBody>
      </p:sp>
    </p:spTree>
    <p:extLst>
      <p:ext uri="{BB962C8B-B14F-4D97-AF65-F5344CB8AC3E}">
        <p14:creationId xmlns:p14="http://schemas.microsoft.com/office/powerpoint/2010/main" val="760915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Singly linked list </a:t>
            </a:r>
            <a:r>
              <a:rPr lang="en-IN" sz="3600" dirty="0">
                <a:solidFill>
                  <a:srgbClr val="FF0000"/>
                </a:solidFill>
              </a:rPr>
              <a:t>Representation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38361"/>
            <a:ext cx="859442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Linking: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are linked sequentially through pointers. Each node's pointer points to the next node in the sequence, forming the linkage.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Typically, dynamic memory allocation is used for node creation, allowing nodes to be created and destroyed as needed.</a:t>
            </a: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Access: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elements in a singly linked list starts from the head pointer. To access or manipulate data in a specific node, traversal through the list from the head pointer is necessary.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9" r="12512" b="16751"/>
          <a:stretch>
            <a:fillRect/>
          </a:stretch>
        </p:blipFill>
        <p:spPr bwMode="auto">
          <a:xfrm>
            <a:off x="2568494" y="5334679"/>
            <a:ext cx="4112096" cy="122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250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0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dirty="0">
                <a:solidFill>
                  <a:srgbClr val="FF0000"/>
                </a:solidFill>
              </a:rPr>
              <a:t>Implementation of Single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259175"/>
            <a:ext cx="815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create a start node, used to create and access other nodes in the linked list.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structure definition will do: 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structure with one data item and a next pointer, which will be pointing  to next node of the list. This is called as self-referential structure.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Initialise the start pointer to be NULL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63" y="4012223"/>
            <a:ext cx="7425073" cy="2297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7104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0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dirty="0">
                <a:solidFill>
                  <a:srgbClr val="FF0000"/>
                </a:solidFill>
              </a:rPr>
              <a:t>Creating a node for Single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24" y="1556791"/>
            <a:ext cx="8097216" cy="3456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0370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C3EF4-5E2E-F788-9DCB-36AE68267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7218D7-4D90-40E4-141B-DF5D28532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82A1DB-9BFE-C17C-D6C4-DF88D1F26C9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1263EC0-B1D2-3679-4AE5-AF956A3638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A8BE41-E398-FC4B-562F-9E1B32D4958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A160D1-7CC2-FA38-3200-7EA974145E68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Traversal operation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664CF-EDF8-5344-904C-EC82D373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EC112-88E3-C9C4-19F1-D1D610ACAA04}"/>
              </a:ext>
            </a:extLst>
          </p:cNvPr>
          <p:cNvSpPr txBox="1"/>
          <p:nvPr/>
        </p:nvSpPr>
        <p:spPr>
          <a:xfrm>
            <a:off x="251519" y="1456824"/>
            <a:ext cx="857150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is the process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visiting each node of the linked list exactly once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 or display data.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starts from </a:t>
            </a:r>
            <a:r>
              <a:rPr lang="en-US" sz="2400" dirty="0">
                <a:latin typeface="Courier New" panose="02070309020205020404" pitchFamily="49" charset="0"/>
              </a:rPr>
              <a:t>head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continues until </a:t>
            </a:r>
            <a:r>
              <a:rPr lang="en-US" sz="2400" dirty="0">
                <a:latin typeface="Courier New" panose="02070309020205020404" pitchFamily="49" charset="0"/>
              </a:rPr>
              <a:t>NULL</a:t>
            </a:r>
            <a:r>
              <a:rPr lang="en-US" sz="2400" dirty="0"/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Traverse Linked List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from </a:t>
            </a:r>
            <a:r>
              <a:rPr lang="en-US" sz="2400" dirty="0">
                <a:latin typeface="Courier New" panose="02070309020205020404" pitchFamily="49" charset="0"/>
              </a:rPr>
              <a:t>head</a:t>
            </a:r>
            <a:endParaRPr lang="en-US" sz="2400" dirty="0"/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400" dirty="0"/>
              <a:t> </a:t>
            </a:r>
            <a:r>
              <a:rPr lang="en-US" sz="2400" dirty="0">
                <a:latin typeface="Courier New" panose="02070309020205020404" pitchFamily="49" charset="0"/>
              </a:rPr>
              <a:t>head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NULL, stop</a:t>
            </a:r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the data of current node</a:t>
            </a:r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to the next node</a:t>
            </a:r>
          </a:p>
          <a:p>
            <a:pPr marL="628650" indent="-36036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current node becomes NULL</a:t>
            </a:r>
          </a:p>
        </p:txBody>
      </p:sp>
    </p:spTree>
    <p:extLst>
      <p:ext uri="{BB962C8B-B14F-4D97-AF65-F5344CB8AC3E}">
        <p14:creationId xmlns:p14="http://schemas.microsoft.com/office/powerpoint/2010/main" val="578631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IN" sz="3200" dirty="0">
                <a:solidFill>
                  <a:srgbClr val="FF0000"/>
                </a:solidFill>
              </a:rPr>
              <a:t>Traversal  </a:t>
            </a:r>
            <a:r>
              <a:rPr lang="en-US" sz="3200" dirty="0">
                <a:solidFill>
                  <a:srgbClr val="FF0000"/>
                </a:solidFill>
              </a:rPr>
              <a:t>Operations</a:t>
            </a:r>
            <a:endParaRPr lang="en-US" sz="3200" b="1" dirty="0">
              <a:solidFill>
                <a:srgbClr val="FF0000"/>
              </a:solidFill>
            </a:endParaRPr>
          </a:p>
          <a:p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58" y="1404430"/>
            <a:ext cx="7456884" cy="191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14" y="3328639"/>
            <a:ext cx="7456884" cy="2343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9306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820" y="7937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53136"/>
            <a:ext cx="87510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IN" sz="36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Algorithm</a:t>
            </a:r>
            <a:endParaRPr lang="en-US" sz="3200" b="1" dirty="0">
              <a:solidFill>
                <a:srgbClr val="FF0000"/>
              </a:solidFill>
            </a:endParaRPr>
          </a:p>
          <a:p>
            <a:endParaRPr lang="en-IN" sz="3200" dirty="0"/>
          </a:p>
          <a:p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97768" y="1133356"/>
            <a:ext cx="4572000" cy="54707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PTR = HEAD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PTR = NULL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WRITE "EMPTY LIST"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GOTO STEP 7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END OF IF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REPEAT STEP 5 AND 6 UNTIL PTR != NULL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PRINT PTR→ DATA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PTR = PTR → NEXT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LOOP]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22127" y="1222698"/>
            <a:ext cx="450546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for traversing  :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*temp = head;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("\n\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nList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 are - \n");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while(temp != NULL) { </a:t>
            </a:r>
          </a:p>
          <a:p>
            <a:pPr>
              <a:lnSpc>
                <a:spcPct val="15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---&gt;",temp-&gt;data);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= temp-&gt;next;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9768" y="4724400"/>
            <a:ext cx="4053257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229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0F587-08D6-7258-ADAA-5F39A7962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6B6CE0-3CF0-DAC0-742B-7A4CD6657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E5846F-C4E9-3B8A-0A22-9594D9FF468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79C5A17-4D18-2AC4-6096-216426F2E2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AA56C8-F254-BA34-4A96-1C8C2647F60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03C31-6CDF-0E5B-2AF0-624C69F25184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Traversal explanation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4030E-6DE0-A9ED-7074-0793F651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9F705-B87B-526E-DD0D-F57828FD1CE3}"/>
              </a:ext>
            </a:extLst>
          </p:cNvPr>
          <p:cNvSpPr txBox="1"/>
          <p:nvPr/>
        </p:nvSpPr>
        <p:spPr>
          <a:xfrm>
            <a:off x="251519" y="1456824"/>
            <a:ext cx="8571505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temporary pointer is used to move through the list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node’s data is accessed sequentially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stops when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reached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br>
              <a:rPr lang="en-IN" sz="24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2203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4578-344A-45C1-E8A1-144ACD5C5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98F6BF-FDB7-DFDF-6309-C577F1594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DF785C-E404-ADD2-063F-3F09E4A5D52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CF20692-924B-8E38-7FD8-4688BC0C72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DFFAB3-FCFB-7B3F-9F04-799C1CBFA68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25903-FD19-FF11-4FB2-2186BFB2152F}"/>
              </a:ext>
            </a:extLst>
          </p:cNvPr>
          <p:cNvSpPr txBox="1"/>
          <p:nvPr/>
        </p:nvSpPr>
        <p:spPr>
          <a:xfrm>
            <a:off x="72008" y="53136"/>
            <a:ext cx="87510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200" dirty="0">
                <a:solidFill>
                  <a:srgbClr val="FF0000"/>
                </a:solidFill>
              </a:rPr>
              <a:t>Traversal Code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820AAB-F10A-604B-C57A-5B5D84C3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83A5BD-7568-3859-88E3-D48D22B2E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272715"/>
              </p:ext>
            </p:extLst>
          </p:nvPr>
        </p:nvGraphicFramePr>
        <p:xfrm>
          <a:off x="202285" y="1928497"/>
          <a:ext cx="885698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8492">
                  <a:extLst>
                    <a:ext uri="{9D8B030D-6E8A-4147-A177-3AD203B41FA5}">
                      <a16:colId xmlns:a16="http://schemas.microsoft.com/office/drawing/2014/main" val="2662439620"/>
                    </a:ext>
                  </a:extLst>
                </a:gridCol>
                <a:gridCol w="4428492">
                  <a:extLst>
                    <a:ext uri="{9D8B030D-6E8A-4147-A177-3AD203B41FA5}">
                      <a16:colId xmlns:a16="http://schemas.microsoft.com/office/drawing/2014/main" val="2217686037"/>
                    </a:ext>
                  </a:extLst>
                </a:gridCol>
              </a:tblGrid>
              <a:tr h="269678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Traversal – C Code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Traversal – Python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4575"/>
                  </a:ext>
                </a:extLst>
              </a:tr>
              <a:tr h="219437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traverse(struct node* head) {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struct node* temp = head;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while (temp != NULL) {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("%d -&gt; ", temp-&gt;data);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temp = temp-&gt;next;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}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 traverse(head):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temp = head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while temp: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print(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temp.data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end=" -&gt; ")</a:t>
                      </a: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temp =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6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074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u="sng" dirty="0"/>
          </a:p>
          <a:p>
            <a:r>
              <a:rPr lang="en-IN" sz="3000" dirty="0">
                <a:solidFill>
                  <a:srgbClr val="FF0000"/>
                </a:solidFill>
              </a:rPr>
              <a:t>Insertion and Deletion operations on Singly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98" t="7845" r="2998" b="10523"/>
          <a:stretch>
            <a:fillRect/>
          </a:stretch>
        </p:blipFill>
        <p:spPr bwMode="auto">
          <a:xfrm>
            <a:off x="755575" y="1720840"/>
            <a:ext cx="7632849" cy="1849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7" t="5807" r="2991" b="4135"/>
          <a:stretch>
            <a:fillRect/>
          </a:stretch>
        </p:blipFill>
        <p:spPr bwMode="auto">
          <a:xfrm>
            <a:off x="755575" y="4285070"/>
            <a:ext cx="7632849" cy="1988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87288" y="1220128"/>
            <a:ext cx="198120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Insertion 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09425" y="3695055"/>
            <a:ext cx="243840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Deletion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95598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239060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Insertion Operations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99438" y="1374186"/>
            <a:ext cx="4572000" cy="1687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beginning.</a:t>
            </a:r>
          </a:p>
          <a:p>
            <a:pPr marL="342900" indent="-342900" algn="just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end.</a:t>
            </a:r>
          </a:p>
          <a:p>
            <a:pPr marL="342900" indent="-342900" algn="just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Location node</a:t>
            </a:r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794DC939-2756-0D02-C006-6430CFF8AF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3" r="11074" b="72925"/>
          <a:stretch>
            <a:fillRect/>
          </a:stretch>
        </p:blipFill>
        <p:spPr bwMode="auto">
          <a:xfrm>
            <a:off x="320641" y="3430152"/>
            <a:ext cx="8427823" cy="1188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3532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BB3B-202D-E21D-8E47-D9FCF044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E001F6-E035-EC82-1B4E-1ADB0955A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7CED2-6DF8-113C-04D2-E5BA01AA756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5DEC344-A15C-0DBB-C171-9805A0F221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448D3-1FDE-4869-1A77-495BB4B6A53C}"/>
              </a:ext>
            </a:extLst>
          </p:cNvPr>
          <p:cNvSpPr txBox="1"/>
          <p:nvPr/>
        </p:nvSpPr>
        <p:spPr>
          <a:xfrm>
            <a:off x="72008" y="285169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Insertion Operations </a:t>
            </a:r>
            <a:r>
              <a:rPr lang="en-IN" sz="3600" dirty="0">
                <a:solidFill>
                  <a:srgbClr val="FF0000"/>
                </a:solidFill>
              </a:rPr>
              <a:t>at the beginning</a:t>
            </a:r>
            <a:endParaRPr lang="en-US" sz="3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12E7A-4D52-753F-B7D7-D5BDD9FE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6D5AC7F8-4A32-F49C-BED7-13F96B2411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DA2A9161-151F-478E-AB32-49D1DF35CD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71EC1F-2D5A-6DE1-7CB4-BA0BEAEB08ED}"/>
              </a:ext>
            </a:extLst>
          </p:cNvPr>
          <p:cNvSpPr/>
          <p:nvPr/>
        </p:nvSpPr>
        <p:spPr>
          <a:xfrm>
            <a:off x="83804" y="1145741"/>
            <a:ext cx="8664660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beginning means adding a new node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current head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 insertion operation.</a:t>
            </a:r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ACC3749D-1C57-56F5-D131-E2CAEB0B0E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833237B8-48CD-4F98-DD20-C0C0349E1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73" y="2833704"/>
            <a:ext cx="7815542" cy="3345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801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74152-0EE9-7AA7-DDEC-1B7AB9EC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A7B72E-4F59-B0CB-C3FA-63C1BC671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EFE45D-A501-0291-B0B0-9FC7841B543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46E174E-C11E-43C2-D5BF-3B2A4F0CA4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EE021C-E479-1F25-627B-C5F185E6F3CC}"/>
              </a:ext>
            </a:extLst>
          </p:cNvPr>
          <p:cNvSpPr txBox="1"/>
          <p:nvPr/>
        </p:nvSpPr>
        <p:spPr>
          <a:xfrm>
            <a:off x="57123" y="211496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Insertion at Beginning – Algorithm</a:t>
            </a:r>
            <a:endParaRPr lang="en-US" sz="3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CD75F-250E-211F-B9A4-8D9E250E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FF2329CC-3636-F401-24A2-2716782FF8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112A9F6F-99E4-330A-40B5-17DC7C728C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3320A-5322-E2C3-B7AF-295914A8CFB2}"/>
              </a:ext>
            </a:extLst>
          </p:cNvPr>
          <p:cNvSpPr/>
          <p:nvPr/>
        </p:nvSpPr>
        <p:spPr>
          <a:xfrm>
            <a:off x="83804" y="1145741"/>
            <a:ext cx="8664660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Insert at Beginning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node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data to new node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newNode.next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head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4963A0A9-A388-53F5-4DA2-AEB87EF986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11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008" y="274519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Algorithm: Insert At Beginning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07974" y="1231007"/>
            <a:ext cx="5864225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AVAIL = NULL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OVERFLOW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 to Step 7 [END OF IF]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= AVAIL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AVAIL = AVAIL -&gt; NEXT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4: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-&gt; DATA = VAL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NEW_NODE -&gt; NEXT = HEAD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HEAD = NEW_NODE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9781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AC13B-82F7-68B0-D2A9-029F1D9C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6E59D5-3B85-7E4B-E527-647DDF104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10F398-90FB-2825-8352-DFE34707E7D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56DB57F-AD64-BC8D-4106-B7D4835E3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0F6EF2-56B9-BEA4-F3F9-18DA4FD29A8C}"/>
              </a:ext>
            </a:extLst>
          </p:cNvPr>
          <p:cNvSpPr txBox="1"/>
          <p:nvPr/>
        </p:nvSpPr>
        <p:spPr>
          <a:xfrm>
            <a:off x="57123" y="211496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Insertion at Beginning – Algorithm</a:t>
            </a:r>
            <a:endParaRPr lang="en-US" sz="3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A2894-5E5A-8597-D558-F44ADC0A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0F14E33E-6BEC-DD62-1724-2074D11CAD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EE41A51D-0B7D-D7F7-F26F-041DDEF032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2BC35-276E-5F48-1AB4-033014EB6A05}"/>
              </a:ext>
            </a:extLst>
          </p:cNvPr>
          <p:cNvSpPr/>
          <p:nvPr/>
        </p:nvSpPr>
        <p:spPr>
          <a:xfrm>
            <a:off x="83804" y="1145741"/>
            <a:ext cx="8664660" cy="2805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Beginning – Explanation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node becomes the first node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pointer is updated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traversal required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1DC4E13D-9CA0-DB71-032D-8B7375468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276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673" y="247114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Code for node insertion 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72032" y="1219686"/>
            <a:ext cx="821025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LinkedList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insertFront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data){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Node();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assign data value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-&gt;data = data;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change the next node of this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to current head of Linked List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head;</a:t>
            </a:r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    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105400" y="5939988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7518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7FC36-95C9-0AFF-E3CD-37977A2F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9E52F0-3CBD-FDBC-93EE-B77207ED2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A99522-F639-8549-698F-1A723D9700E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2CD1877-E013-E2F9-125A-3699E1FF24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DB74B7-57A7-4ED4-8856-FED47DD8963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2AF42-D991-688B-8E9D-B0C1D348E03D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Insertion at beginning </a:t>
            </a:r>
            <a:r>
              <a:rPr lang="en-IN" sz="3600" dirty="0">
                <a:solidFill>
                  <a:srgbClr val="FF0000"/>
                </a:solidFill>
              </a:rPr>
              <a:t>Codes- C and Python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2A6E5-0F1C-5C92-33FB-774B6625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3A6479-7723-1EAE-A482-DE0343E78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932793"/>
              </p:ext>
            </p:extLst>
          </p:nvPr>
        </p:nvGraphicFramePr>
        <p:xfrm>
          <a:off x="179512" y="1666628"/>
          <a:ext cx="8856984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2662439620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217686037"/>
                    </a:ext>
                  </a:extLst>
                </a:gridCol>
              </a:tblGrid>
              <a:tr h="26967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at Beginning – C Code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at Beginning – Python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4575"/>
                  </a:ext>
                </a:extLst>
              </a:tr>
              <a:tr h="223361">
                <a:tc>
                  <a:txBody>
                    <a:bodyPr/>
                    <a:lstStyle/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 node*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insert_begin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(struct node* head, int value) </a:t>
                      </a:r>
                    </a:p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struct node*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(struct node*)malloc(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sizeof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(struct node));</a:t>
                      </a:r>
                    </a:p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-&gt;data = value;</a:t>
                      </a:r>
                    </a:p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-&gt;next = head;</a:t>
                      </a:r>
                    </a:p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return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insert_begin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(head, value):</a:t>
                      </a:r>
                    </a:p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Node(value)</a:t>
                      </a:r>
                    </a:p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new_node.next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head</a:t>
                      </a:r>
                    </a:p>
                    <a:p>
                      <a:pPr rtl="0">
                        <a:spcBef>
                          <a:spcPts val="600"/>
                        </a:spcBef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return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new_node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6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559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EC66-154D-9AD4-2128-E75F95C6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D2E09E-8712-9090-9EFE-8DB58F6C6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951E36-0869-D756-1EEF-EDE8416BA6A4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855C6F3-054F-3A45-C5DF-781EFCA9F2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5A8996-70BB-F4CF-C29E-084FC58328E4}"/>
              </a:ext>
            </a:extLst>
          </p:cNvPr>
          <p:cNvSpPr txBox="1"/>
          <p:nvPr/>
        </p:nvSpPr>
        <p:spPr>
          <a:xfrm>
            <a:off x="72008" y="294372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Insertion at End</a:t>
            </a:r>
            <a:endParaRPr lang="en-US" sz="3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434E0-AFC5-8143-87DB-3BE12304A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A1ED3481-4F19-B8F6-37DA-F8A2B332F4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5F4936EE-67AF-0763-787A-E2A722E6D7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D87B4498-FF61-3D61-7601-8C69BD6901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66CD3-62FA-6A9D-C94E-655E33E967A4}"/>
              </a:ext>
            </a:extLst>
          </p:cNvPr>
          <p:cNvSpPr txBox="1"/>
          <p:nvPr/>
        </p:nvSpPr>
        <p:spPr>
          <a:xfrm>
            <a:off x="155575" y="1107991"/>
            <a:ext cx="866745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end means adding a new node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last 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traversal.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59" y="2273027"/>
            <a:ext cx="7494322" cy="3995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554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8882-0752-1303-9C6B-07787A552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088653-2DFA-66A9-4558-CC77E0632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699BFC-EE9F-E462-B32F-348BD99F6924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563879A-7DF1-CDD5-CC92-13EFC21008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03391D-1A09-4AC5-7BA5-12772D2A8E72}"/>
              </a:ext>
            </a:extLst>
          </p:cNvPr>
          <p:cNvSpPr txBox="1"/>
          <p:nvPr/>
        </p:nvSpPr>
        <p:spPr>
          <a:xfrm>
            <a:off x="86713" y="204652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Insertion at End – Algorithm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0EADB2-9C89-7572-67FE-58686EDF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43DB34B1-9192-86D6-8C61-282F095F77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2A63FDBD-3B6E-FE4E-3BCE-44CBF224CA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87DCDC05-17FD-1011-27F6-D0D1303D04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56C01-632B-FEC6-ED7D-F693FB92C67D}"/>
              </a:ext>
            </a:extLst>
          </p:cNvPr>
          <p:cNvSpPr txBox="1"/>
          <p:nvPr/>
        </p:nvSpPr>
        <p:spPr>
          <a:xfrm>
            <a:off x="220018" y="1365474"/>
            <a:ext cx="866745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Insert at End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node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data and set next = NULL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head is NULL, make new node the head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to the last node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last node’s next to new node</a:t>
            </a:r>
          </a:p>
        </p:txBody>
      </p:sp>
    </p:spTree>
    <p:extLst>
      <p:ext uri="{BB962C8B-B14F-4D97-AF65-F5344CB8AC3E}">
        <p14:creationId xmlns:p14="http://schemas.microsoft.com/office/powerpoint/2010/main" val="1774301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008" y="248922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Insert At End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85008" y="1154312"/>
            <a:ext cx="8836025" cy="4729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Step 1: </a:t>
            </a:r>
            <a:r>
              <a:rPr lang="en-IN" sz="2300" dirty="0"/>
              <a:t>IF AVAIL = NULL  </a:t>
            </a:r>
          </a:p>
          <a:p>
            <a:pPr marL="800100" lvl="2" indent="0" algn="just">
              <a:buNone/>
            </a:pPr>
            <a:r>
              <a:rPr lang="en-IN" sz="2300" dirty="0"/>
              <a:t>Write OVERFLOW </a:t>
            </a:r>
          </a:p>
          <a:p>
            <a:pPr marL="0" indent="0" algn="just">
              <a:buNone/>
            </a:pPr>
            <a:r>
              <a:rPr lang="en-IN" sz="2300" dirty="0"/>
              <a:t>        Go to Step 10 [END OF IF]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Step 2: </a:t>
            </a:r>
            <a:r>
              <a:rPr lang="en-IN" sz="2300" dirty="0"/>
              <a:t>SET NEW_NODE = AVAIL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 Step 3: </a:t>
            </a:r>
            <a:r>
              <a:rPr lang="en-IN" sz="2300" dirty="0"/>
              <a:t>SET AVAIL = AVAIL -&gt; NEXT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Step 4: </a:t>
            </a:r>
            <a:r>
              <a:rPr lang="en-IN" sz="2300" dirty="0"/>
              <a:t>SET NEW_NODE -&gt; DATA = VAL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Step 5: </a:t>
            </a:r>
            <a:r>
              <a:rPr lang="en-IN" sz="2300" dirty="0"/>
              <a:t>SET NEW_NODE -&gt; NEXT = NULL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Step 6: </a:t>
            </a:r>
            <a:r>
              <a:rPr lang="en-IN" sz="2300" dirty="0"/>
              <a:t>SET PTR = HEAD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Step 7: </a:t>
            </a:r>
            <a:r>
              <a:rPr lang="en-IN" sz="2300" dirty="0"/>
              <a:t>Repeat Step 8 while PTR -&gt; NEXT != NULL Step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Step 8: </a:t>
            </a:r>
            <a:r>
              <a:rPr lang="en-IN" sz="2300" dirty="0"/>
              <a:t>SET PTR = PTR -&gt; NEXT [END OF LOOP]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Step 9: </a:t>
            </a:r>
            <a:r>
              <a:rPr lang="en-IN" sz="2300" dirty="0"/>
              <a:t>SET PTR -&gt; NEXT = NEW_NODE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300" dirty="0">
                <a:solidFill>
                  <a:srgbClr val="FF0000"/>
                </a:solidFill>
              </a:rPr>
              <a:t>Step 10: </a:t>
            </a:r>
            <a:r>
              <a:rPr lang="en-IN" sz="2300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330069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E433-EF81-2520-2297-C7FB4317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08D2F1-EE94-C14C-1243-3988B0541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2A5280-A07A-4FFD-39C7-AAA890DB6AFF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79E3D24-AC36-C834-787A-FD586A0B45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CAEF46-BA59-5738-DFA5-24F6FB8B67A0}"/>
              </a:ext>
            </a:extLst>
          </p:cNvPr>
          <p:cNvSpPr txBox="1"/>
          <p:nvPr/>
        </p:nvSpPr>
        <p:spPr>
          <a:xfrm>
            <a:off x="51373" y="201989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Insertion at End – Explanation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9F628-57F8-1925-207B-EE4D9AB7C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225F007A-24E6-F317-DDC2-CA34A588FF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9E275695-598F-A4E3-9C0A-48863671D5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4EA78131-ED1E-CDDA-5CA5-C458CEDE68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FE13CF-7D7C-32AC-3547-BFE5CBB9B7D6}"/>
              </a:ext>
            </a:extLst>
          </p:cNvPr>
          <p:cNvSpPr txBox="1"/>
          <p:nvPr/>
        </p:nvSpPr>
        <p:spPr>
          <a:xfrm>
            <a:off x="184888" y="1322335"/>
            <a:ext cx="866745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is required to reach last node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of last node is updated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88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316" y="284997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Code</a:t>
            </a:r>
            <a:endParaRPr lang="en-US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73126" y="1219200"/>
            <a:ext cx="8836025" cy="4729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0" y="5454134"/>
            <a:ext cx="347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07975" y="1088695"/>
            <a:ext cx="61848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LinkedList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insertLast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freshNode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Node();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freshNode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-&gt;data = data;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since this will be the last node so it will point to NULL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freshNode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NULL;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//need this if there is no node present in linked list at all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if(head==NULL)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head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freshNode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freshNode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-&gt;data &lt;&lt; " inserted"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Node* temp = head;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traverse to the last node of Linked List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while(temp-&gt;next!=NULL)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temp = temp-&gt;next;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assign last node's next to this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freshNode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temp-&gt;next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freshNode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freshNode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-&gt;data &lt;&lt; " inserted"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19533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DE7A-53D8-E6BE-7F78-320CA93BB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ADA4C5-D146-FF74-76E5-031AD8DF9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7E7D29-5474-13D2-79D7-F38F25F9D378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247322F-BC45-A7D1-AE0A-918E6C3B07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C686D9-D872-CABA-81ED-F93C9191096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43DBE2-7A55-4128-674F-F9F8EC075103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Insertion at End </a:t>
            </a:r>
            <a:r>
              <a:rPr lang="en-IN" sz="3600" dirty="0">
                <a:solidFill>
                  <a:srgbClr val="FF0000"/>
                </a:solidFill>
              </a:rPr>
              <a:t>Codes- C and Python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ACF75-A268-1BBB-2B08-A0B3787A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15371B-B922-0F62-5203-AF41E839E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705650"/>
              </p:ext>
            </p:extLst>
          </p:nvPr>
        </p:nvGraphicFramePr>
        <p:xfrm>
          <a:off x="179512" y="1254221"/>
          <a:ext cx="8856984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496">
                  <a:extLst>
                    <a:ext uri="{9D8B030D-6E8A-4147-A177-3AD203B41FA5}">
                      <a16:colId xmlns:a16="http://schemas.microsoft.com/office/drawing/2014/main" val="2662439620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2217686037"/>
                    </a:ext>
                  </a:extLst>
                </a:gridCol>
              </a:tblGrid>
              <a:tr h="26967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at End – C Code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at End – Python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4575"/>
                  </a:ext>
                </a:extLst>
              </a:tr>
              <a:tr h="223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 node*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insert_end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(struct node* head, int value) {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struct node*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(struct node*)malloc(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sizeof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(struct node));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-&gt;data = value;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-&gt;next = NULL;</a:t>
                      </a: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if (head == NULL)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return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struct node* temp = head;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while (temp-&gt;next != NULL)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temp = temp-&gt;next;</a:t>
                      </a: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temp-&gt;next =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return head;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insert_end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(head, value):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new_node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Node(value)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if head is None: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return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new_node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temp = head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while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temp =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new_node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return head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6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855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Insert a Node after a given Node in a Linked 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5" y="1219200"/>
            <a:ext cx="8732023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9560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26529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Insert After An Element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3" name="Content Placeholder 1"/>
          <p:cNvSpPr txBox="1">
            <a:spLocks/>
          </p:cNvSpPr>
          <p:nvPr/>
        </p:nvSpPr>
        <p:spPr>
          <a:xfrm>
            <a:off x="332715" y="1219200"/>
            <a:ext cx="8658883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</a:t>
            </a:r>
            <a:r>
              <a:rPr lang="en-IN" sz="2000" dirty="0">
                <a:solidFill>
                  <a:srgbClr val="FF0000"/>
                </a:solidFill>
              </a:rPr>
              <a:t>tep 1: </a:t>
            </a:r>
            <a:r>
              <a:rPr lang="en-IN" sz="2000" dirty="0"/>
              <a:t>IF AVAIL = NULL Write OVERFLOW Go to Step 12 [END OF IF]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2: </a:t>
            </a:r>
            <a:r>
              <a:rPr lang="en-IN" sz="2000" dirty="0"/>
              <a:t>SET NEW_NODE = AVAIL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3: </a:t>
            </a:r>
            <a:r>
              <a:rPr lang="en-IN" sz="2000" dirty="0"/>
              <a:t>SET AVAIL = AVAIL -&gt; NEXT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4: </a:t>
            </a:r>
            <a:r>
              <a:rPr lang="en-IN" sz="2000" dirty="0"/>
              <a:t>SET NEW_NODE -&gt; DATA = VAL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/>
              <a:t> </a:t>
            </a:r>
            <a:r>
              <a:rPr lang="en-IN" sz="2000" dirty="0">
                <a:solidFill>
                  <a:srgbClr val="FF0000"/>
                </a:solidFill>
              </a:rPr>
              <a:t>Step 5: </a:t>
            </a:r>
            <a:r>
              <a:rPr lang="en-IN" sz="2000" dirty="0"/>
              <a:t>SET PTR = HEAD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6: </a:t>
            </a:r>
            <a:r>
              <a:rPr lang="en-IN" sz="2000" dirty="0"/>
              <a:t>SET PREPTR = PTR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/>
              <a:t> </a:t>
            </a:r>
            <a:r>
              <a:rPr lang="en-IN" sz="2000" dirty="0">
                <a:solidFill>
                  <a:srgbClr val="FF0000"/>
                </a:solidFill>
              </a:rPr>
              <a:t>Step 7: </a:t>
            </a:r>
            <a:r>
              <a:rPr lang="en-IN" sz="2000" dirty="0"/>
              <a:t>Repeat Steps 8 and 9 while PREPTR -&gt; DATA != NUM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8: </a:t>
            </a:r>
            <a:r>
              <a:rPr lang="en-IN" sz="2000" dirty="0"/>
              <a:t>SET PREPTR = PTR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 Step 9: </a:t>
            </a:r>
            <a:r>
              <a:rPr lang="en-IN" sz="2000" dirty="0"/>
              <a:t>SET PTR = PTR -&gt; NEXT [END OF LOOP]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10 : </a:t>
            </a:r>
            <a:r>
              <a:rPr lang="en-IN" sz="2000" dirty="0"/>
              <a:t>PREPTR -&gt; NEXT = NEW_NODE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11: </a:t>
            </a:r>
            <a:r>
              <a:rPr lang="en-IN" sz="2000" dirty="0"/>
              <a:t>SET NEW_NODE -&gt; NEXT = PTR </a:t>
            </a:r>
          </a:p>
          <a:p>
            <a:pPr>
              <a:buFont typeface="Wingdings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</a:rPr>
              <a:t>Step 12: </a:t>
            </a:r>
            <a:r>
              <a:rPr lang="en-IN" sz="2000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614696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B24FE-67C1-7C66-A525-CD2C1BF3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E6BFEC-9228-C52E-3D65-D410F3EA5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FDB451-23CB-AC0E-6F4E-6FA68DF9B4D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CA6AC9A-E331-5FEB-B52E-E7C7E6B6D4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CFBC0E-D78B-EFD1-EEB5-8943DE29770B}"/>
              </a:ext>
            </a:extLst>
          </p:cNvPr>
          <p:cNvSpPr txBox="1"/>
          <p:nvPr/>
        </p:nvSpPr>
        <p:spPr>
          <a:xfrm>
            <a:off x="72008" y="26529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Check Your Understanding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17AF7-67C4-CD23-20F7-B4DEFECF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DFC4212C-FE9B-27E9-0F1B-9FB0B1E4B5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E6C92663-75CB-233F-1CBC-EAF1896C92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CC77A2FE-606F-B67F-4927-F2C1A968DB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8D57CD56-6542-A5E6-FDC8-B997A2A4A67F}"/>
              </a:ext>
            </a:extLst>
          </p:cNvPr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6D8AF4D0-36A3-26CE-2E57-F151084007FD}"/>
              </a:ext>
            </a:extLst>
          </p:cNvPr>
          <p:cNvSpPr txBox="1">
            <a:spLocks/>
          </p:cNvSpPr>
          <p:nvPr/>
        </p:nvSpPr>
        <p:spPr>
          <a:xfrm>
            <a:off x="332715" y="1219200"/>
            <a:ext cx="8658883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a linked list always starts from the __________ node.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the beginning of a linked list requires updating the __________ pointer.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insertion operation does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traversal?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be the time complexity of inserting a node at the beginning of a linked list?</a:t>
            </a:r>
          </a:p>
        </p:txBody>
      </p:sp>
    </p:spTree>
    <p:extLst>
      <p:ext uri="{BB962C8B-B14F-4D97-AF65-F5344CB8AC3E}">
        <p14:creationId xmlns:p14="http://schemas.microsoft.com/office/powerpoint/2010/main" val="30783259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3770-3BD6-CB7A-45DF-0605227A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54EDB2-9C5D-900B-A0D1-0CC909713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B3E31-A6D0-3318-53BD-5085CBD9EB8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2FD1C9E-9359-3CB9-9F0B-519EC97422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959152-0A92-62FD-C45E-71E849C42B57}"/>
              </a:ext>
            </a:extLst>
          </p:cNvPr>
          <p:cNvSpPr txBox="1"/>
          <p:nvPr/>
        </p:nvSpPr>
        <p:spPr>
          <a:xfrm>
            <a:off x="72008" y="26529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Check Your Understanding (Answers)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3644C-E65A-C47F-2B32-A22C67082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E53CB09C-C90A-7064-204C-49B498683E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DA4B4939-F946-EB7C-D516-0DECE5A9D3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ADE6DE53-AB29-6451-163B-EC77EBB259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4ACE5CA2-7A74-5754-5B3D-A24D57208D27}"/>
              </a:ext>
            </a:extLst>
          </p:cNvPr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D43695CF-10B0-431C-A36B-0D650C00D720}"/>
              </a:ext>
            </a:extLst>
          </p:cNvPr>
          <p:cNvSpPr txBox="1">
            <a:spLocks/>
          </p:cNvSpPr>
          <p:nvPr/>
        </p:nvSpPr>
        <p:spPr>
          <a:xfrm>
            <a:off x="332715" y="1219200"/>
            <a:ext cx="8658883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beginning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465261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Deleting Elements from a Linked 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97768" y="1219200"/>
            <a:ext cx="6584032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node is deleted.</a:t>
            </a:r>
          </a:p>
          <a:p>
            <a:pPr marL="342900" indent="-342900" algn="just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node is deleted.</a:t>
            </a:r>
          </a:p>
          <a:p>
            <a:pPr marL="342900" indent="-342900" algn="just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node after a given node is deleted</a:t>
            </a:r>
          </a:p>
        </p:txBody>
      </p:sp>
    </p:spTree>
    <p:extLst>
      <p:ext uri="{BB962C8B-B14F-4D97-AF65-F5344CB8AC3E}">
        <p14:creationId xmlns:p14="http://schemas.microsoft.com/office/powerpoint/2010/main" val="2095186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A571-EA22-B280-778D-3552B979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9C67D1-ADD5-4F8C-ED39-04A6AA75C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F11939-3C19-74B8-F180-21B275895C8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3E056B-6E84-C1E3-7E16-B96BBE7A92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A37B0F-2005-D118-1FAE-8E42424D43DF}"/>
              </a:ext>
            </a:extLst>
          </p:cNvPr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Deleting First  Element from a Linked 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A94E05-ED4F-23C8-38F8-8AA2549C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F22180BB-E657-A2E1-0974-1D88364094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8FD8C13F-9D9A-1954-5F7C-21B04C9E88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F5C24459-F076-834A-3FB9-B37B6A7509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1DF9A-CBFE-6E31-18AF-DEC8915D8646}"/>
              </a:ext>
            </a:extLst>
          </p:cNvPr>
          <p:cNvSpPr/>
          <p:nvPr/>
        </p:nvSpPr>
        <p:spPr>
          <a:xfrm>
            <a:off x="197768" y="1219200"/>
            <a:ext cx="8748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Deletion from beginning removes the </a:t>
            </a:r>
            <a:r>
              <a:rPr lang="en-US" sz="2400" b="1" dirty="0"/>
              <a:t>first node</a:t>
            </a:r>
            <a:r>
              <a:rPr lang="en-US" sz="2400" dirty="0"/>
              <a:t> of the linked list.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1B594C1-DE4A-2761-25FD-7976F5E3E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98" y="1862035"/>
            <a:ext cx="8689459" cy="3587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5412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D730-0F2E-73EC-A03A-D9775DF4B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B08514-0D1D-AD86-506F-E907C0380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64678B-7702-E9A8-B97C-BCCBD3ACD62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B769B93-B2F8-892F-EA40-F724EFFAEE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6ED420-245E-896F-E22B-D9B66980EA3E}"/>
              </a:ext>
            </a:extLst>
          </p:cNvPr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Deletion from Beginning – Algorithm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86F6C-F93C-ED95-D0D0-99D46CE6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59F1E385-CCCE-F657-3104-A5F379FB6F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6B662C49-2FE0-0847-4A88-610F5F2CCB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BCE8133C-2FDF-AEB5-EFE9-6A0C9EA8B3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C24CA-5863-9E37-3377-D3254EE4D4B9}"/>
              </a:ext>
            </a:extLst>
          </p:cNvPr>
          <p:cNvSpPr/>
          <p:nvPr/>
        </p:nvSpPr>
        <p:spPr>
          <a:xfrm>
            <a:off x="197768" y="1219200"/>
            <a:ext cx="8748464" cy="2805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Algorithm: Delete from Beginning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If head is NULL, stop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Store head in a temporary variable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Update head to </a:t>
            </a:r>
            <a:r>
              <a:rPr lang="en-US" dirty="0" err="1"/>
              <a:t>head.next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Delete temporary node</a:t>
            </a:r>
          </a:p>
        </p:txBody>
      </p:sp>
    </p:spTree>
    <p:extLst>
      <p:ext uri="{BB962C8B-B14F-4D97-AF65-F5344CB8AC3E}">
        <p14:creationId xmlns:p14="http://schemas.microsoft.com/office/powerpoint/2010/main" val="14335050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008" y="238686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Delete From Beginning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1: </a:t>
            </a:r>
            <a:r>
              <a:rPr lang="en-IN" sz="2400" dirty="0"/>
              <a:t>IF HEAD = NULL </a:t>
            </a:r>
          </a:p>
          <a:p>
            <a:pPr marL="0" indent="0">
              <a:buNone/>
            </a:pPr>
            <a:r>
              <a:rPr lang="en-IN" sz="2400" dirty="0"/>
              <a:t>Write UNDERFLOW </a:t>
            </a:r>
          </a:p>
          <a:p>
            <a:pPr marL="0" indent="0">
              <a:buNone/>
            </a:pPr>
            <a:r>
              <a:rPr lang="en-IN" sz="2400" dirty="0"/>
              <a:t>Go to Step 5 [END OF IF]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2: </a:t>
            </a:r>
            <a:r>
              <a:rPr lang="en-IN" sz="2400" dirty="0"/>
              <a:t>SET PTR = HEAD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3: </a:t>
            </a:r>
            <a:r>
              <a:rPr lang="en-IN" sz="2400" dirty="0"/>
              <a:t>SET HEAD = HEAD -&gt; NEXT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Step 4: </a:t>
            </a:r>
            <a:r>
              <a:rPr lang="en-IN" sz="2400" dirty="0"/>
              <a:t>FREE PTR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</a:rPr>
              <a:t> Step 5: </a:t>
            </a:r>
            <a:r>
              <a:rPr lang="en-IN" sz="2400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2574943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0498-DBF4-B0D4-D427-F491DCDBF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B62D0B-4E28-48A1-47A9-ADB099AF3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4F9E0D-AEEE-17A6-BA62-668F8068CBF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8C49BE9-5C29-ED01-A0C4-680FC30E06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028711-0B21-91E1-9F27-96D27FF9B09D}"/>
              </a:ext>
            </a:extLst>
          </p:cNvPr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Deletion from Beginning – Explanation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8480B-D272-9459-405A-92354082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AB4ACA53-5AD4-5A2B-45FE-C9FD756B2C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17CA2C3F-93AB-2707-BE7E-12C9BB1528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EF4CBB73-4B8F-363E-6F7F-FAAB0A3230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09EB1-E435-A853-204E-69E1B23D592D}"/>
              </a:ext>
            </a:extLst>
          </p:cNvPr>
          <p:cNvSpPr/>
          <p:nvPr/>
        </p:nvSpPr>
        <p:spPr>
          <a:xfrm>
            <a:off x="197768" y="1219200"/>
            <a:ext cx="8748464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is moved to the next node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head node is removed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9813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6956E-372A-828C-4E4C-3B416001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178978-2AAB-982C-9671-589AE117C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83AE5E-8BAC-20A2-F54D-BB480BD8D9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8480057-2860-DB86-2465-FD3722280B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B1C109-04EF-AC71-2107-1C867F4C4F3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329D71-F4A1-4810-62AF-F9405E8CF0FC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dirty="0">
                <a:solidFill>
                  <a:srgbClr val="FF0000"/>
                </a:solidFill>
              </a:rPr>
              <a:t>Deletion from Beginning Codes- C and Python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913E7-27C7-E97C-EA97-367A7CA2F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423A50-9349-A281-BDBB-14CF031CC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761925"/>
              </p:ext>
            </p:extLst>
          </p:nvPr>
        </p:nvGraphicFramePr>
        <p:xfrm>
          <a:off x="135187" y="1492947"/>
          <a:ext cx="9001001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1">
                  <a:extLst>
                    <a:ext uri="{9D8B030D-6E8A-4147-A177-3AD203B41FA5}">
                      <a16:colId xmlns:a16="http://schemas.microsoft.com/office/drawing/2014/main" val="2662439620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2217686037"/>
                    </a:ext>
                  </a:extLst>
                </a:gridCol>
              </a:tblGrid>
              <a:tr h="26967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Deletion from Beginning 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C Code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Deletion from Beginning 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Python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4575"/>
                  </a:ext>
                </a:extLst>
              </a:tr>
              <a:tr h="223361">
                <a:tc>
                  <a:txBody>
                    <a:bodyPr/>
                    <a:lstStyle/>
                    <a:p>
                      <a:r>
                        <a:rPr lang="en-IN" sz="2000" dirty="0"/>
                        <a:t>struct node* </a:t>
                      </a:r>
                      <a:r>
                        <a:rPr lang="en-IN" sz="2000" dirty="0" err="1"/>
                        <a:t>delete_begin</a:t>
                      </a:r>
                      <a:r>
                        <a:rPr lang="en-IN" sz="2000" dirty="0"/>
                        <a:t>(struct node* head) {</a:t>
                      </a:r>
                    </a:p>
                    <a:p>
                      <a:r>
                        <a:rPr lang="en-IN" sz="2000" dirty="0"/>
                        <a:t>    if (head == NULL)</a:t>
                      </a:r>
                    </a:p>
                    <a:p>
                      <a:r>
                        <a:rPr lang="en-IN" sz="2000" dirty="0"/>
                        <a:t>        return NULL;</a:t>
                      </a:r>
                    </a:p>
                    <a:p>
                      <a:endParaRPr lang="en-IN" sz="2000" dirty="0"/>
                    </a:p>
                    <a:p>
                      <a:r>
                        <a:rPr lang="en-IN" sz="2000" dirty="0"/>
                        <a:t>    struct node* temp = head;</a:t>
                      </a:r>
                    </a:p>
                    <a:p>
                      <a:r>
                        <a:rPr lang="en-IN" sz="2000" dirty="0"/>
                        <a:t>    head = head-&gt;next;</a:t>
                      </a:r>
                    </a:p>
                    <a:p>
                      <a:r>
                        <a:rPr lang="en-IN" sz="2000" dirty="0"/>
                        <a:t>    free(temp);</a:t>
                      </a:r>
                    </a:p>
                    <a:p>
                      <a:r>
                        <a:rPr lang="en-IN" sz="2000" dirty="0"/>
                        <a:t>    return head;</a:t>
                      </a:r>
                    </a:p>
                    <a:p>
                      <a:r>
                        <a:rPr lang="en-IN" sz="2000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def </a:t>
                      </a:r>
                      <a:r>
                        <a:rPr lang="en-IN" sz="2000" dirty="0" err="1"/>
                        <a:t>delete_begin</a:t>
                      </a:r>
                      <a:r>
                        <a:rPr lang="en-IN" sz="2000" dirty="0"/>
                        <a:t>(head):</a:t>
                      </a:r>
                    </a:p>
                    <a:p>
                      <a:r>
                        <a:rPr lang="en-IN" sz="2000" dirty="0"/>
                        <a:t>    if head is None:</a:t>
                      </a:r>
                    </a:p>
                    <a:p>
                      <a:r>
                        <a:rPr lang="en-IN" sz="2000" dirty="0"/>
                        <a:t>        return None</a:t>
                      </a:r>
                    </a:p>
                    <a:p>
                      <a:r>
                        <a:rPr lang="en-IN" sz="2000" dirty="0"/>
                        <a:t>    return </a:t>
                      </a:r>
                      <a:r>
                        <a:rPr lang="en-IN" sz="2000" dirty="0" err="1"/>
                        <a:t>head.next</a:t>
                      </a:r>
                      <a:endParaRPr lang="en-IN" sz="2000" dirty="0"/>
                    </a:p>
                    <a:p>
                      <a:pPr>
                        <a:spcBef>
                          <a:spcPts val="600"/>
                        </a:spcBef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6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3888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Deletion from End of a Linked list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57272"/>
            <a:ext cx="8241520" cy="41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044DD3-7E59-D531-89FA-3AD59DD140C0}"/>
              </a:ext>
            </a:extLst>
          </p:cNvPr>
          <p:cNvSpPr txBox="1"/>
          <p:nvPr/>
        </p:nvSpPr>
        <p:spPr>
          <a:xfrm>
            <a:off x="157884" y="1178528"/>
            <a:ext cx="8374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end removes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linked list.</a:t>
            </a:r>
          </a:p>
        </p:txBody>
      </p:sp>
    </p:spTree>
    <p:extLst>
      <p:ext uri="{BB962C8B-B14F-4D97-AF65-F5344CB8AC3E}">
        <p14:creationId xmlns:p14="http://schemas.microsoft.com/office/powerpoint/2010/main" val="31148863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F2527-D05F-2A71-911F-AC9F11DE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0A9F00-9175-1C0A-6494-0021206BB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B370AA-F424-A7B7-4E89-D827EC2983A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CBA1FF-E5F5-1F53-E324-57EB758694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243261-11B5-FF09-0E89-4104991A05F6}"/>
              </a:ext>
            </a:extLst>
          </p:cNvPr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Deletion from End – Algorithm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E14FA-09E9-1518-9F73-A979D0CD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3B07F39E-5E07-77EE-754A-AF734829D1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667A6CE2-0346-C80C-E2D0-ED416C951D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272418E6-B560-DB5E-A311-D86FECFCAE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A804A8-C4E2-554C-A6D9-717725958395}"/>
              </a:ext>
            </a:extLst>
          </p:cNvPr>
          <p:cNvSpPr txBox="1"/>
          <p:nvPr/>
        </p:nvSpPr>
        <p:spPr>
          <a:xfrm>
            <a:off x="174404" y="1383983"/>
            <a:ext cx="814201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Delete from End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head is NULL, stop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only one node exists, delete it and set head to NULL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to second last node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last node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second last node’s next = NULL</a:t>
            </a:r>
          </a:p>
        </p:txBody>
      </p:sp>
    </p:spTree>
    <p:extLst>
      <p:ext uri="{BB962C8B-B14F-4D97-AF65-F5344CB8AC3E}">
        <p14:creationId xmlns:p14="http://schemas.microsoft.com/office/powerpoint/2010/main" val="2463689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008" y="287727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Delete From End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3" name="Content Placeholder 1"/>
          <p:cNvSpPr txBox="1">
            <a:spLocks/>
          </p:cNvSpPr>
          <p:nvPr/>
        </p:nvSpPr>
        <p:spPr>
          <a:xfrm>
            <a:off x="307975" y="1307392"/>
            <a:ext cx="8229600" cy="4755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HEAD = NULL Write UNDERFLOW Go to Step 8 [END OF IF]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PTR = HEAD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4 and 5 while PTR -&gt; NEXT != NULL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PREPTR = PTR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PTR = PTR -&gt; NEXT [END OF LOOP]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PREPTR -&gt; NEXT = NULL 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PTR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8: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5030995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9D6D-CB25-1D66-6FAA-7E184A89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975681-E2AC-590B-D5D1-04F461025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53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E21CDB-1A25-6306-F8E2-19728E24818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C24C0E9-6541-CE10-9FC7-764E1FD699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6AB346-1E3A-D676-34D4-CE281B204665}"/>
              </a:ext>
            </a:extLst>
          </p:cNvPr>
          <p:cNvSpPr txBox="1"/>
          <p:nvPr/>
        </p:nvSpPr>
        <p:spPr>
          <a:xfrm>
            <a:off x="36907" y="160338"/>
            <a:ext cx="899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Deletion from End – Explanation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80FC21-88DE-93BE-214D-22DC2087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FD4711A9-E2B9-CD99-E3CC-145E8CE923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93062190-0444-A5D7-0B9A-7B0D48F66D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45B4A54D-A1C5-30CD-60CB-8FBDF4003E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375BA-F923-971E-A022-BB556C462273}"/>
              </a:ext>
            </a:extLst>
          </p:cNvPr>
          <p:cNvSpPr txBox="1"/>
          <p:nvPr/>
        </p:nvSpPr>
        <p:spPr>
          <a:xfrm>
            <a:off x="146968" y="1433836"/>
            <a:ext cx="701732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363" indent="-3603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is required</a:t>
            </a:r>
          </a:p>
          <a:p>
            <a:pPr marL="360363" indent="-3603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of second last node is updated</a:t>
            </a:r>
          </a:p>
          <a:p>
            <a:pPr marL="360363" indent="-3603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5006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2F9F1-E767-EE01-BE4C-A8CF8C1A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0C393B-8BD7-34AE-C80F-F1E7CBCEC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3F9334-96D9-8F1E-40FB-E5458B46257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85FCC9E-BF40-16A6-124F-D5437E08AE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774388-A546-0EE9-CC66-30F52B9846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97F7EA-0FC4-4F5C-DEEB-314F5964B8AB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dirty="0">
                <a:solidFill>
                  <a:srgbClr val="FF0000"/>
                </a:solidFill>
              </a:rPr>
              <a:t>Deletion from End Codes- C and Python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CF3F0-5F2A-43A0-F002-E0ECD81A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CEE9B4-6CFA-F1E4-6D1B-4425C7AC1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034840"/>
              </p:ext>
            </p:extLst>
          </p:nvPr>
        </p:nvGraphicFramePr>
        <p:xfrm>
          <a:off x="151956" y="1286484"/>
          <a:ext cx="9001001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1">
                  <a:extLst>
                    <a:ext uri="{9D8B030D-6E8A-4147-A177-3AD203B41FA5}">
                      <a16:colId xmlns:a16="http://schemas.microsoft.com/office/drawing/2014/main" val="2662439620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2217686037"/>
                    </a:ext>
                  </a:extLst>
                </a:gridCol>
              </a:tblGrid>
              <a:tr h="26967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Deletion from End 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C Code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Deletion from End 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Python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4575"/>
                  </a:ext>
                </a:extLst>
              </a:tr>
              <a:tr h="223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 node*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delete_end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(struct node* head) {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if (head == NULL || head-&gt;next == NULL)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return NULL;</a:t>
                      </a: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struct node* temp = head;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while (temp-&gt;next-&gt;next != NULL)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temp = temp-&gt;next;</a:t>
                      </a: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free(temp-&gt;next);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temp-&gt;next = NULL;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return head; }</a:t>
                      </a: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delete_end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(head):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if head is None or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None: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return None</a:t>
                      </a: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temp = head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while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temp =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temp.next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None</a:t>
                      </a:r>
                    </a:p>
                    <a:p>
                      <a:pPr rtl="0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return head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6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7300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Delete the Node after a given Node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29" y="1219200"/>
            <a:ext cx="835342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2819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008" y="26673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Algorithm: Delete After A Node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307975" y="1143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IN" sz="2400" dirty="0"/>
              <a:t>Step 1: IF HEAD = NULL Write UNDERFLOW Go to Step 10 [END OF IF]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2: SET PTR = HEAD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3: SET PREPTR = PTR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4: Repeat Steps 5 and 6 while PREPTR -&gt; DATA != NUM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5: SET PREPTR = PTR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6: SET PTR = PTR -&gt; NEXT [END OF LOOP]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7: SET TEMP = PTR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8: SET PREPTR -&gt; NEXT = PTR -&gt; NEXT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 Step 9: FREE TEMP 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/>
              <a:t>Step 10 : EXIT</a:t>
            </a:r>
          </a:p>
        </p:txBody>
      </p:sp>
    </p:spTree>
    <p:extLst>
      <p:ext uri="{BB962C8B-B14F-4D97-AF65-F5344CB8AC3E}">
        <p14:creationId xmlns:p14="http://schemas.microsoft.com/office/powerpoint/2010/main" val="22309409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8891" y="26358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Code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307975" y="1284339"/>
            <a:ext cx="6709792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void del(node *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NULL ||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== NULL)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temp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before_del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temp-&gt;next;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delete temp;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90936" y="4941168"/>
            <a:ext cx="3276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0283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2B95-6443-B741-ECBD-979077F0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769D93-67FC-A93F-F2BA-BE7DB8F47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3CDE2D-17A8-7288-6C9F-0B6A548367B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4B949A-C666-1E2A-68A8-5805033A9E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6C0075-A62F-868A-CC9E-BFF6D28C097B}"/>
              </a:ext>
            </a:extLst>
          </p:cNvPr>
          <p:cNvSpPr txBox="1"/>
          <p:nvPr/>
        </p:nvSpPr>
        <p:spPr>
          <a:xfrm>
            <a:off x="348891" y="26358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Check Your Understanding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C5ABF-C641-E77B-E567-38CA13D1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F7F4E857-EE0F-7DE4-1023-45C7F3C92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9754968F-6019-198A-B2EF-9FDC060683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362F5130-5647-1923-3884-7A6E87DF56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5C8855B0-CBE5-FB42-2F2B-1232EE2E9708}"/>
              </a:ext>
            </a:extLst>
          </p:cNvPr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EDDDFC39-080E-F7B9-DD73-BB50DA8E422A}"/>
              </a:ext>
            </a:extLst>
          </p:cNvPr>
          <p:cNvSpPr txBox="1">
            <a:spLocks/>
          </p:cNvSpPr>
          <p:nvPr/>
        </p:nvSpPr>
        <p:spPr>
          <a:xfrm>
            <a:off x="307974" y="1284339"/>
            <a:ext cx="8512497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node is removed during deletion from the beginning of a linked list?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the end of a singly linked list requires locating the __________ node.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if deletion is attempted on an empty linked list?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time complexity of deleting the last node in a singly linked list?</a:t>
            </a:r>
          </a:p>
        </p:txBody>
      </p:sp>
    </p:spTree>
    <p:extLst>
      <p:ext uri="{BB962C8B-B14F-4D97-AF65-F5344CB8AC3E}">
        <p14:creationId xmlns:p14="http://schemas.microsoft.com/office/powerpoint/2010/main" val="16885515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CDF6-BF7B-F635-B6B6-1327A0E4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8535D4-4273-4E6E-176F-652961D7E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6255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DDA173-EB2F-5C51-E234-E6B10BD1C60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F833854-E97C-C414-BAF2-E4A3966B5B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51BB8D-875C-F717-9B0D-419F1A1A486A}"/>
              </a:ext>
            </a:extLst>
          </p:cNvPr>
          <p:cNvSpPr txBox="1"/>
          <p:nvPr/>
        </p:nvSpPr>
        <p:spPr>
          <a:xfrm>
            <a:off x="348891" y="263588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Check Your Understanding (Answers)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CB473-3E3D-B590-0545-34FA8674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>
            <a:extLst>
              <a:ext uri="{FF2B5EF4-FFF2-40B4-BE49-F238E27FC236}">
                <a16:creationId xmlns:a16="http://schemas.microsoft.com/office/drawing/2014/main" id="{EF4EFBB0-2FDD-C9ED-381C-1ED734E9F1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>
            <a:extLst>
              <a:ext uri="{FF2B5EF4-FFF2-40B4-BE49-F238E27FC236}">
                <a16:creationId xmlns:a16="http://schemas.microsoft.com/office/drawing/2014/main" id="{274CE597-A6D2-DAFF-9042-AEFB181718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>
            <a:extLst>
              <a:ext uri="{FF2B5EF4-FFF2-40B4-BE49-F238E27FC236}">
                <a16:creationId xmlns:a16="http://schemas.microsoft.com/office/drawing/2014/main" id="{5EF4E90F-A948-811A-28FB-820D239E8E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C765DC57-6B02-CEFC-CC71-DC7840B710DD}"/>
              </a:ext>
            </a:extLst>
          </p:cNvPr>
          <p:cNvSpPr txBox="1">
            <a:spLocks/>
          </p:cNvSpPr>
          <p:nvPr/>
        </p:nvSpPr>
        <p:spPr>
          <a:xfrm>
            <a:off x="155574" y="1061448"/>
            <a:ext cx="8836025" cy="52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E6BD9C6D-A677-D813-45B7-43E1E9B7E65F}"/>
              </a:ext>
            </a:extLst>
          </p:cNvPr>
          <p:cNvSpPr txBox="1">
            <a:spLocks/>
          </p:cNvSpPr>
          <p:nvPr/>
        </p:nvSpPr>
        <p:spPr>
          <a:xfrm>
            <a:off x="307974" y="1284339"/>
            <a:ext cx="8512497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(head) node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last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deletion is performed / list remains empty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0438185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32564" y="356577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Search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60374" y="1295400"/>
            <a:ext cx="6778625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</a:p>
          <a:p>
            <a:pPr algn="just" fontAlgn="base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1: [INITIALIZE] SET PTR = HEAD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2: Repeat Steps 3 and 4 while PTR != NULL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Step 3: If ITEM = PTR -&gt; DATA SET POS = PTR Go To Step 5 ELSE SET PTR = PTR -&gt; NEXT [END OF IF] [END OF LOOP]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4: SET POS = NULL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Step 5: EXIT</a:t>
            </a:r>
          </a:p>
        </p:txBody>
      </p:sp>
    </p:spTree>
    <p:extLst>
      <p:ext uri="{BB962C8B-B14F-4D97-AF65-F5344CB8AC3E}">
        <p14:creationId xmlns:p14="http://schemas.microsoft.com/office/powerpoint/2010/main" val="1696822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907" y="160338"/>
            <a:ext cx="91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Search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Understanding the basics of Linked Lis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For What Application a Linked List Can Be Used? - Scaler Top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nsertion in Singly Linked List at Beginning - javatpoi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2" descr="Search an Element in a Linked List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9" t="4088" r="10458" b="5754"/>
          <a:stretch>
            <a:fillRect/>
          </a:stretch>
        </p:blipFill>
        <p:spPr bwMode="auto">
          <a:xfrm>
            <a:off x="1043609" y="1286624"/>
            <a:ext cx="6840760" cy="492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21520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Time Complexity Summary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7839B7-AC34-0630-7FC5-CA1162752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652245"/>
              </p:ext>
            </p:extLst>
          </p:nvPr>
        </p:nvGraphicFramePr>
        <p:xfrm>
          <a:off x="291851" y="1628800"/>
          <a:ext cx="8229600" cy="21945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6492799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32307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Time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22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Traversal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11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Insert at Beginning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222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 at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716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at Beginning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813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at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21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9413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u="sng" dirty="0"/>
          </a:p>
          <a:p>
            <a:r>
              <a:rPr lang="en-IN" sz="3600" dirty="0">
                <a:solidFill>
                  <a:srgbClr val="FF0000"/>
                </a:solidFill>
              </a:rPr>
              <a:t>Singly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005" y="1844846"/>
          <a:ext cx="9071992" cy="297124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15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8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95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45048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+mn-lt"/>
                        </a:rPr>
                        <a:t>Data Structure</a:t>
                      </a:r>
                      <a:endParaRPr lang="en-IN" sz="1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0465" marR="100465" marT="100465" marB="100465"/>
                </a:tc>
                <a:tc gridSpan="8"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+mn-lt"/>
                        </a:rPr>
                        <a:t>Time Complexity</a:t>
                      </a:r>
                      <a:endParaRPr lang="en-IN" sz="1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0465" marR="100465" marT="100465" marB="100465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+mn-lt"/>
                        </a:rPr>
                        <a:t>Space Complexity</a:t>
                      </a:r>
                      <a:endParaRPr lang="en-IN" sz="1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0465" marR="100465" marT="100465" marB="10046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709">
                <a:tc>
                  <a:txBody>
                    <a:bodyPr/>
                    <a:lstStyle/>
                    <a:p>
                      <a:pPr algn="just" fontAlgn="t"/>
                      <a:endParaRPr lang="en-IN" sz="18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 gridSpan="4">
                  <a:txBody>
                    <a:bodyPr/>
                    <a:lstStyle/>
                    <a:p>
                      <a:pPr algn="just" fontAlgn="t"/>
                      <a:r>
                        <a:rPr lang="en-IN" sz="1800" b="1">
                          <a:effectLst/>
                          <a:latin typeface="+mn-lt"/>
                        </a:rPr>
                        <a:t>Average</a:t>
                      </a:r>
                      <a:endParaRPr lang="en-IN" sz="1800" b="1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 fontAlgn="t"/>
                      <a:r>
                        <a:rPr lang="en-IN" sz="1800" b="1">
                          <a:effectLst/>
                          <a:latin typeface="+mn-lt"/>
                        </a:rPr>
                        <a:t>Worst</a:t>
                      </a:r>
                      <a:endParaRPr lang="en-IN" sz="1800" b="1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b="1">
                          <a:effectLst/>
                          <a:latin typeface="+mn-lt"/>
                        </a:rPr>
                        <a:t>Worst</a:t>
                      </a:r>
                      <a:endParaRPr lang="en-IN" sz="1800" b="1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477">
                <a:tc>
                  <a:txBody>
                    <a:bodyPr/>
                    <a:lstStyle/>
                    <a:p>
                      <a:pPr algn="just" fontAlgn="t"/>
                      <a:endParaRPr lang="en-IN" sz="18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 dirty="0">
                          <a:effectLst/>
                          <a:latin typeface="+mn-lt"/>
                        </a:rPr>
                        <a:t>Access</a:t>
                      </a:r>
                      <a:endParaRPr lang="en-IN" sz="16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 dirty="0">
                          <a:effectLst/>
                          <a:latin typeface="+mn-lt"/>
                        </a:rPr>
                        <a:t>Search</a:t>
                      </a:r>
                      <a:endParaRPr lang="en-IN" sz="16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 dirty="0">
                          <a:effectLst/>
                          <a:latin typeface="+mn-lt"/>
                        </a:rPr>
                        <a:t>Insertion</a:t>
                      </a:r>
                      <a:endParaRPr lang="en-IN" sz="16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>
                          <a:effectLst/>
                          <a:latin typeface="+mn-lt"/>
                        </a:rPr>
                        <a:t>Deletion</a:t>
                      </a:r>
                      <a:endParaRPr lang="en-IN" sz="1600" b="1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>
                          <a:effectLst/>
                          <a:latin typeface="+mn-lt"/>
                        </a:rPr>
                        <a:t>Access</a:t>
                      </a:r>
                      <a:endParaRPr lang="en-IN" sz="1600" b="1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>
                          <a:effectLst/>
                          <a:latin typeface="+mn-lt"/>
                        </a:rPr>
                        <a:t>Search</a:t>
                      </a:r>
                      <a:endParaRPr lang="en-IN" sz="1600" b="1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>
                          <a:effectLst/>
                          <a:latin typeface="+mn-lt"/>
                        </a:rPr>
                        <a:t>Insertion</a:t>
                      </a:r>
                      <a:endParaRPr lang="en-IN" sz="1600" b="1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 dirty="0">
                          <a:effectLst/>
                          <a:latin typeface="+mn-lt"/>
                        </a:rPr>
                        <a:t>Deletion</a:t>
                      </a:r>
                      <a:endParaRPr lang="en-IN" sz="16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endParaRPr lang="en-IN" sz="18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013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Singly Linked List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>
                          <a:effectLst/>
                          <a:latin typeface="+mn-lt"/>
                        </a:rPr>
                        <a:t>θ(</a:t>
                      </a:r>
                      <a:r>
                        <a:rPr lang="en-IN" sz="1800">
                          <a:effectLst/>
                          <a:latin typeface="+mn-lt"/>
                        </a:rPr>
                        <a:t>n)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>
                          <a:effectLst/>
                          <a:latin typeface="+mn-lt"/>
                        </a:rPr>
                        <a:t>θ(</a:t>
                      </a:r>
                      <a:r>
                        <a:rPr lang="en-IN" sz="1800">
                          <a:effectLst/>
                          <a:latin typeface="+mn-lt"/>
                        </a:rPr>
                        <a:t>n)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dirty="0">
                          <a:effectLst/>
                          <a:latin typeface="+mn-lt"/>
                        </a:rPr>
                        <a:t>θ(1)</a:t>
                      </a:r>
                      <a:endParaRPr lang="el-GR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dirty="0">
                          <a:effectLst/>
                          <a:latin typeface="+mn-lt"/>
                        </a:rPr>
                        <a:t>θ(1)</a:t>
                      </a:r>
                      <a:endParaRPr lang="el-GR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O(n)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O(n)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O(1)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O(1)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O(n)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3623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D3709-CC49-CB82-5DE3-9646B33E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79558B-3A31-36A1-B2AD-D60F4C2E2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C73630-E523-C4AE-41CC-F282504A52F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2716BF-F35E-4482-18B6-728412D92E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32A698-5380-9F6D-DE3E-513DD20F720A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F4AB6B-7FC3-05EF-4F9C-36FA37595FE9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Check Your Understanding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9D10B-1CCC-C36F-9395-A981A011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491987-D4AF-3C6B-BA97-58584A08D7FD}"/>
              </a:ext>
            </a:extLst>
          </p:cNvPr>
          <p:cNvSpPr/>
          <p:nvPr/>
        </p:nvSpPr>
        <p:spPr>
          <a:xfrm>
            <a:off x="287016" y="1321908"/>
            <a:ext cx="8536009" cy="1140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❓ Which operation is fastest in a linked list?</a:t>
            </a:r>
            <a:br>
              <a:rPr lang="en-US" sz="2400" dirty="0"/>
            </a:br>
            <a:r>
              <a:rPr lang="en-US" sz="2400" dirty="0"/>
              <a:t>❓ Why is insertion at end slower than insertion at beginning?</a:t>
            </a:r>
          </a:p>
        </p:txBody>
      </p:sp>
    </p:spTree>
    <p:extLst>
      <p:ext uri="{BB962C8B-B14F-4D97-AF65-F5344CB8AC3E}">
        <p14:creationId xmlns:p14="http://schemas.microsoft.com/office/powerpoint/2010/main" val="17847942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E10F0-0D79-317F-621E-84BD6DF6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6AD30C-57CE-B71C-CE5D-08BB89A2B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F1A6C6-CA36-0A8F-F7B2-F4CEEB22AC5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1864D14-BE86-7281-C997-6230CBCBDD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511A77-A72F-8A64-5A86-4D909E851034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099524-3255-2AC1-18A3-B60BE7CDC560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Check Your Understanding (Answers)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8E8BC-EC69-75F8-84A1-D6FE7BDA0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EB9F08-1141-280A-4919-CAD07AF885D9}"/>
              </a:ext>
            </a:extLst>
          </p:cNvPr>
          <p:cNvSpPr/>
          <p:nvPr/>
        </p:nvSpPr>
        <p:spPr>
          <a:xfrm>
            <a:off x="287016" y="1321908"/>
            <a:ext cx="8536009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operation is fastest in a linked list?</a:t>
            </a:r>
          </a:p>
          <a:p>
            <a:pPr marL="534988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or deletion at the beginning is the fastest operation because it does not require traversal.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Why is insertion at end slower than insertion at beginning?</a:t>
            </a:r>
          </a:p>
          <a:p>
            <a:pPr marL="442913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the end is slower because the list must be traversed to reach the last node before inserting the new node.</a:t>
            </a:r>
          </a:p>
        </p:txBody>
      </p:sp>
    </p:spTree>
    <p:extLst>
      <p:ext uri="{BB962C8B-B14F-4D97-AF65-F5344CB8AC3E}">
        <p14:creationId xmlns:p14="http://schemas.microsoft.com/office/powerpoint/2010/main" val="17734525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u="sng" dirty="0"/>
          </a:p>
          <a:p>
            <a:r>
              <a:rPr lang="en-IN" sz="3600" dirty="0">
                <a:solidFill>
                  <a:srgbClr val="FF0000"/>
                </a:solidFill>
              </a:rPr>
              <a:t>Advantages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38361"/>
            <a:ext cx="8594425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Insertion and Deletion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Adding or removing elements at the beginning or middle of the list is efficient, requiring only adjustments to pointers.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Singly linked lists can grow or shrink dynamically, as nodes can be added or removed without requiring contiguous memory allocation.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Singly linked lists have no fixed size limitations, offering flexibility in managing varying amounts of data</a:t>
            </a:r>
          </a:p>
        </p:txBody>
      </p:sp>
    </p:spTree>
    <p:extLst>
      <p:ext uri="{BB962C8B-B14F-4D97-AF65-F5344CB8AC3E}">
        <p14:creationId xmlns:p14="http://schemas.microsoft.com/office/powerpoint/2010/main" val="3713787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dirty="0">
                <a:solidFill>
                  <a:srgbClr val="FF0000"/>
                </a:solidFill>
              </a:rPr>
              <a:t>Disadvantages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38361"/>
            <a:ext cx="859442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Direct Access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Access to specific elements in the list requires traversal from the head pointer, making direct access inefficient.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 Memory Overhead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Each node in the list requires additional memory for storing pointers, leading to higher memory overhead compared to arrays.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Reverse Traversal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Singly linked lists are inefficient for operations requiring access to nodes in reverse order, as they don't have pointers to previous nodes.</a:t>
            </a:r>
          </a:p>
          <a:p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486099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D6FF7-7E35-521D-06AB-073A84CB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8C6D59-24B0-D995-B913-87622958C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DCED70-0D59-9465-DBE5-BE3A94027518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34F97C2-3190-B08D-47F8-1E154F9F87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AB582F-3EB0-8252-0AB1-F54D665E40BA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59AE5-A868-B72C-566F-E5B1D6CB43E9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Practice Questions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4363B-D667-258F-3F5F-51C2E58E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9864E9-439F-F6D7-3122-FD83236B385F}"/>
              </a:ext>
            </a:extLst>
          </p:cNvPr>
          <p:cNvSpPr/>
          <p:nvPr/>
        </p:nvSpPr>
        <p:spPr>
          <a:xfrm>
            <a:off x="287016" y="1321908"/>
            <a:ext cx="85360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a node at position 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 node with given value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pointer movement for deletion at end</a:t>
            </a:r>
          </a:p>
          <a:p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5764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B9777-9DEB-AC88-E017-ED5481F9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41169D-4EB6-4237-2E1B-1FA8A28A3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355BB0-C09B-DF00-F43A-F21D7C7E839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D4DD19D-BFFB-5C18-26F2-A48156712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8ADB2E-9886-1E8D-49D4-30DF4C6526E4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A7289E-7C3C-DE90-DB93-06E01222EC22}"/>
              </a:ext>
            </a:extLst>
          </p:cNvPr>
          <p:cNvSpPr txBox="1"/>
          <p:nvPr/>
        </p:nvSpPr>
        <p:spPr>
          <a:xfrm>
            <a:off x="72008" y="328255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Practice Questions (Solution)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C90E0-01E9-A64B-D0C5-743C1170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812142-212E-D36E-B536-22A8C85A9C6A}"/>
              </a:ext>
            </a:extLst>
          </p:cNvPr>
          <p:cNvSpPr/>
          <p:nvPr/>
        </p:nvSpPr>
        <p:spPr>
          <a:xfrm>
            <a:off x="287016" y="1321908"/>
            <a:ext cx="85360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Structure (Singly Linked List)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Node: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def __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__(self, data):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data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self.next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9782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9085-63DC-3CE0-6661-C0F215ED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EA2806-6AC5-5EC8-0118-60FF819E2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E9548D-F6B6-6EB7-9347-A1448E7A09E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98D6B1A-ACD2-0D0C-37C3-95C7CF1B4A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996DB1-BD3A-6BD8-2ABA-E5F278E14512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8FE1B-8B4F-5275-1D60-E641BA22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9DB06E-6DAC-AB9B-0747-E89CFFC4EC73}"/>
              </a:ext>
            </a:extLst>
          </p:cNvPr>
          <p:cNvSpPr/>
          <p:nvPr/>
        </p:nvSpPr>
        <p:spPr>
          <a:xfrm>
            <a:off x="287017" y="1321908"/>
            <a:ext cx="4429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Insert a Node at Position 3: 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#Position is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1-based index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insert_at_position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(head, value, position):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Node(value)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Insert at beginning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position == 1: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new_node.next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head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temp = head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count = 1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temp is not None and count &lt; position - 1: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temp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count +=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A8449D-6D90-F3DA-6599-9F75F075C7BA}"/>
              </a:ext>
            </a:extLst>
          </p:cNvPr>
          <p:cNvSpPr/>
          <p:nvPr/>
        </p:nvSpPr>
        <p:spPr>
          <a:xfrm>
            <a:off x="4716016" y="1474308"/>
            <a:ext cx="425940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temp is None: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print("Position out of range")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head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new_node.next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head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until position − 1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pointers to insert new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D4C215-A112-0021-6ECC-744282364660}"/>
              </a:ext>
            </a:extLst>
          </p:cNvPr>
          <p:cNvSpPr txBox="1"/>
          <p:nvPr/>
        </p:nvSpPr>
        <p:spPr>
          <a:xfrm>
            <a:off x="72008" y="328255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Practice Questions (Solution)</a:t>
            </a:r>
            <a:endParaRPr lang="en-I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747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37EA-F3B2-39DB-E093-94B7C960A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77C788-B7CB-EF6A-C455-BFD4F1E08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8C3824-083A-3BC1-9911-2DA3E676908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03D8328-DDAD-C432-E326-A52AD62156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BA463F-81F9-1A56-8A27-3FCFB076BFED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6800F-E88E-A839-67E0-727B2FE3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C90356-6ADD-3469-C380-E5B08A7BEEF2}"/>
              </a:ext>
            </a:extLst>
          </p:cNvPr>
          <p:cNvSpPr/>
          <p:nvPr/>
        </p:nvSpPr>
        <p:spPr>
          <a:xfrm>
            <a:off x="246518" y="1091267"/>
            <a:ext cx="5077072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2️⃣ Delete a Node with Given Value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delete_by_value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(head, value):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If list is empty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head is None: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None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If head node contains the value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head.data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value: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head.next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temp = head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None: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temp.next.data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value: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temp.next.next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head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temp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print("Value not found")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head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B2E0C-7BCE-82D8-0C73-849AFA919BF3}"/>
              </a:ext>
            </a:extLst>
          </p:cNvPr>
          <p:cNvSpPr txBox="1"/>
          <p:nvPr/>
        </p:nvSpPr>
        <p:spPr>
          <a:xfrm>
            <a:off x="4699897" y="2954070"/>
            <a:ext cx="41231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head separately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list and match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pointer to skip the deleted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723E2E-96C1-6699-E947-CCD104E7DD8B}"/>
              </a:ext>
            </a:extLst>
          </p:cNvPr>
          <p:cNvSpPr txBox="1"/>
          <p:nvPr/>
        </p:nvSpPr>
        <p:spPr>
          <a:xfrm>
            <a:off x="72008" y="328255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Practice Questions (Solution)</a:t>
            </a:r>
            <a:endParaRPr lang="en-I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0487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8C1D1-AB5F-7599-EE8D-A5CE8443F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22C71A-D3BC-161C-DFDB-86E33E198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ABCD1B-9FD9-CA02-DD5F-024BE72F0D9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F067800-7E2A-F7C4-A7FF-67C72411DF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62D08B-0D31-DFED-4BCE-D3E6AAE95B61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4446C7-D63D-0671-E804-595285F6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28668-6F0A-746E-2978-9DE31CF1E50A}"/>
              </a:ext>
            </a:extLst>
          </p:cNvPr>
          <p:cNvSpPr/>
          <p:nvPr/>
        </p:nvSpPr>
        <p:spPr>
          <a:xfrm>
            <a:off x="287016" y="1321908"/>
            <a:ext cx="853600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3️⃣ Trace Pointer Movement for Deletion at End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delete_end_with_trace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(head):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head is None: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print("List is empty")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None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head.next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None: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f"Deleting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node: {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head.data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None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temp = head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temp.next.next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f"Pointer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node: {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temp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f"Deleting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node: {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temp.next.data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temp.next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None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head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4E87C-C60F-F18A-1387-523EFEC09F82}"/>
              </a:ext>
            </a:extLst>
          </p:cNvPr>
          <p:cNvSpPr txBox="1"/>
          <p:nvPr/>
        </p:nvSpPr>
        <p:spPr>
          <a:xfrm>
            <a:off x="4812402" y="1942489"/>
            <a:ext cx="411658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Trace 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list: 10 → 20 → 30 → 40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at node: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at node: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 node: 40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moves until the second-last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node is removed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3FBBA-A1EA-3ADB-8332-284CDCAECC07}"/>
              </a:ext>
            </a:extLst>
          </p:cNvPr>
          <p:cNvSpPr txBox="1"/>
          <p:nvPr/>
        </p:nvSpPr>
        <p:spPr>
          <a:xfrm>
            <a:off x="72008" y="328255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Practice Questions (Solution)</a:t>
            </a:r>
            <a:endParaRPr lang="en-I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1605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8D7C-9C8E-2F6F-8F55-FAE38403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2628CB-C86E-614F-6E8B-2BAC99CB7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5B0851-FF06-DB0D-6121-2E75950176F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4FA9C0C-466A-8DC0-B763-647D70B434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FA6B05-9BF2-A489-78BC-EEE0EB8607CB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8F64B6-8552-D76B-7708-BF6CC276E811}"/>
              </a:ext>
            </a:extLst>
          </p:cNvPr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Common Errors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8DA59-A107-A085-1A80-681520BD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0341A-E1F2-584A-5381-7B1FDC348A06}"/>
              </a:ext>
            </a:extLst>
          </p:cNvPr>
          <p:cNvSpPr/>
          <p:nvPr/>
        </p:nvSpPr>
        <p:spPr>
          <a:xfrm>
            <a:off x="287016" y="1321908"/>
            <a:ext cx="8536009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Losing reference to head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pointer updates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Forgetting memory deallocation in 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checking for NULL</a:t>
            </a:r>
          </a:p>
        </p:txBody>
      </p:sp>
    </p:spTree>
    <p:extLst>
      <p:ext uri="{BB962C8B-B14F-4D97-AF65-F5344CB8AC3E}">
        <p14:creationId xmlns:p14="http://schemas.microsoft.com/office/powerpoint/2010/main" val="5384357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6076-2122-6226-8CF8-8E5014A2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0ED533-6BE7-31F1-EC9B-589A10822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BAC2D1-6201-F35C-1026-956D4140410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55F962-725D-CABD-00A5-687795182E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5D30A1-B15D-F63A-01F5-E059690E7894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8934E-D90F-F534-26A4-4E258CCE38C5}"/>
              </a:ext>
            </a:extLst>
          </p:cNvPr>
          <p:cNvSpPr txBox="1"/>
          <p:nvPr/>
        </p:nvSpPr>
        <p:spPr>
          <a:xfrm>
            <a:off x="105967" y="286239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Test Yourself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7C97E-2706-4815-2398-7463C405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1980EB-992E-552C-20BE-8440B3EBD229}"/>
              </a:ext>
            </a:extLst>
          </p:cNvPr>
          <p:cNvSpPr/>
          <p:nvPr/>
        </p:nvSpPr>
        <p:spPr>
          <a:xfrm>
            <a:off x="287016" y="1037117"/>
            <a:ext cx="853600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</a:p>
          <a:p>
            <a:pPr marL="360363" indent="-360363" algn="just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linked list is made up of a collection of __________.</a:t>
            </a:r>
          </a:p>
          <a:p>
            <a:pPr marL="360363" indent="-360363" algn="just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pointer to the first node of a linked list is called the __________.</a:t>
            </a:r>
          </a:p>
          <a:p>
            <a:pPr marL="360363" indent="-360363" algn="just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singly linked list, the last node points to __________.</a:t>
            </a:r>
          </a:p>
          <a:p>
            <a:pPr marL="360363" indent="-360363" algn="just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a linked list starts from the __________ node.</a:t>
            </a:r>
          </a:p>
          <a:p>
            <a:pPr marL="360363" indent="-360363" algn="just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the beginning of a linked list has time complexity __________.</a:t>
            </a:r>
          </a:p>
          <a:p>
            <a:pPr marL="360363" indent="-360363" algn="just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the end of a singly linked list requires __________ of the list.</a:t>
            </a:r>
          </a:p>
          <a:p>
            <a:pPr marL="360363" indent="-360363" algn="just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linked lists, elements are stored in __________ memory locations.</a:t>
            </a:r>
          </a:p>
          <a:p>
            <a:pPr marL="360363" indent="-360363" algn="just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of visiting each node once is called __________.</a:t>
            </a:r>
          </a:p>
        </p:txBody>
      </p:sp>
    </p:spTree>
    <p:extLst>
      <p:ext uri="{BB962C8B-B14F-4D97-AF65-F5344CB8AC3E}">
        <p14:creationId xmlns:p14="http://schemas.microsoft.com/office/powerpoint/2010/main" val="40651942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423E6-A6DD-BC6F-A51C-83E5FC7B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C7CFEB-03C2-009A-BA16-2A6105B97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D363D-BA81-8BE0-069D-2A1E1621355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B35F36C-6A3A-0D19-9285-E4E5FC7639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7169AB-572F-9D07-0207-87AF7118208E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45F3E6-3976-9DA3-C23C-4DDED1099B1C}"/>
              </a:ext>
            </a:extLst>
          </p:cNvPr>
          <p:cNvSpPr txBox="1"/>
          <p:nvPr/>
        </p:nvSpPr>
        <p:spPr>
          <a:xfrm>
            <a:off x="105967" y="286239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Test Yourself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1A5BC-C930-3D62-0446-A8423D7F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325704-72B7-C9D1-A397-D282D2F5A321}"/>
              </a:ext>
            </a:extLst>
          </p:cNvPr>
          <p:cNvSpPr/>
          <p:nvPr/>
        </p:nvSpPr>
        <p:spPr>
          <a:xfrm>
            <a:off x="287016" y="1129217"/>
            <a:ext cx="853600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One-Word Answer Questions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9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used to link nodes in a singly linked list</a:t>
            </a:r>
          </a:p>
          <a:p>
            <a:pPr marL="457200" indent="-457200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9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 insertion operation in a linked list</a:t>
            </a:r>
          </a:p>
          <a:p>
            <a:pPr marL="457200" indent="-457200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9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type used by linked lists</a:t>
            </a:r>
          </a:p>
          <a:p>
            <a:pPr marL="457200" indent="-457200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9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that removes the first node</a:t>
            </a:r>
          </a:p>
          <a:p>
            <a:pPr marL="457200" indent="-457200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9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that removes the last node</a:t>
            </a:r>
          </a:p>
          <a:p>
            <a:pPr marL="457200" indent="-457200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9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where traversal stops in a singly linked 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2551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52BF2-38C0-90A5-F5AB-086E87AC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8EBF05-23CD-59E7-15FA-1BFE28B2E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E1CBC7-6BF3-9D93-3E44-9124159B9FD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10C1BCF-1E01-CC53-7FCD-D2F9E6310D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6F5CE3-3323-F50D-B1C9-D921459C7888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1BED2-BC1C-407D-74CC-C42386599455}"/>
              </a:ext>
            </a:extLst>
          </p:cNvPr>
          <p:cNvSpPr txBox="1"/>
          <p:nvPr/>
        </p:nvSpPr>
        <p:spPr>
          <a:xfrm>
            <a:off x="105967" y="286239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Test Yourself (Answers)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84E77F-900F-FC77-E055-484FDB3A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CFEA5D-54FB-E50B-DE3D-FDBEB92DE28F}"/>
              </a:ext>
            </a:extLst>
          </p:cNvPr>
          <p:cNvSpPr/>
          <p:nvPr/>
        </p:nvSpPr>
        <p:spPr>
          <a:xfrm>
            <a:off x="287016" y="1037117"/>
            <a:ext cx="853600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Non-contiguous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beginning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beginning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end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42183959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4A5F-18D4-4D6E-64F4-9174126A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BDDB06-4B6E-4707-1E17-AAE8BFCF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F6197-3238-08C9-B26C-DB30D7D65F4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44C319-238E-5A65-3F7E-593393C19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FAB2C-6B04-D9C7-C35F-2BCAD3D9C65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D8156-DA4B-BB1C-9496-FC99853F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46497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C61E0-6318-2865-A850-DCAA5ACF48F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A715DB1-87CD-88B2-807A-5931C67A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858CE0-C15F-AB9B-F784-3C122776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CCBC8-63DE-671F-2BE9-9F6EDF20EAEA}"/>
              </a:ext>
            </a:extLst>
          </p:cNvPr>
          <p:cNvSpPr txBox="1"/>
          <p:nvPr/>
        </p:nvSpPr>
        <p:spPr>
          <a:xfrm>
            <a:off x="253130" y="1446123"/>
            <a:ext cx="8567339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operations rely heavily on pointer manipulation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is required to access or modify most nodes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and deletion at the beginning are the fastest operations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and insertion at the end require traversal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handling of head and NULL conditions is critical</a:t>
            </a:r>
          </a:p>
        </p:txBody>
      </p:sp>
    </p:spTree>
    <p:extLst>
      <p:ext uri="{BB962C8B-B14F-4D97-AF65-F5344CB8AC3E}">
        <p14:creationId xmlns:p14="http://schemas.microsoft.com/office/powerpoint/2010/main" val="4003454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41" y="6337479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Linked List Operations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https://www.geeksforgeeks.org/linked-list-set-1-introduction/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Insertion &amp; Deletion in Linked List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https://www.geeksforgeeks.org/linked-list-set-2-inserting-a-node/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Linked List Operations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https://www.tutorialspoint.com/data_structures_algorithms/linked_list_algorithms.htm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Linked List in Python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https://www.programiz.com/dsa/linked-list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OpenCourseWare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Introduction to Algorithms</a:t>
            </a:r>
            <a:br>
              <a:rPr lang="en-US" dirty="0"/>
            </a:br>
            <a:r>
              <a:rPr lang="en-US" dirty="0">
                <a:hlinkClick r:id="rId9"/>
              </a:rPr>
              <a:t>https://ocw.mit.edu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304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19780</TotalTime>
  <Words>5376</Words>
  <Application>Microsoft Office PowerPoint</Application>
  <PresentationFormat>On-screen Show (4:3)</PresentationFormat>
  <Paragraphs>1025</Paragraphs>
  <Slides>70</Slides>
  <Notes>68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Jyoti Yadav</cp:lastModifiedBy>
  <cp:revision>1391</cp:revision>
  <cp:lastPrinted>2022-09-05T08:43:44Z</cp:lastPrinted>
  <dcterms:created xsi:type="dcterms:W3CDTF">2020-01-16T09:05:56Z</dcterms:created>
  <dcterms:modified xsi:type="dcterms:W3CDTF">2026-01-11T12:41:19Z</dcterms:modified>
</cp:coreProperties>
</file>