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notesMasterIdLst>
    <p:notesMasterId r:id="rId69"/>
  </p:notesMasterIdLst>
  <p:sldIdLst>
    <p:sldId id="1011" r:id="rId3"/>
    <p:sldId id="993" r:id="rId4"/>
    <p:sldId id="1012" r:id="rId5"/>
    <p:sldId id="691" r:id="rId6"/>
    <p:sldId id="1027" r:id="rId7"/>
    <p:sldId id="930" r:id="rId8"/>
    <p:sldId id="1013" r:id="rId9"/>
    <p:sldId id="296" r:id="rId10"/>
    <p:sldId id="266" r:id="rId11"/>
    <p:sldId id="310" r:id="rId12"/>
    <p:sldId id="268" r:id="rId13"/>
    <p:sldId id="265" r:id="rId14"/>
    <p:sldId id="314" r:id="rId15"/>
    <p:sldId id="317" r:id="rId16"/>
    <p:sldId id="1106" r:id="rId17"/>
    <p:sldId id="270" r:id="rId18"/>
    <p:sldId id="315" r:id="rId19"/>
    <p:sldId id="271" r:id="rId20"/>
    <p:sldId id="272" r:id="rId21"/>
    <p:sldId id="311" r:id="rId22"/>
    <p:sldId id="312" r:id="rId23"/>
    <p:sldId id="313" r:id="rId24"/>
    <p:sldId id="1118" r:id="rId25"/>
    <p:sldId id="1126" r:id="rId26"/>
    <p:sldId id="309" r:id="rId27"/>
    <p:sldId id="1124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1110" r:id="rId36"/>
    <p:sldId id="1111" r:id="rId37"/>
    <p:sldId id="316" r:id="rId38"/>
    <p:sldId id="287" r:id="rId39"/>
    <p:sldId id="288" r:id="rId40"/>
    <p:sldId id="289" r:id="rId41"/>
    <p:sldId id="295" r:id="rId42"/>
    <p:sldId id="290" r:id="rId43"/>
    <p:sldId id="1108" r:id="rId44"/>
    <p:sldId id="1123" r:id="rId45"/>
    <p:sldId id="1122" r:id="rId46"/>
    <p:sldId id="1125" r:id="rId47"/>
    <p:sldId id="1119" r:id="rId48"/>
    <p:sldId id="281" r:id="rId49"/>
    <p:sldId id="302" r:id="rId50"/>
    <p:sldId id="303" r:id="rId51"/>
    <p:sldId id="282" r:id="rId52"/>
    <p:sldId id="1121" r:id="rId53"/>
    <p:sldId id="1120" r:id="rId54"/>
    <p:sldId id="284" r:id="rId55"/>
    <p:sldId id="1112" r:id="rId56"/>
    <p:sldId id="300" r:id="rId57"/>
    <p:sldId id="1113" r:id="rId58"/>
    <p:sldId id="1114" r:id="rId59"/>
    <p:sldId id="1115" r:id="rId60"/>
    <p:sldId id="304" r:id="rId61"/>
    <p:sldId id="305" r:id="rId62"/>
    <p:sldId id="1116" r:id="rId63"/>
    <p:sldId id="307" r:id="rId64"/>
    <p:sldId id="308" r:id="rId65"/>
    <p:sldId id="1024" r:id="rId66"/>
    <p:sldId id="1014" r:id="rId67"/>
    <p:sldId id="269" r:id="rId6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88" d="100"/>
          <a:sy n="88" d="100"/>
        </p:scale>
        <p:origin x="885" y="57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i Yadav" userId="8da2e7729ab2cedd" providerId="LiveId" clId="{741A7A88-242A-459A-A359-2627301AD1E9}"/>
    <pc:docChg chg="modSld">
      <pc:chgData name="Jyoti Yadav" userId="8da2e7729ab2cedd" providerId="LiveId" clId="{741A7A88-242A-459A-A359-2627301AD1E9}" dt="2026-01-15T06:27:05.528" v="33" actId="207"/>
      <pc:docMkLst>
        <pc:docMk/>
      </pc:docMkLst>
      <pc:sldChg chg="modSp mod">
        <pc:chgData name="Jyoti Yadav" userId="8da2e7729ab2cedd" providerId="LiveId" clId="{741A7A88-242A-459A-A359-2627301AD1E9}" dt="2026-01-15T06:27:05.528" v="33" actId="207"/>
        <pc:sldMkLst>
          <pc:docMk/>
          <pc:sldMk cId="751646105" sldId="1011"/>
        </pc:sldMkLst>
        <pc:spChg chg="mod">
          <ac:chgData name="Jyoti Yadav" userId="8da2e7729ab2cedd" providerId="LiveId" clId="{741A7A88-242A-459A-A359-2627301AD1E9}" dt="2026-01-15T06:26:44.050" v="6" actId="20577"/>
          <ac:spMkLst>
            <pc:docMk/>
            <pc:sldMk cId="751646105" sldId="1011"/>
            <ac:spMk id="7" creationId="{707A6CE9-669B-DEE3-BF3E-8D5506EAE30B}"/>
          </ac:spMkLst>
        </pc:spChg>
        <pc:spChg chg="mod">
          <ac:chgData name="Jyoti Yadav" userId="8da2e7729ab2cedd" providerId="LiveId" clId="{741A7A88-242A-459A-A359-2627301AD1E9}" dt="2026-01-15T06:27:05.528" v="33" actId="207"/>
          <ac:spMkLst>
            <pc:docMk/>
            <pc:sldMk cId="751646105" sldId="1011"/>
            <ac:spMk id="9" creationId="{80A128E3-2186-5C09-4DCD-7BC6527248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19321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19321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B484-9E4B-5CFB-51BA-EE1388671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F61AF-2099-89DE-1E12-D3407287D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3AF45-0ACA-8D72-BD0C-D37E68E25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EC253-509E-AFCE-09C9-AC2D651F1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443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31607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343E1-697F-0E19-B03F-AEFC6B04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1776B-1799-08E2-E3F0-1F4EE255C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E4E2B-C002-B942-9E83-F976B2AB0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EC185-D5E0-F8F6-BFD9-3609A4B4F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9598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071C-15DC-6E79-4FB2-F29A65E8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ECE3F-AC93-672A-D55B-FE328BFAE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28AF8-1257-191A-15C8-712A9310B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A3EDB-EEAF-C01B-3084-5B9781AB6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FDA5-08AA-9F36-4BAB-D28BBA8AD2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7BE719B-E0DF-E544-9CBD-7EFCD29BF91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42382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766132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9B91-6EC2-E70F-1E4B-3C5186DF9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6CF4D-74F7-E80F-5BF3-C74B12864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20ABC-EBAF-5855-4276-C8E81E52F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7E923-2C1D-FF16-DCAA-83AD11D54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3638E-431C-EFFE-1ABA-1A3C8998F2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F810B4A-CAD4-AC7F-E684-543F91EB2A6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81215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76613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96966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FA8A-D66F-DE62-1B4A-61973FD9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32A0E-AB6E-8820-B344-80E09B7CD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56F74-3445-151C-A73C-FB28B171B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72B20-1EE9-2AFD-2DD1-D15C577BC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856CC-6965-A8A9-EA65-947AD1E56D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62749D0-1CD7-ED1A-EB42-AAF3EE9B3C9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33443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63D34-1168-3A0D-4968-41060F86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9D44F-9867-BF80-C6CA-91026B1FC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4336BF-B7EA-DEB0-E6D1-C94E07DDA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DC427-9C7D-A8EF-8DC6-91E1CFFA9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7C244-17B8-1B36-06C2-BCAE8333F9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49AB703-3279-4CC9-7929-5535136EE3C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286530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A1361-DA92-B06D-DDB2-DB56CD2A2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B4BB2-FD70-8873-8933-18ED167A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0B4C1-A422-8292-3887-37B5AA2E5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F4D26-6D53-DE03-F19F-668842305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9048B-24EE-AF56-E2DD-3253C355E3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77CEE34-D3B9-DD8E-57A4-E3C6FE64B56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499553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F047-EF59-FA05-8695-9CC03C068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E5435-9209-02D3-EB98-AE2C01CF5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92A0A-D6EE-7B3D-927C-E3CB70457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0B6C8-12EB-E124-2D3D-49748498A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AFD12-43E6-5241-E7BC-D52150F8DA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2AF7F61-5F90-4551-AA1B-50838CDFDC2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215637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0D09-FC5C-0674-9EF5-486F4BE1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371ECC-C8BD-42D9-3965-336EA2BEC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84EAA-5A8C-3E94-0A39-F574B15AB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09A1C-E0EC-D69E-03D1-948690F98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B09A-23A3-8534-1DF7-60CC3061F1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3D67C44-B941-85B4-02E4-5C8EAB03813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60677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435847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3FB4-4590-FD89-C9B2-E58D211F3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A544C-2CBF-11E8-5AD8-B0E9459AC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057F8-CCBA-094B-53E6-74A5E066A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B1A56-4A13-D428-A5A2-A83DD4788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B4881-9D2D-67F6-2A94-8D59CB93CF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2DF6B7D-BBBB-53B4-5618-19F47914C10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137370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28931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77323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014138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115812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231852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2636278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5019200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6E03-06E9-B92B-9085-F6500244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F402F-F3B9-F228-8F3B-9673334EE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9956B-9DE4-C62E-9F51-A466E9C68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67006-0471-BBA3-D1EB-5CD899459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ED78C-4647-8F7A-CF35-7D5F7022E9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21C0FFC-73B7-D904-0C0F-B9A3C426202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068377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A8784-3ED4-A109-7FB1-13394423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696B4-65FA-AEB9-DA88-6AFCB5EA1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BA16B-B758-4C52-A933-1A59D65F1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9863-C258-CC7B-EA1D-7596CC189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2520A-8530-71EB-2CEA-0195DDD57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F9FEC28-3F89-A983-A40E-9D71EDFEAB2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768915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6AA3-E4CC-503C-4A74-45192B29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CDE11-5E75-8E49-055D-459CB6EF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E4065-FDA8-A08B-6E44-D617B2939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8C38D-90B1-92EA-2EE8-1948C1A53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61D24-4389-E0E7-DF27-62048380E1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531287A-A1F1-A1D8-A681-4ECED03258C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93298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9588436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E7641-2BEB-A117-6BFE-96324000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755B7-123B-57E4-C871-FEEAA3E61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34B1E-07B0-EB05-DB27-69CCDAF17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0C42E-626E-0B21-EB87-8BCFEBE72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B4BF-E464-BDF2-7809-8A8BEE26C1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81D7550-70D9-0055-852C-EF8BD4974A0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60151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0AF8E-6E0F-4EC1-9807-4C8B0473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2DE23-D358-9CCD-7266-6215449AB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8AF012-4D32-5B95-734C-E8F2363D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CA8F3-5A5B-07B4-9DF2-2C47F08E5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7233-04D3-5CD7-2A63-570C0A4BC4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75BCD69-E882-D6ED-F411-6D1C62ACF9C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9095753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2F0F-E293-5F34-480A-9ACF637FB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74498-0826-0D81-8A10-01DA52E3D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562CD-ADB6-7D99-F8AC-AD2B6CBFC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47026-99E7-E5FA-2030-94A3B03BA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84CAF-7E44-D6AC-6035-408D24458D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8F42F22-5623-D051-19E6-71BCA63AD04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6489236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81C2-3CE7-7517-AAC4-49EB0817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9BE45-B63E-4CC5-C874-49A3A7D61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AD732-137E-5298-7C2E-9C93D03DE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D214D-AC1A-B5F7-DC67-8D4950FE1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CA9B5-1091-216B-9EB1-2B8607979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76AA894-E97C-12FC-E07E-AAA7C5D68A7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531551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E1BE-3F6E-5307-8F1B-DF912D7E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AAE7B-4D4E-BBE2-3A41-100A825A0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79318-2EBB-E539-D7FF-9E5E91B49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48899-48AE-F627-75EE-333ABF53A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1CAC4-1B08-191A-908B-9EA369B2B4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2EA1754-896E-7AE1-C5B6-456985CCDD2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0973424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26EE-35E5-74FC-E57E-0DF73FEB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E9048-BE13-EDB7-06F6-246B328F6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001AB-7E08-0E23-E3C0-69D532EBB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FDC80-07ED-C4C0-4EB6-5A1F37306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F1077-761E-2848-4458-CEECDC216E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B94E556-42A4-3778-AD3C-537568D2FAF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963268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4F713-7CDE-AC5C-7D86-9DD82AF2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3D4DE-B94B-1780-EA89-6CFE8B232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FED11-0752-467C-E63E-D043AFE12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E8F2B-4F58-9ED4-B713-3B2817602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A21F9-2501-9484-C1A0-9DB8D6D44A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A69AF2C-1054-0F8D-2712-694C5D62B76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9345104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4EE7-3522-F0D2-CF28-C7A1AFE7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438B6-C83B-9A57-6E28-55BB5814C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F86B7-CD5B-954B-8202-73BE7E64B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6DD04-1E3E-7F57-D1F0-6F39E96FA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05442-1EF6-0A48-AEFA-375A35532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4E4DFA0-6D83-89D9-9DA6-96D70EAAE6A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7288057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9564-3856-D9C9-552A-085DF8E51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C7BEB-9C45-0EF4-4A03-ADD48B60F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6DEF2-7318-2FE7-CA8A-8F378EB59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B3B44-09EA-F52D-98C4-1DAEDC377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45930-680B-3A7F-C596-1130AA99AD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F17D5BF-B791-59D4-1BF9-CFDFA2DE892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2564886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A7D55-D47A-ACDC-8E84-DA840381F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8D438-22D1-8401-9C8F-EBCB86BF3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5D620-DE5B-3D6B-CD1F-6075F4029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BF010-52E5-8041-D7E4-13514CAD9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F852-D8FC-C7C1-3CFC-0DDACB4DD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7C22FA3-BDC8-24FD-D225-333ED88D778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2625767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AF2D-468B-F101-0AB2-8E343882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61CB3-0B4C-A2F6-948D-CBFE1BDEA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B7F14-E418-D029-C8FA-EA78BDD6C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DEDB4-840A-C41C-A03D-6E2AA5F4C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B360-2068-2444-528D-97711A01B6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FFDF83D-6795-6829-0D19-63FC045EDCA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8508596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9D53C-4E76-185F-E399-B0FCD014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EB4ED-4B1A-F6C1-5C85-F76A4CBC8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79A9C-A04C-9454-BCA2-71A8E1352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A624-DB02-3DF5-A9A8-C3DB9D64F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6751C-97B9-1739-97DD-6BDF1B23EF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A5B5A7E-3770-FA42-877B-68CE74BE440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8780666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D455-F8FC-59A0-2BD2-209F19F9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4425A-1B65-90A5-579A-46D74551C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F70D8-630F-31D9-BABA-D7D48145D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2D4FC-6720-E7D1-D8BD-D6074E06A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C477D-255F-2574-58F0-038563C580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EC32A59-970E-2ECA-2F4B-871EBBCE2DB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8465378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4F697-EC59-D13E-1579-7CCC83E4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9A8EF-1A0D-3E38-D1A3-F1830F47E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DBA00-DF6F-422A-F168-362963277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36F47-B03D-225E-6580-119684F80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8AB35-F37B-1A66-5286-63729CA730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7341125-DBCF-16AC-1A58-E63F53042AE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59535455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0740F-1326-EC9F-CC32-CB9718A6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91B9C-3180-F19C-BCAF-D0791D2EC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CA684-F33D-9BED-C90B-8FF273A24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D4384-1664-678F-BDF2-136D2CBD2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1E53-3C1B-AA26-2668-34F28550E7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F8D6AC6-2CFC-3E54-B254-D8BE2B9C4A4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6851530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1349-3B1A-4219-422B-9E452793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C6E87-1A18-81F5-76C3-1F1A34309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6D69-9C91-B6C1-C36A-D9E763DD7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9B68-97B5-6C71-0B4F-7458139BC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344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642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971D-87BD-F7C3-3479-51DA9F667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E69E2-14BA-24C0-892B-2C0A8D9BF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AB0D9-4D52-B389-1D2E-A289C534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91BF-77CF-D651-1CCF-E01A5043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26F55-CCC3-578E-E507-C9E90B85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932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12ED-EA34-00A0-4CC1-68C4925C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6D8C9-FF7A-D162-5348-73ECF9BE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F44B9-ABAB-D65A-AB25-D4D88A83F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4B8A9-2C83-E3D4-2A10-780ECCAE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A0FEE-970B-0B74-7483-89CF80A9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69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3C68-3846-E215-E462-3DADF536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427CF-7714-E559-EEED-DA13DC832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3B458-D6A4-BE41-C525-8DE758BF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41A5-CE82-A5D3-7F44-8FD75863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B4EF3-726B-6729-C0CD-8ADB0E66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28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3397-82B8-4960-8B69-22BFA0E6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24E5-6B04-6B90-CFCE-39B68B923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9B81D-28DB-D759-4DAA-C64D5FBDB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3CDE0-46CB-4368-9C95-90B9B12D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9F67D-236D-6CA8-986E-726F78DE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1F93F-AFEB-5306-24A8-9667AACB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2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C0103-8F81-71FC-A504-EAACD5758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DC0B3-F3FB-F0E7-5D85-60EEAA6AF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F30A5-040A-0E60-EFC4-BA55AC024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5FB67-BA00-1521-8619-E083942FA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449CA-8F4F-EB25-B452-21E500D02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9229D-5ADE-A97C-86F6-D9260F26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3E262-183D-253A-C679-0ADF5CB9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8E64B-509E-CCF8-143F-E8A0D73F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78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AAE-1999-93CA-4465-88A55E82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40863-D633-D2E5-98E0-A3B491C6F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AEBA3-F60B-ACF3-11C8-86A407C9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B01DD-9E43-5FC5-1009-73AC40B7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24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42410-A3DF-8AED-B8FE-708CDA0E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FF3FB-A4E6-7108-2B35-67F270AE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C5416-D65C-CE69-26B4-6912D252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59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04A1-19D5-FBE0-1546-34CAEC690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1AAFF-6BC5-6C09-DD7A-D29F54623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AB9C1-7A21-BAF5-1ECA-2C4172EF1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8141E-034C-650C-7AFD-12B5CCAC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5A061-A910-AD0A-4E41-56086EB1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C29F1-A3A8-1B01-F248-73B8A998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8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03CC-D253-F725-1671-E957DF7D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12CFD-C920-CE1C-E13A-049E0B8BF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3F393-197C-6768-3F75-FAA94860E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D82AD-3CFA-77C5-905E-BE06296D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6C306-5AFB-F621-4A83-C072C795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88827-06E2-541C-B39D-E4598EB7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91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1BAA-7BF2-0AAD-E982-43856F1B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2EF281-2971-73CF-6791-3AE10A765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D053-10B0-DB06-7750-FF590029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5E6FA-2E56-B795-8126-4BC45D45C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B3249-DCAF-F0A8-2159-98BD0CDF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338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C0CD5-ABFB-C631-D659-6C74AC605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EF371-F511-F6E9-5497-D368C0CCA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C9BFB-5E60-F0A1-B8D0-921000BA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A1F75-14EE-E4CE-CDDD-F76D29BB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B4786-1DDD-B3C4-073A-A5C71009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9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D8429-28A1-E8A2-8FFB-DCAEB8A3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38001-F07E-7A41-E592-A9F724744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2F013-65A9-2466-230D-E6C39570F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B72C6-B35C-4B3A-89A3-6CC309ECFED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5D20B-08AF-0BB2-A7CD-B4119F392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2A83-C8F6-03BB-4037-234493B7D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07D81-914B-469E-BBDD-751D6B217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44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ata-structure-meaning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.to/ogwurujohnson/demystifying-the-javascript-call-stack-1ppc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javatpoint.com/applications-of-stack-in-data-structur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HRDHgKrYHgU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pinsta.com/data-structures/introduction-to-stacks-in-data-structures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www.geeksforgeeks.org/dsa/stack-data-structure/" TargetMode="Externa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aler.com/topics/stack-operations-in-data-structures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sa/introduction-to-stack-data-structure-and-algorithm-tutorials/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hyperlink" Target="https://www.geeksforgeeks.org/dsa/introduction-to-stack-data-structure-and-algorithm-tutorials/" TargetMode="Externa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FcES0uuul" TargetMode="Externa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pinsta.com/data-structures/representation-of-a-stack/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applications-of-stack-in-data-structur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scaler.com/topics/stack-operations-in-data-structures/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pinsta.com/data-structures/introduction-to-stacks-in-data-structures/" TargetMode="External"/><Relationship Id="rId5" Type="http://schemas.openxmlformats.org/officeDocument/2006/relationships/hyperlink" Target="https://www.geeksforgeeks.org/stack-data-structure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programiz.com/dsa/stack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ETCCBD201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Ms. Jyoti Yadav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2280" y="1347520"/>
            <a:ext cx="586136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Stack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Definition &amp; LIFO Principle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Analogies of Stack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Stack (Fixed &amp; Dynamic)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Representation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Stack Operations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 &amp; Underflow Conditions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Stack Operations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Implementation in Python/ C++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Examples &amp; Practice Problems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of Stack Operations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vs Array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vs Linked List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Stack (Preview)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&amp; Key Takeaways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/ Test Yourself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ADT &amp; Operations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Linked List Operations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4" y="1065209"/>
            <a:ext cx="8580969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visits each node starting from the head until NULL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can be done at the beginning, end, or after a given node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removes nodes from the beginning, end, or after a given node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Insertion/deletion at the beginning takes O(1) time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at the end generally take O(n) time due to traversal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58244" y="1065209"/>
            <a:ext cx="8580969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a linked list always starts from the __________ node.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the beginning of a linked list has time complexity __________.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the end of a singly linked list requires __________ of the list.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node of a singly linked list points to __________.</a:t>
            </a:r>
          </a:p>
          <a:p>
            <a:pPr>
              <a:spcBef>
                <a:spcPts val="600"/>
              </a:spcBef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One-Word / Short Answer Questions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Fastest insertion operation in a linked list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used to move to the next node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that removes the first node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of insertion at end</a:t>
            </a:r>
            <a:endParaRPr lang="en-US" sz="2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2594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beginning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from beginning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44905"/>
            <a:ext cx="849694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lecture, students will be able to: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Stack as an Abstract Data Type (ADT)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LIFO (Last In First Out) principle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different types of stacks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stack operations: push, pop, peek,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stack overflow and underflow conditions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algorithms for stack operations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stack using arrays and linked lists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time complexity of stack operations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stack with array and linked list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basic problems using stack</a:t>
            </a: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68087"/>
            <a:ext cx="51845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kern="1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 Structure Types</a:t>
            </a:r>
            <a:endParaRPr lang="en-IN" sz="3600" kern="1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65" y="1593762"/>
            <a:ext cx="8077200" cy="3643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6865" y="5662989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https://www.geeksforgeeks.org/data-structure-meaning/</a:t>
            </a:r>
            <a:endParaRPr lang="en-IN"/>
          </a:p>
          <a:p>
            <a:endParaRPr lang="en-IN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87418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470" y="321831"/>
            <a:ext cx="24568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kern="1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Background</a:t>
            </a:r>
            <a:endParaRPr lang="en-IN" sz="3600" kern="1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470" y="1219200"/>
            <a:ext cx="7920880" cy="4104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83458" y="1148162"/>
            <a:ext cx="8229600" cy="3737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(n.)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things a person has to do in the future, organized on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last-in, first-out (LIFO)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basis.</a:t>
            </a:r>
          </a:p>
          <a:p>
            <a:pPr algn="just">
              <a:lnSpc>
                <a:spcPct val="15000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haven’t done it yet because every time I pop my stack, something new gets pushed.”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person is interrupted several times in the middle of a conversation, saying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“My stack overflowed”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forgot what we were talking about.”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Hacker’s Dictionary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052"/>
          <p:cNvSpPr>
            <a:spLocks noChangeArrowheads="1"/>
          </p:cNvSpPr>
          <p:nvPr/>
        </p:nvSpPr>
        <p:spPr bwMode="auto">
          <a:xfrm>
            <a:off x="609600" y="4833678"/>
            <a:ext cx="6896100" cy="1289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Friedrich L. Bauer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 computer scientist who proposed “stack method of expression evaluation” in 1955.</a:t>
            </a: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33917" y="4200022"/>
            <a:ext cx="12573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600303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9C2E-86C9-E26A-06B7-6220219E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230ACFD-2842-7D27-E46F-C23486A63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81F0A2F-FEA3-DF9D-D497-2AAF279E3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31114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  What is Stack?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631419-C150-DC3A-C732-DAD6066271B4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61DF1A3-78FA-0D8A-2CCB-80213C7EF4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83E66-7CAD-7AE5-B55A-366801FA9BA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A4D539-7B73-23BD-72B9-3AE8E1FD0512}"/>
              </a:ext>
            </a:extLst>
          </p:cNvPr>
          <p:cNvSpPr txBox="1"/>
          <p:nvPr/>
        </p:nvSpPr>
        <p:spPr>
          <a:xfrm>
            <a:off x="395536" y="887961"/>
            <a:ext cx="8496944" cy="612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a linear data structure that holds a linear, ordered sequence of elements. 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abstract data type.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(Last In First Out)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(FILO).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 is basically a container where items are inserted and removed from one end, called the top of the stack.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Capacity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Analogy</a:t>
            </a:r>
          </a:p>
          <a:p>
            <a:pPr marL="720725" indent="-360363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of plates</a:t>
            </a:r>
          </a:p>
          <a:p>
            <a:pPr marL="720725" indent="-360363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Undo/Redo operation</a:t>
            </a:r>
          </a:p>
          <a:p>
            <a:pPr marL="720725" indent="-360363">
              <a:buFont typeface="Wingdings" panose="05000000000000000000" pitchFamily="2" charset="2"/>
              <a:buChar char="v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history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IN" sz="24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4953007A-1EB8-9B2C-1CD4-7C3229059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8" t="3961" r="9109" b="15885"/>
          <a:stretch>
            <a:fillRect/>
          </a:stretch>
        </p:blipFill>
        <p:spPr bwMode="auto">
          <a:xfrm>
            <a:off x="5633588" y="3997734"/>
            <a:ext cx="2590800" cy="2379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03206E-25AC-F426-3193-6E107E9D4C29}"/>
              </a:ext>
            </a:extLst>
          </p:cNvPr>
          <p:cNvSpPr/>
          <p:nvPr/>
        </p:nvSpPr>
        <p:spPr>
          <a:xfrm>
            <a:off x="4644008" y="6512530"/>
            <a:ext cx="57285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>
                <a:hlinkClick r:id="rId6"/>
              </a:rPr>
              <a:t>https://dev.to/ogwurujohnson/demystifying-the-javascript-call-stack-1ppc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662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13844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Stack?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34EE-9746-9E1E-DD18-BF795A5F179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5593050"/>
            <a:ext cx="6858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5"/>
              </a:rPr>
              <a:t>https://www.geeksforgeeks.org/dsa/introduction-to-stack-data-structure-and-algorithm-tutorials/</a:t>
            </a:r>
            <a:endParaRPr lang="en-IN"/>
          </a:p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23731-9F7B-67F2-BB8A-04A33013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132AB2-A26E-647A-83C5-BB4D3BED9B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333" t="23532" r="9167" b="7522"/>
          <a:stretch>
            <a:fillRect/>
          </a:stretch>
        </p:blipFill>
        <p:spPr>
          <a:xfrm>
            <a:off x="533400" y="908328"/>
            <a:ext cx="7543800" cy="450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42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6107"/>
            <a:ext cx="59046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kern="1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Stack Data Structure</a:t>
            </a:r>
            <a:endParaRPr lang="en-IN" sz="3600" kern="1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23"/>
          <a:stretch>
            <a:fillRect/>
          </a:stretch>
        </p:blipFill>
        <p:spPr bwMode="auto">
          <a:xfrm>
            <a:off x="971600" y="1508007"/>
            <a:ext cx="7463956" cy="1685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44147" y="3462249"/>
            <a:ext cx="7620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05DBDA-EB87-5575-6AA4-F22A973D5B18}"/>
              </a:ext>
            </a:extLst>
          </p:cNvPr>
          <p:cNvSpPr txBox="1"/>
          <p:nvPr/>
        </p:nvSpPr>
        <p:spPr>
          <a:xfrm>
            <a:off x="2009848" y="5636349"/>
            <a:ext cx="58454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Fig 1 : Stack  Data Structure </a:t>
            </a:r>
          </a:p>
          <a:p>
            <a:pPr algn="ctr"/>
            <a:r>
              <a:rPr lang="en-US" dirty="0"/>
              <a:t> </a:t>
            </a:r>
            <a:r>
              <a:rPr lang="en-US" sz="1400" dirty="0">
                <a:hlinkClick r:id="rId7"/>
              </a:rPr>
              <a:t>https://www.javatpoint.com/applications-of-stack-in-data-structure</a:t>
            </a:r>
            <a:endParaRPr lang="en-US" sz="14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67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A811-BB78-A5EB-F448-44B03C60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6A1CB1CE-E3C5-0A2D-706D-1F43F8A59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15BF891-B978-E22C-13C1-AE168240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28286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Types of Stack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0AA38E-81DF-EB9B-ECC4-23E059AE0206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BFECF21-C24E-A91F-76F1-FA5840ABA8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9D443E-EF8C-077E-9063-57B7BB7295A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86EAAD-4C7C-3F05-BE63-383A01BE8362}"/>
              </a:ext>
            </a:extLst>
          </p:cNvPr>
          <p:cNvSpPr txBox="1"/>
          <p:nvPr/>
        </p:nvSpPr>
        <p:spPr>
          <a:xfrm>
            <a:off x="199054" y="1113109"/>
            <a:ext cx="8244780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 Stack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20725" indent="-360363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 and cannot grow or shrink dynamically.</a:t>
            </a:r>
          </a:p>
          <a:p>
            <a:pPr marL="342900" indent="-342900" fontAlgn="base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Size Stack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20725" indent="-342900" algn="just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grow or shrink dynamically. </a:t>
            </a:r>
          </a:p>
          <a:p>
            <a:pPr marL="720725" indent="-342900" algn="just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stack is full, it automatically increases its size to accommodate the new element, and when the stack is empty, it decreases its size. </a:t>
            </a:r>
          </a:p>
          <a:p>
            <a:pPr marL="720725" indent="-342900" algn="just" fontAlgn="base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stack is implemented using a linked list, as it allows for easy resizing of the stack.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66D1F-80D6-608A-7523-3A314FD9A6A1}"/>
              </a:ext>
            </a:extLst>
          </p:cNvPr>
          <p:cNvSpPr/>
          <p:nvPr/>
        </p:nvSpPr>
        <p:spPr>
          <a:xfrm>
            <a:off x="658536" y="5175759"/>
            <a:ext cx="73258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hlinkClick r:id="rId5"/>
              </a:rPr>
              <a:t>https://www.geeksforgeeks.org/dsa/introduction-to-stack-data-structure-and-algorithm-tutorials/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74F7C-FCEC-9CD0-2972-55183AFE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56467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ABB5-CB53-B8C9-1443-FB9FA4BE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89276E-BFDF-14FE-CE17-1F70E80C3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1B40C93-2FBB-66D9-9EA5-9BAB7C510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44519"/>
            <a:ext cx="82454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</a:rPr>
              <a:t>Representation of a stack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0B54B1-D063-1867-10CB-66872AD8068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B1D9CE9-9F36-2107-254C-9CAD6CBAF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74C5C4-722A-5A0C-4CA0-3E5D655D965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BECB50-B1D5-0BF7-50AE-3B917B7C0BB4}"/>
              </a:ext>
            </a:extLst>
          </p:cNvPr>
          <p:cNvSpPr txBox="1"/>
          <p:nvPr/>
        </p:nvSpPr>
        <p:spPr>
          <a:xfrm>
            <a:off x="160025" y="1061448"/>
            <a:ext cx="810140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Array Representation of Stacks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/>
              <a:t>Linked List Representation of Stacks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/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/>
          </a:p>
          <a:p>
            <a:pPr algn="just"/>
            <a:endParaRPr lang="en-IN" sz="2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3CB21-BFF8-E0E7-A2ED-E1DF0782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EB884C-8951-5324-80EA-DB36BBCB3C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23" b="2847"/>
          <a:stretch>
            <a:fillRect/>
          </a:stretch>
        </p:blipFill>
        <p:spPr>
          <a:xfrm>
            <a:off x="1219200" y="1666628"/>
            <a:ext cx="6705600" cy="2829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12801D-9E1D-B25C-DC67-9D9F8B65C6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40" y="4957274"/>
            <a:ext cx="5852120" cy="139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2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23472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</a:rPr>
              <a:t>Stack Operations</a:t>
            </a:r>
            <a:endParaRPr lang="en-IN" sz="32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295565"/>
            <a:ext cx="864096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insert an element into the stack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an element from the stack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peek() or top()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returns the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topmost element of the Stack without deleting it from the Stack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Empty()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stack is empty else false.</a:t>
            </a:r>
          </a:p>
          <a:p>
            <a:pPr marL="268288" indent="-268288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returns the size of stack.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Refer :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https://www.youtube.com/watch?v=HRDHgKrYHgU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116212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-36513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32" y="294459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Operations Push &amp; Pop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9" t="5230" r="7002" b="6801"/>
          <a:stretch/>
        </p:blipFill>
        <p:spPr bwMode="auto">
          <a:xfrm>
            <a:off x="304800" y="1276628"/>
            <a:ext cx="8153400" cy="413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70756" y="5366266"/>
            <a:ext cx="7821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https://prepinsta.com/data-structures/introduction-to-stacks-in-data-structures/</a:t>
            </a:r>
            <a:endParaRPr lang="en-IN"/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615978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3D53D-0F1D-8481-164C-AAF50CAB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5F1BE0-EAA8-D269-D60B-2B039D077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16F061-4E13-7D84-EF4D-C4DCF023D5A0}"/>
              </a:ext>
            </a:extLst>
          </p:cNvPr>
          <p:cNvCxnSpPr/>
          <p:nvPr/>
        </p:nvCxnSpPr>
        <p:spPr>
          <a:xfrm>
            <a:off x="5368" y="100725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6FC93E5-27B2-E57D-28E6-C5F545D8E9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4534F5-8534-EC15-3DE9-2AF811F09073}"/>
              </a:ext>
            </a:extLst>
          </p:cNvPr>
          <p:cNvSpPr txBox="1"/>
          <p:nvPr/>
        </p:nvSpPr>
        <p:spPr>
          <a:xfrm>
            <a:off x="179512" y="1293834"/>
            <a:ext cx="8784976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</a:p>
          <a:p>
            <a:pPr marL="285750" marR="0" indent="-28575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Underflow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FBB7C6-B3DE-5E59-11A4-5792C9CA3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259191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Conditions in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2AE3F-6D6E-1D04-6AB5-305C0A00AC4E}"/>
              </a:ext>
            </a:extLst>
          </p:cNvPr>
          <p:cNvSpPr/>
          <p:nvPr/>
        </p:nvSpPr>
        <p:spPr>
          <a:xfrm>
            <a:off x="755576" y="5491670"/>
            <a:ext cx="7821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dirty="0">
                <a:hlinkClick r:id="rId5"/>
              </a:rPr>
              <a:t>https://www.geeksforgeeks.org/dsa/stack-data-structure/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2FBD0-D539-D94A-13AF-FA26D0D3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3AC250-0343-331B-EF88-672E639A06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662" t="9065" r="8801" b="10243"/>
          <a:stretch>
            <a:fillRect/>
          </a:stretch>
        </p:blipFill>
        <p:spPr>
          <a:xfrm>
            <a:off x="2268959" y="2352296"/>
            <a:ext cx="4537484" cy="285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5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-36513" y="1076351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40" y="289328"/>
            <a:ext cx="8424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PUSH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6230" y="1085797"/>
            <a:ext cx="55446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 If TOP = Max-1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“Overflow”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 Step 4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Set TOP= TOP + 1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Set Stack[TOP]= ELEMENT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Step-4: END</a:t>
            </a:r>
          </a:p>
          <a:p>
            <a:endParaRPr lang="en-US" sz="2400" dirty="0"/>
          </a:p>
          <a:p>
            <a:endParaRPr lang="en-IN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 l="15789" t="24513"/>
          <a:stretch>
            <a:fillRect/>
          </a:stretch>
        </p:blipFill>
        <p:spPr bwMode="auto">
          <a:xfrm>
            <a:off x="2594450" y="3887494"/>
            <a:ext cx="5829451" cy="1761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2594450" y="5752216"/>
            <a:ext cx="65495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Push operation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https://www.scaler.com/topics/stack-operations-in-data-structures/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883296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Pop Operations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79512" y="1177588"/>
            <a:ext cx="8140824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START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if top==-1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Write “Stack is Underflow”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otherwise </a:t>
            </a:r>
          </a:p>
          <a:p>
            <a:pPr lvl="1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“deleted element” </a:t>
            </a:r>
          </a:p>
          <a:p>
            <a:pPr lvl="1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top=top-1; </a:t>
            </a:r>
          </a:p>
          <a:p>
            <a:pPr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END </a:t>
            </a:r>
            <a:br>
              <a:rPr lang="en-US" sz="2400" dirty="0"/>
            </a:b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3189154" y="4087343"/>
            <a:ext cx="52197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3379970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30E1-57DB-2E76-553C-9E629139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2331289-0F83-C874-8541-EB2D71B86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D11BD78-C914-7560-4345-53A23A775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78" y="268195"/>
            <a:ext cx="84629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Top of Peek Operation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B2718F-3579-CEEC-BF33-7CE4F595792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CDC220-9BC0-29FA-0653-F4B68BFE97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7C9939-6E1F-63A0-131E-3B0C39AD083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156926-BC69-6085-3024-730243511F3B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34DA10-7844-77F7-0647-2E6800EB48C9}"/>
              </a:ext>
            </a:extLst>
          </p:cNvPr>
          <p:cNvSpPr/>
          <p:nvPr/>
        </p:nvSpPr>
        <p:spPr>
          <a:xfrm>
            <a:off x="381000" y="1371600"/>
            <a:ext cx="7924800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 If TOP = NULL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“Stack is Empty”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 Step 3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Return Stack[TOP]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B90AB-9C5D-2D11-A876-886E0C33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3810F3F-D17C-7AA7-29C0-B3202F6E5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6452" t="11579" r="16129"/>
          <a:stretch>
            <a:fillRect/>
          </a:stretch>
        </p:blipFill>
        <p:spPr>
          <a:xfrm>
            <a:off x="4484714" y="1475333"/>
            <a:ext cx="3893095" cy="31759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54E722-2412-6E75-748D-E964D2B609E4}"/>
              </a:ext>
            </a:extLst>
          </p:cNvPr>
          <p:cNvSpPr txBox="1"/>
          <p:nvPr/>
        </p:nvSpPr>
        <p:spPr>
          <a:xfrm>
            <a:off x="965189" y="4979391"/>
            <a:ext cx="692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6"/>
              </a:rPr>
              <a:t>https://www.geeksforgeeks.org/dsa/introduction-to-stack-data-structure-and-algorithm-tutorials/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759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EADA-EB26-850F-CB0D-5A564821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5543106-543D-7CB0-4D3F-DC9BDDBCA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CB13598-687B-97E4-D3D8-378EA0E5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78" y="268195"/>
            <a:ext cx="84629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 err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isEmpty</a:t>
            </a: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Operation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43B68A-3662-4965-A5B1-F0E9A92EAD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23E01E3-254B-0623-6741-FBF1FF6207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AF15CD-972C-3393-BB4F-F9AD7DE26E5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9CDA53-9704-5D5A-421E-D44D8C64D2C2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812C2C-0294-F04B-1AD3-8B0CDC7AC1A8}"/>
              </a:ext>
            </a:extLst>
          </p:cNvPr>
          <p:cNvSpPr/>
          <p:nvPr/>
        </p:nvSpPr>
        <p:spPr>
          <a:xfrm>
            <a:off x="237281" y="1356490"/>
            <a:ext cx="4601722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marL="457200" indent="-4572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the value of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stack.</a:t>
            </a:r>
          </a:p>
          <a:p>
            <a:pPr marL="457200" indent="-4572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 == -1)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stack is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return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the stack is not empty so return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 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4C485-3D48-148E-6BE8-7B9BCDDE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F54C-4BD5-2F7F-B3BA-80DA0880CD47}"/>
              </a:ext>
            </a:extLst>
          </p:cNvPr>
          <p:cNvSpPr txBox="1"/>
          <p:nvPr/>
        </p:nvSpPr>
        <p:spPr>
          <a:xfrm>
            <a:off x="1129506" y="4448890"/>
            <a:ext cx="6921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5"/>
              </a:rPr>
              <a:t>https://www.geeksforgeeks.org/dsa/introduction-to-stack-data-structure-and-algorithm-tutorials/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4E7F2A-FA92-E0C2-4BED-1647E370CE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667" t="26607" r="10000" b="9618"/>
          <a:stretch>
            <a:fillRect/>
          </a:stretch>
        </p:blipFill>
        <p:spPr>
          <a:xfrm>
            <a:off x="4883156" y="1757094"/>
            <a:ext cx="4226936" cy="246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12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0E64-936A-0315-24AB-B5B87EE5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B750ADD-98CD-2B54-16C2-0DAEA689B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181A122-D6ED-A8B6-30D1-42D0B45E7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 err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isFull</a:t>
            </a: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Operation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A8018F-9C15-C9A5-B9E3-B9E782E04C4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F0EEC00-2B85-40E9-9632-EE9F78472A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B4076F-C677-36CC-B995-09714BC1231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D0749-5CF0-C6AA-391F-91CA7013E9C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EA2E2-0031-81B7-1ABB-2FD076A63DE0}"/>
              </a:ext>
            </a:extLst>
          </p:cNvPr>
          <p:cNvSpPr/>
          <p:nvPr/>
        </p:nvSpPr>
        <p:spPr>
          <a:xfrm>
            <a:off x="237281" y="1356490"/>
            <a:ext cx="4601722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/>
              <a:t>Algorithm: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IN" sz="2600"/>
              <a:t>Check for the value of top in stack.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IN" sz="2600"/>
              <a:t>If (top == capacity-1), then the stack is full so return true.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IN" sz="2600"/>
              <a:t>Otherwise, the stack is not full so return false.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5CD5D-E86E-856B-8496-CCAF827B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7170B-F685-0986-3947-E2063534339B}"/>
              </a:ext>
            </a:extLst>
          </p:cNvPr>
          <p:cNvSpPr txBox="1"/>
          <p:nvPr/>
        </p:nvSpPr>
        <p:spPr>
          <a:xfrm>
            <a:off x="685800" y="5433020"/>
            <a:ext cx="6921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hlinkClick r:id="rId5"/>
              </a:rPr>
              <a:t>https://www.geeksforgeeks.org/dsa/introduction-to-stack-data-structure-and-algorithm-tutorials/</a:t>
            </a:r>
            <a:endParaRPr lang="en-IN"/>
          </a:p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3994A6-DBDE-BFA8-C9D9-F9BD896E38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667" t="25147" r="14054" b="7327"/>
          <a:stretch>
            <a:fillRect/>
          </a:stretch>
        </p:blipFill>
        <p:spPr>
          <a:xfrm>
            <a:off x="4648200" y="1628528"/>
            <a:ext cx="4350196" cy="271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32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1827-761D-A53D-E6E4-5681300E0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EA61EFEA-027D-01ED-B143-25E6315EE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8" y="-254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8A6C59A-BADE-9336-144D-B7429C5D0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for Understanding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95928A-05AB-5AD5-4D2B-5EF9D00D4A1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9A101DB-A9B4-E6E5-9950-41BF1A1B57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8C0C8A-5921-4249-953E-DF730FD0787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4630A-5CAC-B401-7CB8-2B29188CA0E9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8D42A-22A9-CAA5-891B-84C1812D27F0}"/>
              </a:ext>
            </a:extLst>
          </p:cNvPr>
          <p:cNvSpPr/>
          <p:nvPr/>
        </p:nvSpPr>
        <p:spPr>
          <a:xfrm>
            <a:off x="237280" y="1356490"/>
            <a:ext cx="7575079" cy="1687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when we push into a full stack?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end of the stack is used for insertion?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does pop() return?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1F644-8041-5A65-EBD4-27E11311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3896631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F4852-A9E2-E815-CAC0-4B8779DB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F01277D4-0C19-80EA-A99C-6372814E3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3B164BA-B9EE-1993-0948-58FB9CF7D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Check for Understanding (Answers)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D5D24-F11F-C07A-A254-9E5DAC530CB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FE4FA7C-3E32-48D5-6879-F2E58897F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2ECEED-4E5E-AEFF-4886-BD16096C135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00BB41-B4F7-073A-713B-D3AADE397B78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C2667C-4827-697D-4CF6-337CE6036466}"/>
              </a:ext>
            </a:extLst>
          </p:cNvPr>
          <p:cNvSpPr/>
          <p:nvPr/>
        </p:nvSpPr>
        <p:spPr>
          <a:xfrm>
            <a:off x="187497" y="1369190"/>
            <a:ext cx="7575079" cy="3357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happens when we push into a full stack?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 occurs.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Which end of the stack is used for insertion?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(TOP)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of the stack.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❓ What does pop() return?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It returns (and removes)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element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stack</a:t>
            </a:r>
            <a:r>
              <a:rPr lang="en-US" sz="24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42304-37E7-92F4-8BF6-B70E47E3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2480290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13266"/>
            <a:ext cx="86764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dirty="0">
                <a:solidFill>
                  <a:srgbClr val="FF0000"/>
                </a:solidFill>
                <a:cs typeface="Times New Roman" pitchFamily="18" charset="0"/>
              </a:rPr>
              <a:t>Code for push &amp; pop operation in Python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9496" y="1100925"/>
            <a:ext cx="501885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stack = []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# Push operation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def push(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stack.append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"pushed into stack")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# Pop operation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def pop():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if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(stack) == 0: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  print("Stack Underflow")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else: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  popped =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stack.pop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      print("Popped element:", popped)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# Example usage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push(10)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push(20)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push(30)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pop()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pop()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print("Final Stack:", stack)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08B49-0251-D3C7-41CC-19B62BD5D775}"/>
              </a:ext>
            </a:extLst>
          </p:cNvPr>
          <p:cNvSpPr txBox="1"/>
          <p:nvPr/>
        </p:nvSpPr>
        <p:spPr>
          <a:xfrm>
            <a:off x="5712370" y="2640327"/>
            <a:ext cx="27217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pushed into stack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pushed into stack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pushed into stack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Popped element: 30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Popped element: 20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Stack: [10]</a:t>
            </a:r>
          </a:p>
        </p:txBody>
      </p:sp>
    </p:spTree>
    <p:extLst>
      <p:ext uri="{BB962C8B-B14F-4D97-AF65-F5344CB8AC3E}">
        <p14:creationId xmlns:p14="http://schemas.microsoft.com/office/powerpoint/2010/main" val="836330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A29E-DAE2-C49E-A3B4-E71469E7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42A613-C796-A032-5960-931FD0626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B3FAA4D-D41A-653D-2FE5-A8B5A7C3E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413266"/>
            <a:ext cx="86764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dirty="0">
                <a:solidFill>
                  <a:srgbClr val="FF0000"/>
                </a:solidFill>
                <a:cs typeface="Times New Roman" pitchFamily="18" charset="0"/>
              </a:rPr>
              <a:t>Code for push &amp; pop operation in C++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6E02F-46DC-BBC8-2035-2B9B0750956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0E6679-12FC-4212-B7C3-D44F2C0C10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2EE800-CC5B-3A68-2562-C10061D54E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BFDC2-8810-7978-C14A-7ECBFBEBA153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C7E42C-B5EB-B795-38A6-A13E783AB45D}"/>
              </a:ext>
            </a:extLst>
          </p:cNvPr>
          <p:cNvSpPr/>
          <p:nvPr/>
        </p:nvSpPr>
        <p:spPr>
          <a:xfrm>
            <a:off x="467544" y="1257821"/>
            <a:ext cx="501885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newstack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(stack &lt;int&gt; ss)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stack &lt;int&gt; sg = ss;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while (!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sg.empty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())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{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'\t' &lt;&lt;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sg.top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sg.pop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}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&lt;&lt; '\n'; 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E28204-D8D0-3462-6D88-7776360E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7278A-EC6D-CBF9-A09F-2A57AACE068A}"/>
              </a:ext>
            </a:extLst>
          </p:cNvPr>
          <p:cNvSpPr txBox="1"/>
          <p:nvPr/>
        </p:nvSpPr>
        <p:spPr>
          <a:xfrm>
            <a:off x="467544" y="4763111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9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709" y="1284604"/>
            <a:ext cx="8731750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Observe: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Stack A with random numbers is given. Observe how the prime numbers from stack A are popped and pushed into stack B whereas the others are pushed into stack C.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48" y="3093480"/>
            <a:ext cx="7977904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1799136F-CE8B-BC9E-8214-E0E26709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1207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          Data  Structure         Unit2  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60" y="1143000"/>
            <a:ext cx="8358604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E9F187B3-25D5-9ACB-A74E-9F35E8BE3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4008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 Structure         Unit2  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71" y="1551781"/>
            <a:ext cx="83820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6AD8F13-C781-5DB4-08E0-C119F5D2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6355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288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Data  Structure         Unit2 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84" y="1480231"/>
            <a:ext cx="8144179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3CD4337-2FBF-A3E4-D70D-C8E3E8308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238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Data  Structure         Unit2 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00163"/>
            <a:ext cx="8964488" cy="425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FAAC4C8-1CB6-1EF8-C918-24300A1C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112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Data  Structure         Unit2  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6" y="1636966"/>
            <a:ext cx="838200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E54FCBA-9361-2A64-1C80-E673D30A0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93254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31E24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  <a:sym typeface="Arial"/>
              </a:rPr>
              <a:t>Working of stack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rgbClr val="E31E24"/>
              </a:solidFill>
              <a:effectLst/>
              <a:uLnTx/>
              <a:uFillTx/>
              <a:ea typeface="+mn-ea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Ms.Suman           Data  Structure         Unit2 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6" y="1571082"/>
            <a:ext cx="76962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6758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782C-20BF-D97A-49C8-D55848BE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8150BC-0ADD-34D9-685D-0EEE20D1C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181E503-4928-4A09-3922-EA3F929FF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82488"/>
            <a:ext cx="86764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Practice Question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32172B-2A9F-822B-433B-C6647394BF3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B0B3EEA-F3D2-1FBA-8D02-B021A26CD1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2CA479-C3E8-26AF-8A5E-66948D864345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BD1153-9E83-D2C0-FD7A-D5CF2BF8BF2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BDA230-A251-C376-B656-5605071D9DA9}"/>
              </a:ext>
            </a:extLst>
          </p:cNvPr>
          <p:cNvSpPr/>
          <p:nvPr/>
        </p:nvSpPr>
        <p:spPr>
          <a:xfrm>
            <a:off x="467544" y="1257821"/>
            <a:ext cx="5018856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10, 20, 30 into an empty stack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 one element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stack content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movement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4C213-7AD9-F9D8-16B2-6057BD81E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409595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49D1-AD35-7219-397E-DB1C2D97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5007A0-B6A2-5F9C-7DE6-07BDEFAAE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BBC3D2B-F63D-A4DD-3070-C6DDDA457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82488"/>
            <a:ext cx="86764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600" b="1" dirty="0">
                <a:solidFill>
                  <a:srgbClr val="FF0000"/>
                </a:solidFill>
                <a:cs typeface="Times New Roman" pitchFamily="18" charset="0"/>
              </a:rPr>
              <a:t>Practice Question (Solution)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CB9C95-06E7-6D43-04CB-8B123F8EA9E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487E8AB-453F-DB76-D218-54FC86BAB5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4CE422-5D61-C7E2-E499-516C38AB05D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4B77C-B41B-9F41-49F4-7F85E1E5D5F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76EBD7-7644-4702-6668-A560BB3F7850}"/>
              </a:ext>
            </a:extLst>
          </p:cNvPr>
          <p:cNvSpPr/>
          <p:nvPr/>
        </p:nvSpPr>
        <p:spPr>
          <a:xfrm>
            <a:off x="467544" y="1257821"/>
            <a:ext cx="8136904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10, 20, 30 into an empty stack-&gt;Pop one element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BB9106-2ED9-F192-057A-93CAEEFB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9D014D-7FAA-BC20-CC38-98B7C50768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39" b="79303"/>
          <a:stretch>
            <a:fillRect/>
          </a:stretch>
        </p:blipFill>
        <p:spPr>
          <a:xfrm>
            <a:off x="611560" y="2581494"/>
            <a:ext cx="3167966" cy="14912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B052C3-768A-7A30-B730-99E77B34BE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697" b="62503"/>
          <a:stretch>
            <a:fillRect/>
          </a:stretch>
        </p:blipFill>
        <p:spPr>
          <a:xfrm>
            <a:off x="2915816" y="2427799"/>
            <a:ext cx="3167966" cy="17327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AF7BEE-E719-A7AE-AD18-FABF84DC9C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447" b="43604"/>
          <a:stretch>
            <a:fillRect/>
          </a:stretch>
        </p:blipFill>
        <p:spPr>
          <a:xfrm>
            <a:off x="5508103" y="2417718"/>
            <a:ext cx="3167967" cy="20576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F66761-99AA-C53B-5175-6D91AA2208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397" b="21554"/>
          <a:stretch>
            <a:fillRect/>
          </a:stretch>
        </p:blipFill>
        <p:spPr>
          <a:xfrm>
            <a:off x="683567" y="4051999"/>
            <a:ext cx="3167967" cy="22742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9064E1-DB45-CC90-A0B4-AE92B0D58C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496"/>
          <a:stretch>
            <a:fillRect/>
          </a:stretch>
        </p:blipFill>
        <p:spPr>
          <a:xfrm>
            <a:off x="2854355" y="4105009"/>
            <a:ext cx="3167966" cy="211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35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4BA4-112B-4AC9-B580-08099EED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2B4938D8-C2CC-C2E0-9E9C-4AEB19663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BF2B21-FAA3-D1C2-075C-987587670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38CDA7-D36D-AA02-E2DF-853D5040351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9C2065D-F0BB-0509-6EA1-EBB8C2B95D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85326-7CBE-93DC-9EDF-71EA8C98AF9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DF1C4-2773-BFBF-593F-31B7B427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F90F8F-68AF-7469-ED22-66DC823422B1}"/>
              </a:ext>
            </a:extLst>
          </p:cNvPr>
          <p:cNvSpPr txBox="1"/>
          <p:nvPr/>
        </p:nvSpPr>
        <p:spPr>
          <a:xfrm>
            <a:off x="89946" y="366693"/>
            <a:ext cx="8874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Complexity Analysis of Operations on Stack Data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AA9A75-5309-A44F-6E83-77F749A3F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728" y="1892086"/>
            <a:ext cx="4563203" cy="335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693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442" y="1219200"/>
            <a:ext cx="8548046" cy="3851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Which among the following represents a stack?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a: People waiting at a counter, where the action of popping is when   someone has been served at the counter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b: A hand of bangles where pushing is wearing a new bangle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c: A pile of plates at a dinner party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d: People going around a merry-go-round</a:t>
            </a:r>
          </a:p>
          <a:p>
            <a:endParaRPr lang="en-US" sz="2400" dirty="0"/>
          </a:p>
          <a:p>
            <a:endParaRPr lang="en-IN" sz="24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0160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36" y="1518814"/>
            <a:ext cx="8122095" cy="3842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is the time complexity of push operation in a stack? What is the time complexity of pop operation in a stack?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a: O(n), O(n)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b: O(1), O(n)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c: O(n), O(1)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d: O(1), O(1)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93E7E6-1C9B-549F-1C19-BD3798245E7E}"/>
              </a:ext>
            </a:extLst>
          </p:cNvPr>
          <p:cNvSpPr txBox="1"/>
          <p:nvPr/>
        </p:nvSpPr>
        <p:spPr>
          <a:xfrm>
            <a:off x="250036" y="432814"/>
            <a:ext cx="469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747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478" y="1480231"/>
            <a:ext cx="8679010" cy="436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Consider these operations on an empty stack: push(3), push(5), pop(), push(10), push(11), pop(), push(100). What will be the stack configuration (first number is top of the stack, last is the bottom)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a: 100,10,3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b: 3,5,10,11,100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c: 3,10,100</a:t>
            </a:r>
          </a:p>
          <a:p>
            <a:pPr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d: None of the above</a:t>
            </a:r>
          </a:p>
          <a:p>
            <a:pPr algn="just">
              <a:spcBef>
                <a:spcPts val="6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DFF1F-5F31-B7E1-3036-725FB0FC7359}"/>
              </a:ext>
            </a:extLst>
          </p:cNvPr>
          <p:cNvSpPr txBox="1"/>
          <p:nvPr/>
        </p:nvSpPr>
        <p:spPr>
          <a:xfrm>
            <a:off x="250036" y="432814"/>
            <a:ext cx="469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00983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5" y="1390471"/>
            <a:ext cx="820891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Consider a stack initially empty. Perform the following operations: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a) Push 5, Push 10, Push 15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b) Pop an element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c) Push 20 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the final state of the stack?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42BDB-28D1-4AFC-23BA-50E137561404}"/>
              </a:ext>
            </a:extLst>
          </p:cNvPr>
          <p:cNvSpPr txBox="1"/>
          <p:nvPr/>
        </p:nvSpPr>
        <p:spPr>
          <a:xfrm>
            <a:off x="250036" y="432814"/>
            <a:ext cx="469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3600" b="1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14436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/>
          </a:p>
          <a:p>
            <a:r>
              <a:rPr lang="en-US"/>
              <a:t> </a:t>
            </a:r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528" y="1332701"/>
            <a:ext cx="864096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Option: 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Option: 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Option: 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→ 20, Stack Elements (Top to Bottom): 20, 10, 5 </a:t>
            </a:r>
          </a:p>
          <a:p>
            <a:pPr>
              <a:lnSpc>
                <a:spcPct val="150000"/>
              </a:lnSpc>
            </a:pP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5B772-EEE1-AEEA-035B-824A564808E3}"/>
              </a:ext>
            </a:extLst>
          </p:cNvPr>
          <p:cNvSpPr txBox="1"/>
          <p:nvPr/>
        </p:nvSpPr>
        <p:spPr>
          <a:xfrm>
            <a:off x="250036" y="432814"/>
            <a:ext cx="469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8895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6C6F-C170-850A-9BD9-6306D939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6825B9C6-2500-4DDD-4D4C-EEE179824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988C443-EA69-67DB-3833-66E747DD5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vs Array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944E18-4377-536D-D4BD-1795756DE9F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F7E17FF-4846-191D-4BE3-553DEE1055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4A67F-8B18-ADC8-9E07-EA11CFAB810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A4A28-461A-4C7C-ABA1-993BBF60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AE3C74-75A3-32EF-2909-3A86E7173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093282"/>
              </p:ext>
            </p:extLst>
          </p:nvPr>
        </p:nvGraphicFramePr>
        <p:xfrm>
          <a:off x="457200" y="1988661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9899905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554779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19553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37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8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87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59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5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8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1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844621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F023409C-D3EF-FE2C-A9F7-E7B09AB90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30" y="5692849"/>
            <a:ext cx="74837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stack is a specialized structure with restricted access, while an array allows direct access to any element.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3599401-9AB3-E11E-F193-2E91CEA81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796355"/>
              </p:ext>
            </p:extLst>
          </p:nvPr>
        </p:nvGraphicFramePr>
        <p:xfrm>
          <a:off x="946130" y="1274611"/>
          <a:ext cx="7483749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583">
                  <a:extLst>
                    <a:ext uri="{9D8B030D-6E8A-4147-A177-3AD203B41FA5}">
                      <a16:colId xmlns:a16="http://schemas.microsoft.com/office/drawing/2014/main" val="67989642"/>
                    </a:ext>
                  </a:extLst>
                </a:gridCol>
                <a:gridCol w="2494583">
                  <a:extLst>
                    <a:ext uri="{9D8B030D-6E8A-4147-A177-3AD203B41FA5}">
                      <a16:colId xmlns:a16="http://schemas.microsoft.com/office/drawing/2014/main" val="2561388037"/>
                    </a:ext>
                  </a:extLst>
                </a:gridCol>
                <a:gridCol w="2494583">
                  <a:extLst>
                    <a:ext uri="{9D8B030D-6E8A-4147-A177-3AD203B41FA5}">
                      <a16:colId xmlns:a16="http://schemas.microsoft.com/office/drawing/2014/main" val="582386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97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Data Type (ADT)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data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88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Restricted (LIFO – only top element)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access using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50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Insertion/Deletion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at one end (TOP)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any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82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In First Out (LIFO)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specific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6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push, pop, peek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insert, delete, update,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30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calls, undo/redo, expression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Storing and accessing data by 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53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flexible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13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6230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EFB0-E474-4418-7A28-DFD066D2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886C6D03-F4FB-7F4D-8631-C63D93075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B855E0C-B698-34A9-D6D2-EADF694EF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vs Linked List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0B430-F0B4-E436-C9AE-4804D0BE064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FDF23A8-C5E7-8AB0-0E0A-075CFFFFF9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C091C4-9B67-7116-199F-36B74ECB0CE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129500-74D3-0F7D-BC16-DBB48BC2F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0CE54D-99D1-6CAA-5BC3-35E4B9EBE3C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88661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9899905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5547796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19553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37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8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878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059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59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85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01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844621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B37C609B-D67F-5189-167E-767638A15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35" y="5600333"/>
            <a:ext cx="74837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stack restricts how data is accessed, while a linked list allows flexible insertion and deletion anywhere.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0D96C66-EFFE-619A-61AA-15D5F315E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432984"/>
              </p:ext>
            </p:extLst>
          </p:nvPr>
        </p:nvGraphicFramePr>
        <p:xfrm>
          <a:off x="938141" y="1465411"/>
          <a:ext cx="7483749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583">
                  <a:extLst>
                    <a:ext uri="{9D8B030D-6E8A-4147-A177-3AD203B41FA5}">
                      <a16:colId xmlns:a16="http://schemas.microsoft.com/office/drawing/2014/main" val="67989642"/>
                    </a:ext>
                  </a:extLst>
                </a:gridCol>
                <a:gridCol w="2494583">
                  <a:extLst>
                    <a:ext uri="{9D8B030D-6E8A-4147-A177-3AD203B41FA5}">
                      <a16:colId xmlns:a16="http://schemas.microsoft.com/office/drawing/2014/main" val="2561388037"/>
                    </a:ext>
                  </a:extLst>
                </a:gridCol>
                <a:gridCol w="2494583">
                  <a:extLst>
                    <a:ext uri="{9D8B030D-6E8A-4147-A177-3AD203B41FA5}">
                      <a16:colId xmlns:a16="http://schemas.microsoft.com/office/drawing/2014/main" val="582386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97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Data Type (ADT)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data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887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top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node (via traversal)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250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Insertion/Deletion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at 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beginning, end, or any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82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array-based or linked-list-based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dynamic memory (nodes + pointers)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668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fixed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3308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use array or linked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nodes with pointers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53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flexible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13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6390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1FC7-9005-7F3A-E054-61979E6E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65B641A6-E431-CCC3-C5B4-71A004604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0679D1-7A58-50EC-9BE2-AB2F7B48D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74B9832-46A1-8CAA-BD13-11B348A86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D522B0-C460-5410-AEA9-48F8A08202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D903215-D923-3AB3-2528-185998E8AC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E97ABE-1544-1D4E-1E43-435F1D3D654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AFDF6-24FF-254A-BFCD-E805D954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80130-85F5-F6AD-29BD-A84D1B3578F3}"/>
              </a:ext>
            </a:extLst>
          </p:cNvPr>
          <p:cNvSpPr txBox="1"/>
          <p:nvPr/>
        </p:nvSpPr>
        <p:spPr>
          <a:xfrm>
            <a:off x="158874" y="1362738"/>
            <a:ext cx="86981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principle does Stack follow?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the top element?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underflow?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overflow?</a:t>
            </a:r>
          </a:p>
          <a:p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4754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178D-5ED9-9F4D-198E-E0E210CA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153ABA27-D80D-E59F-5234-775D1E2F2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755852-67B1-4A9C-6507-ADA535FE0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3FCD30D-432C-8445-D6F5-FD0E74BD5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8" y="307790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B84F55-49D5-4858-F9B6-E43877F0DB8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8B17AAE-96FB-657C-DF96-570274656C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0F3A6-C3C9-3FE6-DE8C-D023F554E12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F3D14F-AA2A-B51D-2374-999913BE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6703C-4B27-E1F2-6FC5-0ABBA20A5B44}"/>
              </a:ext>
            </a:extLst>
          </p:cNvPr>
          <p:cNvSpPr txBox="1"/>
          <p:nvPr/>
        </p:nvSpPr>
        <p:spPr>
          <a:xfrm>
            <a:off x="158874" y="1362738"/>
            <a:ext cx="8445574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principle does Stack follow?</a:t>
            </a:r>
          </a:p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(Last In, First Out)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the top element?</a:t>
            </a:r>
          </a:p>
          <a:p>
            <a:pPr algn="just">
              <a:spcBef>
                <a:spcPts val="6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underflow?</a:t>
            </a:r>
          </a:p>
          <a:p>
            <a:pPr marL="360363" algn="just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underflow occurs when an attempt is made to pop an element from an empty stack.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stack overflow?</a:t>
            </a:r>
          </a:p>
          <a:p>
            <a:pPr marL="360363" algn="just">
              <a:spcBef>
                <a:spcPts val="6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overflow occurs when an attempt is made to push an element into a full stack.</a:t>
            </a:r>
          </a:p>
        </p:txBody>
      </p:sp>
    </p:spTree>
    <p:extLst>
      <p:ext uri="{BB962C8B-B14F-4D97-AF65-F5344CB8AC3E}">
        <p14:creationId xmlns:p14="http://schemas.microsoft.com/office/powerpoint/2010/main" val="3822023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FAD6-011A-CF68-B686-4553FF4E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39A67D9-9E25-CC3E-59DA-0CCE8AD8F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3A1459-C56E-73F0-99CF-8F3F12E12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1F3721F-5D65-B484-83F5-224FDE5A3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07790"/>
            <a:ext cx="8043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Implementation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1C7EAA-C068-7C91-F5CD-0F58560651D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2956909-90BE-A426-A2D8-51A9EFC7F1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AA17A-5DD9-4E7F-4672-C12AAA85C28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A990F-FB91-B74E-C049-AB6E3FD9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17824-C787-128A-3124-D5739868555F}"/>
              </a:ext>
            </a:extLst>
          </p:cNvPr>
          <p:cNvSpPr txBox="1"/>
          <p:nvPr/>
        </p:nvSpPr>
        <p:spPr>
          <a:xfrm>
            <a:off x="395536" y="1166842"/>
            <a:ext cx="8461448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 can be implemented using: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9582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Array representation of Stack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/>
          <a:srcRect l="2617" t="2941" r="1515" b="2941"/>
          <a:stretch>
            <a:fillRect/>
          </a:stretch>
        </p:blipFill>
        <p:spPr bwMode="auto">
          <a:xfrm>
            <a:off x="858982" y="1447863"/>
            <a:ext cx="7139136" cy="3894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838200" y="5114691"/>
            <a:ext cx="701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Fig: Array Representations </a:t>
            </a:r>
          </a:p>
          <a:p>
            <a:r>
              <a:rPr lang="en-US" dirty="0">
                <a:hlinkClick r:id="rId6"/>
              </a:rPr>
              <a:t>https://prepinsta.com/data-structures/representation-of-a-stack/</a:t>
            </a:r>
            <a:endParaRPr lang="en-US" dirty="0"/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17498605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0ACA-9C19-03CD-3437-F6A731E6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C1F7D5-D136-1801-3785-AB77DA615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16CAA13-B5ED-14BD-043D-6534B02FF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Why Implement Stack Using Array?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F4F552-6BEF-67E1-FF4C-2BBDCE4D59B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007601A-FFEF-28A7-655D-A085C49F42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9F0AA4-663D-B45D-DE6D-9706E127EE1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B852A4-65C6-7C35-0374-6240D79E397C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E8840-0B38-2CB7-62B5-2CF1FF31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00FAB-DDFB-C0C0-642F-67B7282798D9}"/>
              </a:ext>
            </a:extLst>
          </p:cNvPr>
          <p:cNvSpPr txBox="1"/>
          <p:nvPr/>
        </p:nvSpPr>
        <p:spPr>
          <a:xfrm>
            <a:off x="285478" y="1250494"/>
            <a:ext cx="8573450" cy="522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Direct Access</a:t>
            </a:r>
          </a:p>
          <a:p>
            <a:pPr marL="800100" lvl="1" indent="-3429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</a:p>
          <a:p>
            <a:pPr marL="800100" lvl="1" indent="-3429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en-IN" sz="24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Memory Usage</a:t>
            </a:r>
          </a:p>
          <a:p>
            <a:pPr marL="800100" lvl="1" indent="-3429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800100" lvl="1" indent="-3429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</a:t>
            </a:r>
          </a:p>
          <a:p>
            <a:pPr marL="457200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Implementation</a:t>
            </a:r>
          </a:p>
          <a:p>
            <a:pPr marL="914400" lvl="1" indent="-4572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</a:t>
            </a:r>
          </a:p>
          <a:p>
            <a:pPr marL="914400" lvl="1" indent="-4572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Overhead</a:t>
            </a:r>
          </a:p>
          <a:p>
            <a:pPr marL="457200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Performance</a:t>
            </a:r>
          </a:p>
          <a:p>
            <a:pPr marL="914400" lvl="1" indent="-4572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Operations</a:t>
            </a:r>
          </a:p>
          <a:p>
            <a:pPr marL="914400" lvl="1" indent="-457200"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Pointer Management</a:t>
            </a:r>
          </a:p>
          <a:p>
            <a:pPr algn="l" rtl="0">
              <a:buNone/>
            </a:pPr>
            <a:endParaRPr lang="en-IN" b="1" i="0" dirty="0">
              <a:solidFill>
                <a:srgbClr val="4B5563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897893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86F4-72C0-9990-CB4C-658CD4F7E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847D8A-3245-6091-483F-8036345B9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444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51A745B-B3C0-634B-AE8B-D90AA4C8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6450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Limitations of Stack Implementation Using Array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43CA48-C36F-6335-4636-B830692241E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31CC48-1FB3-C24D-2635-C17B37345E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968084-3F22-D3E4-C9B5-9D64DE145DB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79454-9086-DB33-BFD5-9C25018C8E9E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063FC4-812B-382B-2C29-56879ECB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37898-0DE9-D1F8-EE78-2007CF545804}"/>
              </a:ext>
            </a:extLst>
          </p:cNvPr>
          <p:cNvSpPr txBox="1"/>
          <p:nvPr/>
        </p:nvSpPr>
        <p:spPr>
          <a:xfrm>
            <a:off x="463043" y="1359338"/>
            <a:ext cx="8395885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</a:t>
            </a:r>
          </a:p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Wasted Space</a:t>
            </a:r>
          </a:p>
          <a:p>
            <a:pPr marL="268288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Resizing Issues</a:t>
            </a:r>
          </a:p>
          <a:p>
            <a:pPr algn="l" rtl="0">
              <a:lnSpc>
                <a:spcPct val="150000"/>
              </a:lnSpc>
              <a:buNone/>
            </a:pPr>
            <a:endParaRPr lang="en-IN" sz="2400" b="1" i="0" dirty="0">
              <a:solidFill>
                <a:srgbClr val="4B556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820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Implementation using array in Python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440" y="2799996"/>
            <a:ext cx="4374232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Stack implementation using array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= [0] * 100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100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= -1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push(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top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&gt;= n - 1: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Overflow")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top += 1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stack[top] =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D6C535-2F01-AEC2-3457-6E63FC66A972}"/>
              </a:ext>
            </a:extLst>
          </p:cNvPr>
          <p:cNvSpPr txBox="1"/>
          <p:nvPr/>
        </p:nvSpPr>
        <p:spPr>
          <a:xfrm>
            <a:off x="4323215" y="2643129"/>
            <a:ext cx="46412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pop():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top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&lt;= -1: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Underflow")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print("The popped element is", stack[top])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top -= 1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top &gt;= 0: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elements are:")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range(top, -1, -1):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print(stack[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end=" ")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print("Stack is empty")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398F38-7954-C3DB-EB33-AC10F60E72C4}"/>
              </a:ext>
            </a:extLst>
          </p:cNvPr>
          <p:cNvSpPr txBox="1"/>
          <p:nvPr/>
        </p:nvSpPr>
        <p:spPr>
          <a:xfrm>
            <a:off x="319440" y="1146214"/>
            <a:ext cx="86450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to implement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using an array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performs the following operations: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element into the stack (with stack overflow condition).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element from the stack (with stack underflow condition).</a:t>
            </a:r>
          </a:p>
          <a:p>
            <a:pPr algn="just"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elements of the stack from top to bottom.</a:t>
            </a:r>
          </a:p>
          <a:p>
            <a:pPr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menu-driven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the user to choose an operation repeatedly until the exit option is selected.</a:t>
            </a:r>
          </a:p>
        </p:txBody>
      </p:sp>
    </p:spTree>
    <p:extLst>
      <p:ext uri="{BB962C8B-B14F-4D97-AF65-F5344CB8AC3E}">
        <p14:creationId xmlns:p14="http://schemas.microsoft.com/office/powerpoint/2010/main" val="929735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15DE-EF9F-4C1F-C658-802DB56A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6592801-D4FB-6980-9A09-428EDA934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E98AA46-E335-C43B-AF6D-5E5189F1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Contd.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DF9A35-0C59-A4A1-0059-742017B6A39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0AD0333-D8CB-26DE-F03C-0E106F9BEB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C61F79-82FA-289C-1577-99078306411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53815-0A39-46B3-DE1A-7AE7BEEEDB90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4AE73-2F19-3A94-98D8-F0067A0A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D736E7-D3B0-3920-15EF-40FD1E0517D2}"/>
              </a:ext>
            </a:extLst>
          </p:cNvPr>
          <p:cNvSpPr/>
          <p:nvPr/>
        </p:nvSpPr>
        <p:spPr>
          <a:xfrm>
            <a:off x="287260" y="1136764"/>
            <a:ext cx="437423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main():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True: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print("\n1) Push in stack")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print("2) Pop from stack")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print("3) Display stack")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print("4) Exit")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choice: "))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value to be pushed: "))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2: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pop()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5E93F-92DA-078C-CB95-F53607781F2A}"/>
              </a:ext>
            </a:extLst>
          </p:cNvPr>
          <p:cNvSpPr txBox="1"/>
          <p:nvPr/>
        </p:nvSpPr>
        <p:spPr>
          <a:xfrm>
            <a:off x="4767457" y="1136764"/>
            <a:ext cx="39854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3: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display()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4: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print("Exit")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print("Invalid Choice")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41905801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D5957-9E09-033E-DD28-5D38F0EC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8C9B453-8169-8C1F-5963-0BEFAE728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DB1DB87-E431-94AA-3C24-40DDF184F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Implementation using array in C++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7C0363-0F2C-58B3-1509-64169C00700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2A3F5A-01D1-D0C6-22A7-D700090486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A3722C-5560-065E-F3CB-1A25A0B0191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21607-7511-1A1F-4F46-5DCBE1DA71B9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0210F-DDF5-97BD-2590-46358491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1CB1B8-7202-B5B5-AC15-F030EB7092F9}"/>
              </a:ext>
            </a:extLst>
          </p:cNvPr>
          <p:cNvSpPr/>
          <p:nvPr/>
        </p:nvSpPr>
        <p:spPr>
          <a:xfrm>
            <a:off x="287260" y="1136764"/>
            <a:ext cx="437423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iostream.h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stack[100], n=100, top=-1;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push(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if(top&gt;=n-1)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&lt;&lt;"Stack Overflow"&lt;&lt;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top++;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stack[top]=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pop()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if(top&lt;=-1)    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StackUnderflow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  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&lt;&lt;"The popped element is "&lt;&lt; stack[top] 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top--;    }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22AAF-38FC-5792-99CC-99C2DE87390E}"/>
              </a:ext>
            </a:extLst>
          </p:cNvPr>
          <p:cNvSpPr/>
          <p:nvPr/>
        </p:nvSpPr>
        <p:spPr>
          <a:xfrm>
            <a:off x="4830696" y="1136764"/>
            <a:ext cx="363351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if(top&gt;=0)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&lt;&lt;"Stack elements are:";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for(int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=top;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&gt;=0;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--)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&lt;&lt;stack[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]&lt;&lt;" ";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else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&lt;&lt;"Stack is empty";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int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&lt;&lt;"1) Push in stack"&lt;&lt;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&lt;&lt;"2) Pop from stack"&lt;&lt;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&lt;&lt;"3) Display stack"&lt;&lt;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&lt;&lt;"4) Exit"&lt;&lt;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do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&lt;&lt;"Enter choice: 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64973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68195"/>
            <a:ext cx="86450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Conti..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768" y="1152557"/>
            <a:ext cx="4572000" cy="45397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switch(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case 1: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&lt;&lt;"Enter value to be pushed:"&lt;&lt;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push(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case 2: 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pop();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 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}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!=4);    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lang="en-IN" sz="1700" dirty="0"/>
              <a:t>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AF01D-3A8E-FC63-B336-65F3B956732A}"/>
              </a:ext>
            </a:extLst>
          </p:cNvPr>
          <p:cNvSpPr txBox="1"/>
          <p:nvPr/>
        </p:nvSpPr>
        <p:spPr>
          <a:xfrm>
            <a:off x="4979185" y="1241009"/>
            <a:ext cx="37692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3: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display();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4: {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&lt;&lt;"Exit"&lt;&lt;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}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default: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         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&lt;&lt;"Invalid Choice"&lt;&lt;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 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}      </a:t>
            </a:r>
          </a:p>
        </p:txBody>
      </p:sp>
    </p:spTree>
    <p:extLst>
      <p:ext uri="{BB962C8B-B14F-4D97-AF65-F5344CB8AC3E}">
        <p14:creationId xmlns:p14="http://schemas.microsoft.com/office/powerpoint/2010/main" val="2765077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6247" y="697913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628" y="1230386"/>
            <a:ext cx="854804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 algn="just"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S be a stack of size n &gt;= 1. Starting with the empty stack, suppose we push the first n natural numbers in sequence, and then perform n pop operations. Assume that Push and Pop operation take X seconds each, and Y seconds elapse between the end of one such stack operation and the start of the next operation. </a:t>
            </a:r>
          </a:p>
          <a:p>
            <a:pPr marL="268288" indent="-268288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m &gt;= 1, define the stack-life of m as the time elapsed from the end of Push(m) to the start of the pop operation that removes m from S. </a:t>
            </a:r>
          </a:p>
          <a:p>
            <a:pPr marL="628650" indent="-360363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stack-life of an element of this stack is</a:t>
            </a:r>
          </a:p>
          <a:p>
            <a:pPr marL="628650" lvl="1" indent="-360363">
              <a:buFont typeface="+mj-lt"/>
              <a:buAutoNum type="alphaLcParenR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n(X+ Y)</a:t>
            </a:r>
          </a:p>
          <a:p>
            <a:pPr marL="628650" lvl="1" indent="-360363">
              <a:buFont typeface="+mj-lt"/>
              <a:buAutoNum type="alphaLcParenR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3Y + 2X</a:t>
            </a:r>
          </a:p>
          <a:p>
            <a:pPr marL="628650" lvl="1" indent="-360363">
              <a:buFont typeface="+mj-lt"/>
              <a:buAutoNum type="alphaLcParenR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n(X + Y)-X</a:t>
            </a:r>
          </a:p>
          <a:p>
            <a:pPr marL="628650" lvl="1" indent="-360363">
              <a:buFont typeface="+mj-lt"/>
              <a:buAutoNum type="alphaLcParenR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+ 2X</a:t>
            </a:r>
          </a:p>
        </p:txBody>
      </p:sp>
    </p:spTree>
    <p:extLst>
      <p:ext uri="{BB962C8B-B14F-4D97-AF65-F5344CB8AC3E}">
        <p14:creationId xmlns:p14="http://schemas.microsoft.com/office/powerpoint/2010/main" val="966262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957E-E16D-D7C0-7E29-336AA4970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DEC4AFA-EE0E-8B1C-88EE-F2D41FAA1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7B7663-607B-4BD1-0C0B-9CA7A8528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87A83FC-B18F-AF1C-A735-C000BB9FD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13C3D9-6815-513D-6D48-1F9EEBD1EB1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174CE55-62A6-3888-73C5-8872D46513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9CDF06-DF69-2107-5FCD-CACF29BE630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1529C1-A3B0-7599-DCED-B1672D2D624D}"/>
              </a:ext>
            </a:extLst>
          </p:cNvPr>
          <p:cNvSpPr txBox="1"/>
          <p:nvPr/>
        </p:nvSpPr>
        <p:spPr>
          <a:xfrm>
            <a:off x="126247" y="697913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45B25-B2DB-3F31-9D66-5E45E42F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690ECD-C16C-0530-9B54-DBBD720D6538}"/>
              </a:ext>
            </a:extLst>
          </p:cNvPr>
          <p:cNvSpPr txBox="1"/>
          <p:nvPr/>
        </p:nvSpPr>
        <p:spPr>
          <a:xfrm>
            <a:off x="467544" y="1234235"/>
            <a:ext cx="823726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s-E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n = 3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 Pushed in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 Pushed in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( Pushed in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( Popped Out of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 Popped Out of Stack ) : Time take =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 Popped Out of Stack ) : Time take = X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Life of 3 = 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Life of 2 = 3(x + y ) - x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Life of 1 = 5(x + y ) - x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Stack Life of Element = ( Y + (3(X + Y ) - X ) + (5(X + Y ) - X) ) /3 = ( 6X + 9Y )/3 = 2X + 3Y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n= 3 the average stack life is 2X +3Y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 for n elements, the average stack life will be 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 X + Y ) -X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0699201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8458199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851" y="1249813"/>
            <a:ext cx="8524826" cy="4959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array A[1..MAXSIZE] is used to implement two stacks. The two stacks grow from opposite ends of the array. Variables top1 and top2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top 2) point to the location of the topmost element in each of the stacks. If the space is to be used efficiently, the condition for “stack full” is:</a:t>
            </a:r>
          </a:p>
          <a:p>
            <a:pPr marL="534988" lvl="1" indent="-457200">
              <a:spcBef>
                <a:spcPts val="600"/>
              </a:spcBef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(top1 = MAXSIZE/2) and (top2 = MAXSIZE/2+1)</a:t>
            </a:r>
          </a:p>
          <a:p>
            <a:pPr marL="534988" lvl="1" indent="-457200">
              <a:spcBef>
                <a:spcPts val="600"/>
              </a:spcBef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top1 + top2 + 1 = MAXSIZE</a:t>
            </a:r>
          </a:p>
          <a:p>
            <a:pPr marL="534988" lvl="1" indent="-457200">
              <a:spcBef>
                <a:spcPts val="600"/>
              </a:spcBef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(top1= MAXSIZE/2) or (top2 = MAXSIZE)</a:t>
            </a:r>
          </a:p>
          <a:p>
            <a:pPr marL="534988" lvl="1" indent="-457200">
              <a:spcBef>
                <a:spcPts val="600"/>
              </a:spcBef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top1= top2 -1</a:t>
            </a:r>
          </a:p>
          <a:p>
            <a:r>
              <a:rPr lang="en-IN" sz="2400" dirty="0"/>
              <a:t> </a:t>
            </a:r>
            <a:endParaRPr lang="en-US" sz="2400" dirty="0"/>
          </a:p>
          <a:p>
            <a:endParaRPr lang="en-IN" sz="24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4685573-98D4-B091-F61E-63BEC6D13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05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62806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480231"/>
            <a:ext cx="8295456" cy="397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permutation can be obtained in the same order using a stack assuming that input is the sequence 5, 6, 7, 8, 9 in that order?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7, 8, 9, 5, 6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5, 9, 6, 7, 8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7, 8, 9, 6, 5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9, 8, 7, 5, 6</a:t>
            </a:r>
          </a:p>
          <a:p>
            <a:endParaRPr lang="en-US" sz="28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44D6F43-2966-92EB-CB16-0EFAA284D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05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89381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510" y="1171828"/>
            <a:ext cx="8568952" cy="3543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Option: 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 : D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Option : C </a:t>
            </a:r>
          </a:p>
          <a:p>
            <a:br>
              <a:rPr lang="en-IN" sz="2400" b="1" dirty="0"/>
            </a:br>
            <a:endParaRPr lang="en-US" sz="2400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0F862A-36B0-4F9A-DF66-ECA4603E9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68195"/>
            <a:ext cx="83674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Test Your self </a:t>
            </a:r>
            <a:endParaRPr lang="en-IN" sz="36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35727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70FD-9205-79B0-E7EE-341FD0A2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928DC916-E267-29B0-BE2C-738662E05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F637989-B55D-DA30-981C-9319924CE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C507D-37FF-93CC-180F-59105D7A8D2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8FB3972-5DF1-B6D9-4F9F-871E8FA072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ED834-C7B7-1C5C-3094-6F14492F250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EEA12-3037-C9BC-BB38-DD9B3DA2E5A1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65096-C3CB-0988-9DC5-9422B2AB1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9B13F-6E9B-7A76-B780-D4CBA3CC06F3}"/>
              </a:ext>
            </a:extLst>
          </p:cNvPr>
          <p:cNvSpPr txBox="1"/>
          <p:nvPr/>
        </p:nvSpPr>
        <p:spPr>
          <a:xfrm>
            <a:off x="117728" y="1105327"/>
            <a:ext cx="8892480" cy="3913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 the Linked List implementation of a stack, the nodes are maintained non-contiguously in memory.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 node contains a pointer to its immediate successor node in the stack.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solidFill>
                  <a:srgbClr val="333333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Stack is said to be overflown if the space left in the memory heap is not enough to create a node.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CDC5A2A-0210-F8AA-1540-0C7F5B8E4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778"/>
            <a:ext cx="83674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Implementation of Stack using Linked List</a:t>
            </a:r>
            <a:endParaRPr lang="en-US" dirty="0">
              <a:sym typeface="Arial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11" name="Picture 10" descr="DS Linked list implementation stack">
            <a:extLst>
              <a:ext uri="{FF2B5EF4-FFF2-40B4-BE49-F238E27FC236}">
                <a16:creationId xmlns:a16="http://schemas.microsoft.com/office/drawing/2014/main" id="{DD8D633E-DB3C-8DC4-662E-61CAEE9A3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808" y="4070008"/>
            <a:ext cx="2121522" cy="25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268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FD436-98A3-8D3B-459D-C67C24260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BA8FC1D-7511-735E-C663-A3463A2E2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FB8A4D-6D14-6237-4DE4-01301925E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79A73B-2112-3977-4D1C-B1CE9BE5777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1ABD366-1948-AF5B-DE24-B1BD480859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E5672E-1F4D-1A61-4A1E-01C86550061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68089-77A4-CBD6-76F2-D27A349F44D4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7D0E1-4DC3-00F7-0C7C-DBB840B8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A6913F3-3676-2DCD-938C-FAEF69DB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361196"/>
            <a:ext cx="99676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Adding a node to the stack (Push operation)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5B0A4-DAEE-562B-B631-A1DFF5773201}"/>
              </a:ext>
            </a:extLst>
          </p:cNvPr>
          <p:cNvSpPr txBox="1"/>
          <p:nvPr/>
        </p:nvSpPr>
        <p:spPr>
          <a:xfrm>
            <a:off x="511436" y="1317561"/>
            <a:ext cx="5988249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Allocate memory for the new node and name it as NEW_NODE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SET NEW_NODE-&gt; DATA=VAL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IF TOP=NULL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NEW_NODE-&gt;NEXT=NULL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TOP=NEW_NODE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ELSE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NEW_NODE-&gt;NEXT=TOP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SET TOP=NEW_NODE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[END OF IF]</a:t>
            </a:r>
          </a:p>
          <a:p>
            <a:pPr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END</a:t>
            </a:r>
          </a:p>
        </p:txBody>
      </p:sp>
    </p:spTree>
    <p:extLst>
      <p:ext uri="{BB962C8B-B14F-4D97-AF65-F5344CB8AC3E}">
        <p14:creationId xmlns:p14="http://schemas.microsoft.com/office/powerpoint/2010/main" val="301799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FBA9-FFA9-8695-6918-9918B475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5A07E01-2C44-86DA-22BB-03EC6DF9A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A50A92-532E-6C8D-5630-1C8728B69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CE1697-FA21-F746-38F7-2BA560B55BF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D9FA4A1-5282-DEC2-E622-682D8DB962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F5D44C-5300-40E5-AC15-784558375B8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F001CB-D9BA-89B7-D55E-2A8EA44374E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82FD3-C631-E08F-809B-40C5BEC2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D469E8D-EEED-B1E3-E86B-45D843F68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361196"/>
            <a:ext cx="996766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Adding a node to the stack (Push operation)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  <a:sym typeface="Arial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stack&#10;&#10;AI-generated content may be incorrect.">
            <a:extLst>
              <a:ext uri="{FF2B5EF4-FFF2-40B4-BE49-F238E27FC236}">
                <a16:creationId xmlns:a16="http://schemas.microsoft.com/office/drawing/2014/main" id="{11D36726-B756-31BB-0286-447868965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" y="1484376"/>
            <a:ext cx="8577453" cy="407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39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4515-13B8-EEC7-5C3F-5A88C7A3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9EDBB2C-EF14-FC2F-12B5-EB69CE6AC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D63D8A-0EC1-4735-AF7A-D0616B84356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BB59829-833B-EDFB-6EED-ADABA88CDF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88606B-4B7D-F481-1A08-BE0B27F8CCE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6EB4A0-1B0E-D97F-FCE5-17743A204836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83407-6141-DDBA-316D-F0376783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E3BFC5-9C2E-2C32-40DE-5E77FED6E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215003"/>
            <a:ext cx="99676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Deleting a node from the stack (POP operation)</a:t>
            </a:r>
            <a:endParaRPr lang="en-US" dirty="0"/>
          </a:p>
          <a:p>
            <a:endParaRPr lang="en-US" sz="3600" b="1" dirty="0">
              <a:solidFill>
                <a:srgbClr val="E31E24"/>
              </a:solidFill>
              <a:latin typeface="Calibri"/>
              <a:ea typeface="Calibri"/>
              <a:cs typeface="Calibri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D852F-17FA-8C8C-618B-7118C66C4486}"/>
              </a:ext>
            </a:extLst>
          </p:cNvPr>
          <p:cNvSpPr txBox="1"/>
          <p:nvPr/>
        </p:nvSpPr>
        <p:spPr>
          <a:xfrm>
            <a:off x="584200" y="1287264"/>
            <a:ext cx="50800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IF TOP=NULL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PRINT "UNDERFLOW"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Goto Step 5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[END OF IF]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SET PTR=TOP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SET TOP=TOP-&gt;NEXT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FREE PTR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END</a:t>
            </a:r>
          </a:p>
        </p:txBody>
      </p:sp>
    </p:spTree>
    <p:extLst>
      <p:ext uri="{BB962C8B-B14F-4D97-AF65-F5344CB8AC3E}">
        <p14:creationId xmlns:p14="http://schemas.microsoft.com/office/powerpoint/2010/main" val="2563146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E59C-FE11-4B04-06F5-EF1F8E3B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C5FD2048-9AB5-48A2-919C-52F2E4CE8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45C4CE5-6BB7-C5D1-68AD-FE977F50F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AAC00B-63C0-18F1-B09A-1A53E6E7AE1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9EA5850-DE0A-F4C0-8276-106B038EF0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751EE0-C784-385B-3E01-56CCFD72B3F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80083-EE67-735F-84D3-D9409BB5531D}"/>
              </a:ext>
            </a:extLst>
          </p:cNvPr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619ED-6CEB-DD2F-32CF-4DD3EFCF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B8EF1A2-B85E-6BAD-2BF6-F676D890A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24" y="215003"/>
            <a:ext cx="99676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E31E24"/>
                </a:solidFill>
                <a:latin typeface="Calibri"/>
                <a:ea typeface="Calibri"/>
                <a:cs typeface="Calibri"/>
                <a:sym typeface="Arial"/>
              </a:rPr>
              <a:t>Deleting a node from the stack (POP operation)</a:t>
            </a:r>
            <a:endParaRPr lang="en-US" dirty="0"/>
          </a:p>
          <a:p>
            <a:endParaRPr lang="en-US" sz="3600" b="1" dirty="0">
              <a:solidFill>
                <a:srgbClr val="E31E24"/>
              </a:solidFill>
              <a:latin typeface="Calibri"/>
              <a:ea typeface="Calibri"/>
              <a:cs typeface="Calibri"/>
            </a:endParaRPr>
          </a:p>
          <a:p>
            <a:endParaRPr lang="en-US" sz="3600" b="1" dirty="0">
              <a:solidFill>
                <a:srgbClr val="E31E24"/>
              </a:solidFill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8" name="Picture 7" descr="A diagram of a stack&#10;&#10;AI-generated content may be incorrect.">
            <a:extLst>
              <a:ext uri="{FF2B5EF4-FFF2-40B4-BE49-F238E27FC236}">
                <a16:creationId xmlns:a16="http://schemas.microsoft.com/office/drawing/2014/main" id="{E66F9B28-64DA-5887-8039-BC287C072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859" y="1936320"/>
            <a:ext cx="6952254" cy="316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483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4A5F-18D4-4D6E-64F4-9174126A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BDDB06-4B6E-4707-1E17-AAE8BFCF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F6197-3238-08C9-B26C-DB30D7D65F43}"/>
              </a:ext>
            </a:extLst>
          </p:cNvPr>
          <p:cNvCxnSpPr/>
          <p:nvPr/>
        </p:nvCxnSpPr>
        <p:spPr>
          <a:xfrm>
            <a:off x="-28617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344C319-238E-5A65-3F7E-593393C19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FAB2C-6B04-D9C7-C35F-2BCAD3D9C65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D8156-DA4B-BB1C-9496-FC99853F1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56" y="346497"/>
            <a:ext cx="88398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C61E0-6318-2865-A850-DCAA5ACF48FE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3A715DB1-87CD-88B2-807A-5931C67A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858CE0-C15F-AB9B-F784-3C1227766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CCBC8-63DE-671F-2BE9-9F6EDF20EAEA}"/>
              </a:ext>
            </a:extLst>
          </p:cNvPr>
          <p:cNvSpPr txBox="1"/>
          <p:nvPr/>
        </p:nvSpPr>
        <p:spPr>
          <a:xfrm>
            <a:off x="253131" y="1192799"/>
            <a:ext cx="8567339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data 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principle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insertions and deletions happen only at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push, pop, peek,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can be implemented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and pop operations take O(1)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most cases.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Overflow occurs when stack is full; underflow occurs when stack is empty.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implementation is simple but has fixed size limitations.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implementation allows dynamic size but uses extra memory for pointers.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widely used in expression evaluation, recursion, undo/redo, parsing, and memory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3428677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Introduction</a:t>
            </a:r>
            <a:br>
              <a:rPr lang="en-US" sz="1600" dirty="0"/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https://www.geeksforgeeks.org/stack-data-structure/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PrepInsta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Operations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https://prepinsta.com/data-structures/introduction-to-stacks-in-data-structures/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– Stack Operations Algorithms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https://www.scaler.com/topics/stack-operations-in-data-structures/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JavaTpoint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Applications of Stack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https://www.javatpoint.com/applications-of-stack-in-data-structure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Stack in Python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https://www.programiz.com/dsa/stack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3338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27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23307</TotalTime>
  <Words>5106</Words>
  <Application>Microsoft Office PowerPoint</Application>
  <PresentationFormat>On-screen Show (4:3)</PresentationFormat>
  <Paragraphs>1025</Paragraphs>
  <Slides>66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Arial</vt:lpstr>
      <vt:lpstr>Calibri</vt:lpstr>
      <vt:lpstr>Calibri Light</vt:lpstr>
      <vt:lpstr>Garamond</vt:lpstr>
      <vt:lpstr>Inter</vt:lpstr>
      <vt:lpstr>Sylfaen</vt:lpstr>
      <vt:lpstr>Times New Roman</vt:lpstr>
      <vt:lpstr>Verdana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Jyoti Yadav</cp:lastModifiedBy>
  <cp:revision>1428</cp:revision>
  <cp:lastPrinted>2022-09-05T08:43:44Z</cp:lastPrinted>
  <dcterms:created xsi:type="dcterms:W3CDTF">2020-01-16T09:05:56Z</dcterms:created>
  <dcterms:modified xsi:type="dcterms:W3CDTF">2026-01-15T06:27:09Z</dcterms:modified>
</cp:coreProperties>
</file>