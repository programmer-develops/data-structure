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693" r:id="rId8"/>
    <p:sldId id="1028" r:id="rId9"/>
    <p:sldId id="1029" r:id="rId10"/>
    <p:sldId id="930" r:id="rId11"/>
    <p:sldId id="1015" r:id="rId12"/>
    <p:sldId id="1026" r:id="rId13"/>
    <p:sldId id="968" r:id="rId14"/>
    <p:sldId id="994" r:id="rId15"/>
    <p:sldId id="1032" r:id="rId16"/>
    <p:sldId id="1042" r:id="rId17"/>
    <p:sldId id="1033" r:id="rId18"/>
    <p:sldId id="1018" r:id="rId19"/>
    <p:sldId id="1016" r:id="rId20"/>
    <p:sldId id="1017" r:id="rId21"/>
    <p:sldId id="1049" r:id="rId22"/>
    <p:sldId id="969" r:id="rId23"/>
    <p:sldId id="1019" r:id="rId24"/>
    <p:sldId id="1030" r:id="rId25"/>
    <p:sldId id="1031" r:id="rId26"/>
    <p:sldId id="970" r:id="rId27"/>
    <p:sldId id="1034" r:id="rId28"/>
    <p:sldId id="1035" r:id="rId29"/>
    <p:sldId id="1036" r:id="rId30"/>
    <p:sldId id="1037" r:id="rId31"/>
    <p:sldId id="1038" r:id="rId32"/>
    <p:sldId id="1039" r:id="rId33"/>
    <p:sldId id="1041" r:id="rId34"/>
    <p:sldId id="1045" r:id="rId35"/>
    <p:sldId id="1040" r:id="rId36"/>
    <p:sldId id="1021" r:id="rId37"/>
    <p:sldId id="1020" r:id="rId38"/>
    <p:sldId id="1022" r:id="rId39"/>
    <p:sldId id="1050" r:id="rId40"/>
    <p:sldId id="1053" r:id="rId41"/>
    <p:sldId id="1054" r:id="rId42"/>
    <p:sldId id="1051" r:id="rId43"/>
    <p:sldId id="1055" r:id="rId44"/>
    <p:sldId id="1044" r:id="rId45"/>
    <p:sldId id="1043" r:id="rId46"/>
    <p:sldId id="1024" r:id="rId47"/>
    <p:sldId id="1025" r:id="rId48"/>
    <p:sldId id="1048" r:id="rId49"/>
    <p:sldId id="1046" r:id="rId50"/>
    <p:sldId id="1047" r:id="rId51"/>
    <p:sldId id="1014" r:id="rId52"/>
    <p:sldId id="269" r:id="rId5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E24"/>
    <a:srgbClr val="4B0993"/>
    <a:srgbClr val="E83030"/>
    <a:srgbClr val="0060AA"/>
    <a:srgbClr val="0066B3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4FD3F-B334-C918-D55F-18BFEA212EB2}" v="9" dt="2026-01-11T12:40:47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88" d="100"/>
          <a:sy n="88" d="100"/>
        </p:scale>
        <p:origin x="885" y="57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9edf8e8-7ce8-44bc-8ba6-5e538ffde482::" providerId="AD" clId="Web-{BBE4FD3F-B334-C918-D55F-18BFEA212EB2}"/>
    <pc:docChg chg="modSld">
      <pc:chgData name="Guest User" userId="S::urn:spo:tenantanon#49edf8e8-7ce8-44bc-8ba6-5e538ffde482::" providerId="AD" clId="Web-{BBE4FD3F-B334-C918-D55F-18BFEA212EB2}" dt="2026-01-11T12:40:45.467" v="2" actId="20577"/>
      <pc:docMkLst>
        <pc:docMk/>
      </pc:docMkLst>
      <pc:sldChg chg="modSp">
        <pc:chgData name="Guest User" userId="S::urn:spo:tenantanon#49edf8e8-7ce8-44bc-8ba6-5e538ffde482::" providerId="AD" clId="Web-{BBE4FD3F-B334-C918-D55F-18BFEA212EB2}" dt="2026-01-11T12:40:45.467" v="2" actId="20577"/>
        <pc:sldMkLst>
          <pc:docMk/>
          <pc:sldMk cId="751646105" sldId="1011"/>
        </pc:sldMkLst>
        <pc:spChg chg="mod">
          <ac:chgData name="Guest User" userId="S::urn:spo:tenantanon#49edf8e8-7ce8-44bc-8ba6-5e538ffde482::" providerId="AD" clId="Web-{BBE4FD3F-B334-C918-D55F-18BFEA212EB2}" dt="2026-01-11T12:40:45.467" v="2" actId="20577"/>
          <ac:spMkLst>
            <pc:docMk/>
            <pc:sldMk cId="751646105" sldId="1011"/>
            <ac:spMk id="7" creationId="{707A6CE9-669B-DEE3-BF3E-8D5506EAE30B}"/>
          </ac:spMkLst>
        </pc:spChg>
      </pc:sldChg>
    </pc:docChg>
  </pc:docChgLst>
  <pc:docChgLst>
    <pc:chgData name="Jyoti Yadav" userId="8da2e7729ab2cedd" providerId="LiveId" clId="{741A7A88-242A-459A-A359-2627301AD1E9}"/>
    <pc:docChg chg="modSld">
      <pc:chgData name="Jyoti Yadav" userId="8da2e7729ab2cedd" providerId="LiveId" clId="{741A7A88-242A-459A-A359-2627301AD1E9}" dt="2026-01-10T05:00:59.162" v="36" actId="207"/>
      <pc:docMkLst>
        <pc:docMk/>
      </pc:docMkLst>
      <pc:sldChg chg="modSp mod">
        <pc:chgData name="Jyoti Yadav" userId="8da2e7729ab2cedd" providerId="LiveId" clId="{741A7A88-242A-459A-A359-2627301AD1E9}" dt="2026-01-10T05:00:59.162" v="36" actId="207"/>
        <pc:sldMkLst>
          <pc:docMk/>
          <pc:sldMk cId="751646105" sldId="1011"/>
        </pc:sldMkLst>
        <pc:spChg chg="mod">
          <ac:chgData name="Jyoti Yadav" userId="8da2e7729ab2cedd" providerId="LiveId" clId="{741A7A88-242A-459A-A359-2627301AD1E9}" dt="2026-01-10T05:00:43.522" v="11" actId="20577"/>
          <ac:spMkLst>
            <pc:docMk/>
            <pc:sldMk cId="751646105" sldId="1011"/>
            <ac:spMk id="7" creationId="{707A6CE9-669B-DEE3-BF3E-8D5506EAE30B}"/>
          </ac:spMkLst>
        </pc:spChg>
        <pc:spChg chg="mod">
          <ac:chgData name="Jyoti Yadav" userId="8da2e7729ab2cedd" providerId="LiveId" clId="{741A7A88-242A-459A-A359-2627301AD1E9}" dt="2026-01-10T05:00:59.162" v="36" actId="207"/>
          <ac:spMkLst>
            <pc:docMk/>
            <pc:sldMk cId="751646105" sldId="1011"/>
            <ac:spMk id="9" creationId="{80A128E3-2186-5C09-4DCD-7BC6527248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0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469B-3BFE-93C5-AE72-99786D38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3972A-C9AE-706D-5FF8-34186171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CC122-1163-C6F8-A5FF-1B8B6CE30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4314A-DD6D-3BCF-9D67-CA1323FEA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56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F5CB-E17A-2BBB-FE61-153D27F5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0BC08-787D-E654-D2B1-4A9522560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2423E-AD1B-DD89-AB86-E1D4B8D2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B17D-FEE2-4D40-2537-ACFC2A23C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10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417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F896-DE86-835F-65A8-4C483656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E39AB-BF56-D24C-88AA-6ED4E5B5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B68E8-C400-B14E-15B9-E6A1C67A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5285-7299-7E1A-94BC-2CC1C4EDE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316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449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49BC-B087-3A4B-BC2C-B3F48F8B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BD07D-D0C6-D746-A28E-2235FBC2F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4E1A5-A25B-B55F-43B1-ED66DD557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3E3CF-39C4-C055-9A6A-99EE8C097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675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F953-F239-C017-2C6A-9286017B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A17FD-24A1-E43D-C625-6E37A2D6E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4ADF1-E3E6-58AE-C8F4-84DB975DA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B2A9-8915-FDD2-84EA-D64B40C3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304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F784-342D-929C-142F-AACFEE28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DFD3E-CE00-8D24-DE97-06E4324B9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A00A-8E69-ED2C-4E1E-12B30D203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A5E3-CCCA-E9DA-33AB-CB66B9782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573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AF63-0BBC-6508-FB2F-ABC5B23C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1E4F-8B90-AD75-BA34-0A0A72F5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E9A51-EB6B-5A0E-E7E1-0A658F69A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8D236-012E-58E7-29C7-12D3EC838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930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E227-7547-DF46-6B14-8E4C491B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8FB08-9922-1AAD-B917-578F7801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2D6A8-CEC3-1F32-98B6-3E9A9F2CF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BB6C-3B07-2AEF-06A3-A3F930669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505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BD9B-7231-C36D-FCBD-C1388189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A4798-F181-AA2A-3065-159ADDDC7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FB7AF-C6ED-E0CB-43D5-9132B0B33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E6D37-1D1F-B1ED-212D-F700DBB33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85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CDA7-56F7-92AB-8D5A-EA1FE4F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F905B-6E5A-1B25-E231-32CEC68E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B2BA-7BB9-D76D-54F3-64B89D173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D9FAC-C424-499D-EFC0-8B711B772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27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DBC0-204F-5E47-3B6F-49B46B79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20C1B-A4B4-1D36-61DF-C9855F41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8E092-83FA-EFD7-ED9E-0C02828B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6E67-39E8-A89C-E369-85438820A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622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688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508B-0450-4AE1-6E8F-A66DD840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2E99B-057E-1F5C-65EF-F78BFBBA6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E4DE8-07D7-4597-9484-4910F80DB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5049-1C21-BE14-B6CE-B630A351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103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E46B-02BE-A460-3B1D-0106CBD9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C2CCB-0170-CB9D-3A93-EDDB04DA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ED800-B7F0-6AB7-6492-9C4E0EEF6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1A66B-F33D-31E5-8F0F-4D4B3DB61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179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53F9-90D9-C57B-ED53-8FD30A03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0FAEF-B2D0-3D58-188E-0E330B594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C6ABC-598A-D9D4-8F83-C415BFFB4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51C6B-49A4-6A2F-1D90-3B1A09854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99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708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33444-94B8-75F7-3FE8-62FD23DD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A4ACC-0D1C-DCAF-7D67-0FF1020BA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0D750-E381-AA36-267A-8C986F48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5FE0-1596-1392-01B8-FBE5A98D3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142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879A-8D01-D548-4D0D-C1B33515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89CEA-622E-F422-6713-22D229BB7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9489-F6F1-E69B-9D30-A6A5C086E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1CA1-9A6D-CD54-7460-1AA130066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525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D5845-31DA-1704-AE76-035F4343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BE82E-AF9B-D0FB-DCDD-A48014C63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2EB0C-1259-57C6-7D80-465D19C8E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CFFF3-C35E-0151-5F8A-F6F5889AC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2325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D929-49E3-42FF-59E2-4EA50CFC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62618-C5E5-A0E2-9F2E-676432761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F7F3E-70B0-28DD-45FA-1876A0B50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0EEDB-8007-6684-EE32-3780AFF84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614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76EA-5557-2F27-9032-0B2D053D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21689-1BE9-3228-E793-B8EF7F2C6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308ED-7441-1813-5F2F-AE0D956E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F9A40-7AC6-8EBE-AF72-CDB80DC42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4591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642A-F47D-90B2-13FC-0C67990A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E409C-F168-1F28-374E-31A4D15ED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EE0DC-D98A-E3FB-7F8C-DFC60918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3E303-DBC9-88B4-8C43-342FFF559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729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FA19-9EEB-53A5-44A7-3546301D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084FB-5F6A-4BEF-5159-27AD356E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7C7A6-D438-6BD0-EDD7-B183ECDFC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8611-0A9F-E3BB-3A93-641894947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832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0BEB-6139-047F-2A00-E59C332F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8D7B3-ED3E-6F49-EF0E-81EA76DE5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645BB-5926-DC52-340E-59BAD3E0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50D7C-D128-9B98-F7FF-510463F9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0862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3C82-247C-4DB1-8FD6-AD24BF44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0662-040B-F507-5BD5-1D4A59E6D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92592-6936-3A16-C8B6-83A63E9C4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90E5-73F3-9BA4-F2B2-2BBC0DFA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7069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22D-A09F-B797-218D-1790369E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C7F1C-1E34-2E77-A3E2-15BB70AB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F9FCC-85EB-E99D-D2C4-748DDAB8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03BB3-8B69-28AA-A44D-20781B97A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299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71FF-6E5A-CDBD-3909-96EDD3E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4E8D9-8A8C-F24C-80B5-F0E862588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B5C15-014A-FEB6-5F9F-99645E781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74267-818A-168E-8E0E-BE95B28ED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9012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7F85-76E3-12A2-DB2B-2D68B2AB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DD74E-8086-D81C-BD5C-316280BA7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F983-E2BF-3CCB-D986-25B4480A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0262-D791-E9C2-E669-528A23DB2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7518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91A6-DCF8-25B0-DAEF-B4AFFCB5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C6CAA-E87F-470D-FF12-BC087D118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04DBF-2C0F-F4D8-7ACC-B409D025A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CEA8C-DF3F-CFAD-550D-DE079EDE8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8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1B2E-41F7-33DF-0666-A7D27FA8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6D59B-9917-B796-087B-999764E2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70739-279A-3FDD-84CF-A48E4914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0E040-5D67-C3C4-0139-7D5FC206D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904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956F-F486-0D08-7C56-8696722D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EFBD7-58BB-642B-7E42-6CDA6041B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F4ADE-DF03-4F5D-53A2-2C70CB28B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095F-A5E7-5FF5-35EF-2975A4B66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6069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B5E0-087F-9167-CFCF-CF204F32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2EFE1-15AD-A87D-306D-6174D6529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D2479-F76B-B077-26F1-159D5F9E0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55B9-0DA2-52D5-6A7C-DF3BFE8F0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7976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6873-EDB8-39C6-F8D0-9471DF2C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BD2E8-385E-8EA4-F659-4FCE0212F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20FD3-9993-AC18-0F7B-C895FFBE7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B58F0-D11F-94E7-9CB2-4A5ACEEA5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0604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866A-CFDC-6A2D-EEDC-731D024F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CBA8A-47F1-BFA1-8672-1780BA4D5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C5860-30C5-A02A-21F7-22B919E3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F552-8799-2A92-C95F-29443290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48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EA-4B0F-7F3B-DCF3-6BF35573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3F6DE-EE9A-540B-3F1E-243493C35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BE223-B4E7-4BEF-F01B-826EDE6C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F0BF-6FBD-29ED-28A1-4C4E6508D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8053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293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D1EE-B605-9941-36A9-5CCF19A9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F4C95-C557-C530-18E3-ECEF18D9F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360F8-6324-CA91-8BF8-3737519B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2DEB3-442F-6868-4E36-234B4946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971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5D92-27CA-4C68-B0B5-B14BED8F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D8E1E-45C4-B591-892B-44DFC7C83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7AF11-FDDC-FD69-6F57-C4A7397A5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4B803-71AC-6C0F-EA6C-92860FDF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4644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4580-DF5E-B9E6-E94F-09E156A1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151B1-9836-82E7-F528-430F24452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4AB12-8059-787E-57A6-B8A45E4BB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F82F-54FA-B667-08FB-E1C4A4F74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114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4DE-1621-B1EF-95F1-186FF866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63E96-509C-3651-0FD7-3C8352AC5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8395A-51FC-C118-2E64-6E95DCBB5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EB25-6B58-1B06-481A-615167277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8184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python-programming/lis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ocw.mit.edu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data_structures_algorithms/array_data_structure.htm" TargetMode="External"/><Relationship Id="rId5" Type="http://schemas.openxmlformats.org/officeDocument/2006/relationships/hyperlink" Target="https://www.geeksforgeeks.org/array-data-structure/" TargetMode="Externa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Basics of 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/>
                <a:cs typeface="Times New Roman"/>
                <a:sym typeface="Arial"/>
              </a:rPr>
              <a:t>ETCCBD201 </a:t>
            </a:r>
            <a:endParaRPr lang="en-IN" sz="2800" b="1" dirty="0">
              <a:solidFill>
                <a:srgbClr val="FF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Recapitulation: 1-D and 2-D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vs Dynamic Arrays (Comparison)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 of Static and Dynamic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Dynamic Arrays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7075" y="1322871"/>
            <a:ext cx="8496942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static and dynamic arrays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programs using static and dynamic arrays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when to use which type of array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</a:rPr>
              <a:t>1-D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4" y="1065209"/>
            <a:ext cx="858096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linear data structure that stores elements of the same data type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stored in contiguous memory locations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is accessed using an index (starts from 0)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Arrays are Used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 of multiple values under one name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using index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repetitive operations using loops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organization and readability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1-D Arrays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elements in a single row (linear form)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Declaration, initialization, and traversal using loops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operations: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elements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2</a:t>
            </a:r>
            <a:r>
              <a:rPr lang="en-IN" sz="2800" b="1" dirty="0">
                <a:solidFill>
                  <a:srgbClr val="E31E24"/>
                </a:solidFill>
              </a:rPr>
              <a:t>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Arrays (2-D Arrays)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an array of arrays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rows and columns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format: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array[row][column]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tables, matrices, grids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2-D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nested loops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loop → rows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loop → columns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row-wise in memory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indexing avoids logical and runtime errors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15316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is an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 non-linear data structure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collection of elements of different types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collection of elements of the same type stored contiguously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 dynamic data structure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is the index of the first element in an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-1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F21E-4ACB-438A-153A-0AA29CCE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0920DE-4C79-FECB-3A83-20CC14FD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F79621-9E6C-1655-9103-5DB153145B1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40BAEB7-C3B3-05E7-C69C-FBCBC2E544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E6971-AEA6-B022-C197-8E650B68A11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9213C-B987-4305-AD33-421006CF6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1485E-0EFA-D759-9262-1DEC6EB77166}"/>
              </a:ext>
            </a:extLst>
          </p:cNvPr>
          <p:cNvSpPr txBox="1"/>
          <p:nvPr/>
        </p:nvSpPr>
        <p:spPr>
          <a:xfrm>
            <a:off x="323530" y="1235756"/>
            <a:ext cx="83632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Which of the following is true about arrays?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Arrays store elements of different data types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Arrays grow automatically in size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Arrays store elements in contiguous memory locations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Arrays do not support indexing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How many indices are required to access an element in a 2-D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One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Two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Three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data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1F4F22-1807-E787-044F-502F64B4ECE2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7E75786-0A59-BE56-F25D-A03F7B66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251F44-5174-421C-E09C-58672FAC252C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33FCE6-8E3A-87EA-4E73-CF4318A7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3E46-6A8E-EDAB-F371-EC3D965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8A07C3-E77A-81BE-9576-7762070D7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F4B5-4B11-43A5-C884-6F768AF4133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35841F-E9FD-CA0D-952D-6A03DDB748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EA9DA-2815-0177-A7F4-76474129712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3D3D02-5C11-8477-3330-D3B14BAA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6A4B7-676E-9595-7765-FC75771F6306}"/>
              </a:ext>
            </a:extLst>
          </p:cNvPr>
          <p:cNvSpPr txBox="1"/>
          <p:nvPr/>
        </p:nvSpPr>
        <p:spPr>
          <a:xfrm>
            <a:off x="323530" y="1235756"/>
            <a:ext cx="851568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Which loop structure is commonly used to traverse a 2-D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Single loop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While loop only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Nested loops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Recursion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 What will happen if an invalid index is used while accessing an array element?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Correct value is returned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Compiler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Runtime error or unexpected behavior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Program terminates automatically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75E6EC-800F-9D70-11EF-E8ACDA7BEF5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6E8D0F9-7648-C0EB-E8D4-0E59F7C5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0721D1-CBCC-F1B4-414C-F9710B38686B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48CAEF-BD95-3C68-3877-AB5E5B34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99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378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(Answers)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 collection of elements of the same type stored contiguously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0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Arrays store elements in contiguous memory locations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Two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Nested loops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Runtime error or unexpected behavior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What is 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8384C-A5AE-475C-73B4-6FB7016AD858}"/>
              </a:ext>
            </a:extLst>
          </p:cNvPr>
          <p:cNvSpPr txBox="1"/>
          <p:nvPr/>
        </p:nvSpPr>
        <p:spPr>
          <a:xfrm>
            <a:off x="373224" y="1132112"/>
            <a:ext cx="859126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elements of the same data type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starts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</p:txBody>
      </p:sp>
    </p:spTree>
    <p:extLst>
      <p:ext uri="{BB962C8B-B14F-4D97-AF65-F5344CB8AC3E}">
        <p14:creationId xmlns:p14="http://schemas.microsoft.com/office/powerpoint/2010/main" val="74001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802C-D8DA-44A1-0722-8EE9752C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578A1-725A-B284-DBBB-C8B5C837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79961-3659-0BE8-4E95-EAF29AF93F5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172FDC-A976-CC81-47C9-AF26CB4731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8F91E-BBD5-7D7F-924D-BC05C9A7F9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45C86-2351-7691-9DB0-CE47DBA8F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Classification of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23D5D-824E-93CD-FF12-5DE7B202A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E6D2F1D-6C5A-3C38-1205-232B51D1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FA38BC-3AFA-8CD0-7212-3E89AFC2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481534-0452-4934-25E3-1987BC2098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52" t="10430" r="5043" b="14652"/>
          <a:stretch>
            <a:fillRect/>
          </a:stretch>
        </p:blipFill>
        <p:spPr>
          <a:xfrm>
            <a:off x="1137929" y="2790797"/>
            <a:ext cx="7344817" cy="34271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98DB34-22C7-987D-A5C9-E0873FBD9E11}"/>
              </a:ext>
            </a:extLst>
          </p:cNvPr>
          <p:cNvSpPr txBox="1"/>
          <p:nvPr/>
        </p:nvSpPr>
        <p:spPr>
          <a:xfrm>
            <a:off x="373224" y="5832251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Fig.1:  Types of  Arrays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37BD3-F808-7B6F-0C96-260FB298FD93}"/>
              </a:ext>
            </a:extLst>
          </p:cNvPr>
          <p:cNvSpPr txBox="1"/>
          <p:nvPr/>
        </p:nvSpPr>
        <p:spPr>
          <a:xfrm>
            <a:off x="373224" y="1132112"/>
            <a:ext cx="4645890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can be classified based on: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declaration (Dimensions)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time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37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Fixed seating in a classroom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must be known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execution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cannot be changed later during program execution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in square brackets [ ].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0" algn="ctr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[5] = {1, 2, 3, 4, 5};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70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5D72-3576-0721-1E65-9C69041E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E31C0A-246D-7705-E077-AE49FE26B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FBA3B3-10DE-76CE-6792-8362F6BC87B3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AE6E077-2646-9FBF-0C4C-3B51764844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66219-863D-2271-2270-2B7840D2830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F67FC5-AA33-5F59-8807-56A980095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45803D9-CAD0-FB2D-F2E8-2D3A69F73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8320983-A5EC-1323-15B2-B0D53904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F2878-B024-2B7B-3B76-F41EF535C249}"/>
              </a:ext>
            </a:extLst>
          </p:cNvPr>
          <p:cNvSpPr txBox="1"/>
          <p:nvPr/>
        </p:nvSpPr>
        <p:spPr>
          <a:xfrm>
            <a:off x="187091" y="1480231"/>
            <a:ext cx="511373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a[3] = {10, 20, 30};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a[1]);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4975E-9A80-43A2-4F9C-E9652A0C3A0C}"/>
              </a:ext>
            </a:extLst>
          </p:cNvPr>
          <p:cNvSpPr txBox="1"/>
          <p:nvPr/>
        </p:nvSpPr>
        <p:spPr>
          <a:xfrm>
            <a:off x="3851920" y="1264704"/>
            <a:ext cx="4968552" cy="50285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Declaration and Initialization: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a is declared with a size of 3, which means it can store three integers. It is initialized with the values {10, 20, 30}.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an Element: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elements are accessed using index values starting from 0. The statement a[1] accesses the element at index 1, which is the second element of the array.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prints the value stored at index 1 of the array, so the output displayed is 20.</a:t>
            </a:r>
          </a:p>
        </p:txBody>
      </p:sp>
    </p:spTree>
    <p:extLst>
      <p:ext uri="{BB962C8B-B14F-4D97-AF65-F5344CB8AC3E}">
        <p14:creationId xmlns:p14="http://schemas.microsoft.com/office/powerpoint/2010/main" val="225950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8B1D-38F3-33D7-899E-A3D77893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5F2B57-8C76-7494-3A3D-6D15306E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9C9DF-4BAC-D037-9DEA-C2EE4E1F9203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D997AE2-B298-12CF-DEF9-0F6F92F54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E46EB-1714-B636-4871-8677FAE7CC2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58BAF-6B20-DC0F-214C-AB0ACBFD4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Syntax and Initialization (Python)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F5D160F-BEF6-5495-54F8-001304BA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08904F-AFBB-46A8-9C96-B796422E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25A98-BD96-7EF6-A87A-6607778DF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149989"/>
              </p:ext>
            </p:extLst>
          </p:nvPr>
        </p:nvGraphicFramePr>
        <p:xfrm>
          <a:off x="0" y="1293834"/>
          <a:ext cx="9180512" cy="468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08">
                  <a:extLst>
                    <a:ext uri="{9D8B030D-6E8A-4147-A177-3AD203B41FA5}">
                      <a16:colId xmlns:a16="http://schemas.microsoft.com/office/drawing/2014/main" val="628795679"/>
                    </a:ext>
                  </a:extLst>
                </a:gridCol>
                <a:gridCol w="2360636">
                  <a:extLst>
                    <a:ext uri="{9D8B030D-6E8A-4147-A177-3AD203B41FA5}">
                      <a16:colId xmlns:a16="http://schemas.microsoft.com/office/drawing/2014/main" val="450335016"/>
                    </a:ext>
                  </a:extLst>
                </a:gridCol>
                <a:gridCol w="3172105">
                  <a:extLst>
                    <a:ext uri="{9D8B030D-6E8A-4147-A177-3AD203B41FA5}">
                      <a16:colId xmlns:a16="http://schemas.microsoft.com/office/drawing/2014/main" val="674293293"/>
                    </a:ext>
                  </a:extLst>
                </a:gridCol>
                <a:gridCol w="2262863">
                  <a:extLst>
                    <a:ext uri="{9D8B030D-6E8A-4147-A177-3AD203B41FA5}">
                      <a16:colId xmlns:a16="http://schemas.microsoft.com/office/drawing/2014/main" val="3427847108"/>
                    </a:ext>
                  </a:extLst>
                </a:gridCol>
              </a:tblGrid>
              <a:tr h="358541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26908"/>
                  </a:ext>
                </a:extLst>
              </a:tr>
              <a:tr h="1105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[0] *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[0, 0, 0, 0, 0])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typing import Final</a:t>
                      </a:r>
                    </a:p>
                    <a:p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Final = [1, 2, 3, 4, 5]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238632"/>
                  </a:ext>
                </a:extLst>
              </a:tr>
              <a:tr h="713959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[10, 20, 30, 40, 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[1, 2, 3, 4, 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18822"/>
                  </a:ext>
                </a:extLst>
              </a:tr>
              <a:tr h="2497086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decided at creation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Index-based access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</a:t>
                      </a:r>
                      <a:r>
                        <a:rPr lang="en-US" sz="165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 as fixed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logic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allows resizing, but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do not resize it → behaves like static array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5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integer type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elements must be of the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type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marR="0" lvl="0" indent="-176213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array should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be reassigned</a:t>
                      </a:r>
                    </a:p>
                    <a:p>
                      <a:pPr marL="176213" marR="0" lvl="0" indent="-176213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mainly for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explanation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59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9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8404-6B36-75E4-97D6-4DD3C085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8A06C1-5C9E-CAB3-1582-777EBC21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45DE9B-FE4F-FD5C-36A4-D858A6967C26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8FE6A37-C54F-53F9-89EE-9D98779E25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9A81E-3F9F-09C6-7A8A-EC08B710EBE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C012E4-3DAE-943F-0360-DE72AB9C7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Syntax and Initialization (Python)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99C0836-E6F4-173C-C5F4-7CD7A23CF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EC445B-864B-DC14-D0DF-C1B59C43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35F809-ED5B-6FAB-1EE4-4E9819FA7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694221"/>
              </p:ext>
            </p:extLst>
          </p:nvPr>
        </p:nvGraphicFramePr>
        <p:xfrm>
          <a:off x="782452" y="1573352"/>
          <a:ext cx="7533964" cy="1928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348">
                  <a:extLst>
                    <a:ext uri="{9D8B030D-6E8A-4147-A177-3AD203B41FA5}">
                      <a16:colId xmlns:a16="http://schemas.microsoft.com/office/drawing/2014/main" val="628795679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45033501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74293293"/>
                    </a:ext>
                  </a:extLst>
                </a:gridCol>
              </a:tblGrid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Static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List (Static-like)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526908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 as 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238632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18822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Homogeneous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Heterogeneous (list)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591888"/>
                  </a:ext>
                </a:extLst>
              </a:tr>
              <a:tr h="46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4135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D81B76-4347-F6C0-B3F9-20DC40B7A93C}"/>
              </a:ext>
            </a:extLst>
          </p:cNvPr>
          <p:cNvSpPr txBox="1"/>
          <p:nvPr/>
        </p:nvSpPr>
        <p:spPr>
          <a:xfrm>
            <a:off x="123825" y="3780990"/>
            <a:ext cx="8840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does not have true static arrays, so we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static array using a fixed-size list and do not resize it or array module can be used to simulate static array behavior. 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6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6C6A-B9E1-4C4C-C906-3EAE804F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E716DE-929E-44FA-143C-8E29064EF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119C58-B986-7970-2E52-D7207ABFBA88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25BD57-EDDA-0D6A-4358-2D2F26F7B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F3BDA-E4A8-5E5D-0ED0-3DD644DE596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9364A-FE39-E2C3-A689-0B7F7B8F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Program (Static Array Simulation in 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12AEF8C-3BFC-EE8A-D7FA-83A0A3DB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9EA11-83B5-1B84-0765-068977E7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DF248-E800-81FB-C643-50A7E9A089F8}"/>
              </a:ext>
            </a:extLst>
          </p:cNvPr>
          <p:cNvSpPr txBox="1"/>
          <p:nvPr/>
        </p:nvSpPr>
        <p:spPr>
          <a:xfrm>
            <a:off x="187091" y="1128427"/>
            <a:ext cx="51137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pPr>
              <a:spcBef>
                <a:spcPts val="6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size fixed at creation</a:t>
            </a:r>
          </a:p>
          <a:p>
            <a:pPr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print("Static Array Elements:")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6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2116C-C90B-4003-40E2-2FECA85271DF}"/>
              </a:ext>
            </a:extLst>
          </p:cNvPr>
          <p:cNvSpPr txBox="1"/>
          <p:nvPr/>
        </p:nvSpPr>
        <p:spPr>
          <a:xfrm>
            <a:off x="4932040" y="1166842"/>
            <a:ext cx="3992073" cy="54014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Declaration and Initialization: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 with five elements [10, 20, 30, 40, 50]. Although Python lists are dynamic by nature, here the list size is treated as fixed, so it simulates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 Using a Loop: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runs from index 0 to 4 using range(5). In each iteration, the element at 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array is accessed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of the array is printed one by one in order, resulting in the display of all values stored in the static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178B1-F740-57F6-F5C0-B66E50E286FF}"/>
              </a:ext>
            </a:extLst>
          </p:cNvPr>
          <p:cNvSpPr txBox="1"/>
          <p:nvPr/>
        </p:nvSpPr>
        <p:spPr>
          <a:xfrm>
            <a:off x="179512" y="4982215"/>
            <a:ext cx="79049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decided at creation</a:t>
            </a: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append or resize operation used</a:t>
            </a: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Behaves like a static array conceptually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7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7ABE-F239-DDE8-8DEA-04B1CEAF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E1FB9-687F-E701-F755-883B76047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E8AEC-288A-8E39-0445-D392C102CA8C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80A830-5DA6-331F-1A46-24096F6FC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E6F3BC-1C36-2F18-7D59-7596AADACFD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38533-B1A1-3CEB-A9B1-0C4478BD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Memory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CEF1D-8F62-472A-99EA-B8D94EC21F7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A61FB-FF8D-EC40-1C18-6A1232754DC5}"/>
              </a:ext>
            </a:extLst>
          </p:cNvPr>
          <p:cNvSpPr/>
          <p:nvPr/>
        </p:nvSpPr>
        <p:spPr>
          <a:xfrm>
            <a:off x="107504" y="1107776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 stored in stack memory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array size is exceeded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or overflow risk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A51D4F-52BC-DB43-5A46-462782207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353341-BD03-98B0-F4FD-B6AB5E87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019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D963-2B3A-F5E4-13E4-AD8CCF97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25B94E-3021-AEA6-5FC9-3EE12A1A4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F3EE63-16B7-9707-67E3-E98AD149FE7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3395903-4861-3A80-4D1D-EA9BF503A2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8B7B8-0426-E809-A97E-8A85D7E7CAA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36B05-0C9B-C354-D206-AB5AA7A15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0758F-FD47-5401-5D13-08BB17ECA622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63E47-FF83-E1E4-2A12-CC8F6B8702C9}"/>
              </a:ext>
            </a:extLst>
          </p:cNvPr>
          <p:cNvSpPr/>
          <p:nvPr/>
        </p:nvSpPr>
        <p:spPr>
          <a:xfrm>
            <a:off x="107504" y="1107776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to declare and use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access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possible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when size is unknown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buFont typeface="Wingdings" panose="05000000000000000000" pitchFamily="2" charset="2"/>
              <a:buChar char="v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4CCF547-F0BA-C042-9670-4B7A9533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E9F4F2-5554-96E1-6EC7-A9DEBBD1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46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4CCD-BDE0-5E39-7AC7-3D79A4B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9D3BF1-43C2-8A56-022A-CEB84680C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FD1B16-5DD7-A786-6FB4-785C6E0B76E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DFB446-0564-AEF2-ECA0-006A2486E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537AC-8802-D262-FB31-816D673D01E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72D21-707C-CF73-1163-FA547D7B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6EEE6-EAB6-B2D2-4766-D7C1CDEAD32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D2936-0BF1-5955-3E01-5ED00FCD4E5D}"/>
              </a:ext>
            </a:extLst>
          </p:cNvPr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Can the size of a static array be changed at runtime?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if the array size is exceeded?</a:t>
            </a:r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897C323-A4DF-B323-1A72-A9C04C7A3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47A85B-32E3-0341-54E0-85BE35BB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098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1405-29D7-54C8-5B51-6674F93C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2B8F7B-FCD1-2F4A-AE15-C9D32147F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179FCE-7E5E-DD26-C08E-ECF009DA985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F43521-0FE2-CF01-F18F-72010245E1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B459F-8F2F-E344-4009-30B9E9DE66A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4FDCA-9982-782A-190D-4F3F73162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790A5-7AD1-82DC-BF4A-B72DA4ECDD4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6A17-6AA2-5AB1-D26E-593418AB9EA5}"/>
              </a:ext>
            </a:extLst>
          </p:cNvPr>
          <p:cNvSpPr/>
          <p:nvPr/>
        </p:nvSpPr>
        <p:spPr>
          <a:xfrm>
            <a:off x="107504" y="1107776"/>
            <a:ext cx="8784976" cy="279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❓Can the size of a static array be changed at runtime?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size of a static array cannot be changed during runtime.</a:t>
            </a:r>
          </a:p>
          <a:p>
            <a:pPr marL="542925" lvl="0" indent="-54292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❓What happens if the array size is exceeded?</a:t>
            </a:r>
          </a:p>
          <a:p>
            <a:pPr marL="442913" lvl="0" indent="-4429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may cause memory overflow or runtime errors, leading to unexpected behavior.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33EFD8-4ADD-0B2D-B06D-8199A37C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0092C8-2D76-8FB0-D950-9DD7406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73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Expanding waiting list for admissions</a:t>
            </a:r>
          </a:p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not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size during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  <a:endParaRPr lang="en-US" sz="2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 be modified using memory management functions.</a:t>
            </a: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 </a:t>
            </a:r>
          </a:p>
          <a:p>
            <a:pPr algn="just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int[5];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rcRect l="5803" t="11815" r="5535" b="12838"/>
          <a:stretch>
            <a:fillRect/>
          </a:stretch>
        </p:blipFill>
        <p:spPr>
          <a:xfrm>
            <a:off x="4415453" y="1758327"/>
            <a:ext cx="4611915" cy="3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2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B19B-E55C-7BCB-436D-C37784CE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AAE13E-4AFD-3A20-3155-293775EAB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996644-9AE9-A187-6EF0-E0543BCB18A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4F88CD-0820-CA51-C17A-E57D50DD6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0DCB1-50FE-32D7-DC34-E0AA92DF3E7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ACE1C8-F8A5-7CBC-64FD-4E76C6B2A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F61C1-D2E6-E15C-DB87-CFF9432EDAE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727BE-275E-67B8-7869-F9DFC493E010}"/>
              </a:ext>
            </a:extLst>
          </p:cNvPr>
          <p:cNvSpPr/>
          <p:nvPr/>
        </p:nvSpPr>
        <p:spPr>
          <a:xfrm>
            <a:off x="107504" y="1107776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size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utilization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than static arrays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leaks if not freed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to manage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buFont typeface="Wingdings" panose="05000000000000000000" pitchFamily="2" charset="2"/>
              <a:buChar char="v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0264E8B-10F9-0AF1-DB86-6FB96A7D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54D9EC-CBB2-AC38-269A-D64CFE99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470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666D-0375-4AA0-7CA2-92C879CB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54ACD2-DA4B-B8D6-FC36-3017651E3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668EB5-66AE-E148-F843-4367D3A11E7F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8654674-8491-B076-67BF-6B7241FCF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1B04F-CAAE-EF24-339B-0CFA844D3B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3920FE-C9CF-0699-BBA8-C661C464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Syntax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FC82F75-3C5F-61AE-533C-DF0CEF07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6E8E02-18DC-100E-E74F-6473D896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5AB91-5F2F-37E9-7389-E0027AEF8770}"/>
              </a:ext>
            </a:extLst>
          </p:cNvPr>
          <p:cNvSpPr txBox="1"/>
          <p:nvPr/>
        </p:nvSpPr>
        <p:spPr>
          <a:xfrm>
            <a:off x="187091" y="1480231"/>
            <a:ext cx="5113731" cy="268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malloc() in C: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60363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new in C++: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int[n];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F04D3-AB83-11F5-FB2E-72838868F7AA}"/>
              </a:ext>
            </a:extLst>
          </p:cNvPr>
          <p:cNvSpPr txBox="1"/>
          <p:nvPr/>
        </p:nvSpPr>
        <p:spPr>
          <a:xfrm>
            <a:off x="4716016" y="1263485"/>
            <a:ext cx="4248472" cy="53553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C and C++, the pointer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refer to a dynamically allocated array, allowing the array size to be decided at runtime.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Using malloc() in C: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malloc() function allocates a contiguous block of memory sufficient to store n integers. The returned address is typecast to int* and stored in arr.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Using new in C++: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operator allocates memory for an array of n integers at runtime and returns the starting address, which is directly stored in the pointer arr.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using malloc() must be released using free(), while memory allocated using new must be released using delete[] to avoid memory leaks.</a:t>
            </a:r>
          </a:p>
        </p:txBody>
      </p:sp>
    </p:spTree>
    <p:extLst>
      <p:ext uri="{BB962C8B-B14F-4D97-AF65-F5344CB8AC3E}">
        <p14:creationId xmlns:p14="http://schemas.microsoft.com/office/powerpoint/2010/main" val="1626852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F60B-2809-9BEF-96CB-52136633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AD21E8-E8D1-CCC5-710F-726FC6018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E094F-36CC-6E13-43D8-723C99C88452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1306C1-E3CE-EFD8-CA7C-E67C334544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F8496-E121-7484-30FD-3BADE810D51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C1087-1C2C-1E87-8576-902864F04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3FC752C-FD6A-1345-C2C9-C95346C41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E8B88D-F457-7A30-B19C-B1B4A22D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38E94-3C89-1149-5756-004021CC38DC}"/>
              </a:ext>
            </a:extLst>
          </p:cNvPr>
          <p:cNvSpPr txBox="1"/>
          <p:nvPr/>
        </p:nvSpPr>
        <p:spPr>
          <a:xfrm>
            <a:off x="187091" y="1480231"/>
            <a:ext cx="511373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 = 5;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31F5A-9388-EEFF-4950-326BD58E042C}"/>
              </a:ext>
            </a:extLst>
          </p:cNvPr>
          <p:cNvSpPr txBox="1"/>
          <p:nvPr/>
        </p:nvSpPr>
        <p:spPr>
          <a:xfrm>
            <a:off x="4630976" y="1084815"/>
            <a:ext cx="4392488" cy="5616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n is set to 5, representing the number of elements. Memory for the array is dynamically allocated at runtime using malloc, which allocates space for 5 integers and returns a pointer stored in arr.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Using Loop: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iterates from index 0 to n−1.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assigned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initializing the dynamically allocated array elements.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Deallocation: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array is used, the free(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statement releases the dynamically allocated memory back to the system, preventing memory leaks.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Termination: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 0; statement indicates successful termination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346231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of Static and Dynamic Arrays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66" y="1381972"/>
            <a:ext cx="8222134" cy="37381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544" y="551723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 Example of Static and Dynamic Arrays </a:t>
            </a:r>
          </a:p>
        </p:txBody>
      </p:sp>
    </p:spTree>
    <p:extLst>
      <p:ext uri="{BB962C8B-B14F-4D97-AF65-F5344CB8AC3E}">
        <p14:creationId xmlns:p14="http://schemas.microsoft.com/office/powerpoint/2010/main" val="1610540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EDC3-E062-3CF2-8D7C-F073B8F0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957D0F-DE68-0CFD-8F5D-57BA1EE5F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AB3242-02A6-CC6D-B0B1-6848BC7EF96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E35F66-E9D1-EA8F-2AEC-57720B4221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30600-2C66-44BE-CCF9-ABBA7B231D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610D7-B9B3-6F31-7015-A8AA21F3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Using Python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D2689-9084-435D-3796-3F83C9E10D5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1AFE7-B05C-25E1-01AE-C0371EEA8689}"/>
              </a:ext>
            </a:extLst>
          </p:cNvPr>
          <p:cNvSpPr/>
          <p:nvPr/>
        </p:nvSpPr>
        <p:spPr>
          <a:xfrm>
            <a:off x="107504" y="1107776"/>
            <a:ext cx="878497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 (Dynamic Growth)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[2])   # Output: 30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9018EC3-3F04-F6A8-2F5D-EFFE1D8FF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5C624C-9F6B-EB37-9B2C-76E1B31A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674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9230-1D79-3992-1435-9639D6A5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C7D385-7A9F-751C-442E-9DB980EF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8B54FA-3052-2BAA-B408-B0D5AF0F4332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6B8FE9-9414-D2DC-9A98-75DDE6161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29C67-8C86-F2DE-B6C1-19B769EF51E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422C72-44CA-10EF-F32E-2DF3DA29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C4DAD4E-917C-AC99-CA8A-693CC5FC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29D065-E904-0031-65C7-C5266549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8320B-A9D8-2A52-A0BE-F3131720B664}"/>
              </a:ext>
            </a:extLst>
          </p:cNvPr>
          <p:cNvSpPr txBox="1"/>
          <p:nvPr/>
        </p:nvSpPr>
        <p:spPr>
          <a:xfrm>
            <a:off x="219773" y="1046341"/>
            <a:ext cx="7664595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10, 20, 30, 40]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automatically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needed.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dynamic arrays by default.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D9B17-43BC-B840-810E-7DFD4DE46110}"/>
              </a:ext>
            </a:extLst>
          </p:cNvPr>
          <p:cNvSpPr txBox="1"/>
          <p:nvPr/>
        </p:nvSpPr>
        <p:spPr>
          <a:xfrm>
            <a:off x="3291729" y="1293834"/>
            <a:ext cx="5632498" cy="40626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empty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created. In Python, lists behave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their size can grow at runtime.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 Dynamically: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runs from 0 to 4.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added to the list using the append() method, which automatically increases the size of the array.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loop completes, the 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statement displays all the elements stored in the dynamic array, resulting in the output [0, 10, 20, 30, 40].</a:t>
            </a:r>
          </a:p>
        </p:txBody>
      </p:sp>
    </p:spTree>
    <p:extLst>
      <p:ext uri="{BB962C8B-B14F-4D97-AF65-F5344CB8AC3E}">
        <p14:creationId xmlns:p14="http://schemas.microsoft.com/office/powerpoint/2010/main" val="3064650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8D3F-960D-111B-0AB7-5EB510EF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76405-2BED-285B-704B-904206C14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35B08F-75A8-2732-D18A-0E4B5EF5D53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1CE932-EFBB-460E-5250-4D7AAD1C20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B8E353-0C1C-F93C-433F-E8344B4D8B7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25304-A1CB-339D-19DF-9F41A51C5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Internal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CB6F2-3B12-A444-1D5E-62641925FAB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C3581-9DF5-3C86-70D2-D533EBAFDF63}"/>
              </a:ext>
            </a:extLst>
          </p:cNvPr>
          <p:cNvSpPr/>
          <p:nvPr/>
        </p:nvSpPr>
        <p:spPr>
          <a:xfrm>
            <a:off x="107504" y="1107776"/>
            <a:ext cx="8784976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 uses a dynamic resizing 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capacity is full: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memory block is allocated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elements are copied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is updated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append operation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A968C64-B0B8-6705-B171-F8D3FCBEC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76506D-4B02-051A-2050-B7559FAA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48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74D8-326D-E70D-DCDE-07279D71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93CB93-D781-376B-54F4-470C0A909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F8CE58-5260-8E07-3C52-F3AAC9969A1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FC5E608-5517-41BC-B331-96A647D279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A105C-FA8B-6DCE-CB5B-86973512F32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580F39-2591-DF83-C970-43EEE3094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Using array Module (Less Common)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6A49C-BE8E-2ECE-9898-B43B9705FDA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07C9F-D8AB-F535-4695-CE6140CE9850}"/>
              </a:ext>
            </a:extLst>
          </p:cNvPr>
          <p:cNvSpPr/>
          <p:nvPr/>
        </p:nvSpPr>
        <p:spPr>
          <a:xfrm>
            <a:off x="107504" y="1107776"/>
            <a:ext cx="8784976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360363">
              <a:lnSpc>
                <a:spcPct val="150000"/>
              </a:lnSpc>
              <a:tabLst>
                <a:tab pos="268288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array</a:t>
            </a:r>
          </a:p>
          <a:p>
            <a:pPr marL="360363">
              <a:lnSpc>
                <a:spcPct val="150000"/>
              </a:lnSpc>
              <a:tabLst>
                <a:tab pos="268288" algn="l"/>
              </a:tabLst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array.array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</a:t>
            </a:r>
          </a:p>
          <a:p>
            <a:pPr marL="268288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</a:p>
          <a:p>
            <a:pPr marL="268288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data only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DDFB03C-F50E-24EE-06A8-7969EAAE4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0AA726-8D4A-3907-FF56-C21443C4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06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2AF0-B522-1483-366B-3995C41A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DDCE50-2F81-4234-CB96-61F95FF2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27A28-AA7E-0370-1647-A57D3D4D7E7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0895034-4EB9-CE39-A8EA-01EF3F6FF2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6BC81-35A0-A7D6-B2EA-2FF0F07B2FF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B2973-A2F8-660E-138E-8A164C6A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Comparison: Static vs Dynamic Array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CA04C-5BE6-188A-E1E2-07E490176E3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EDA9153-5751-6506-C3A8-5881403D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89E890-39E9-170F-9F49-731C620A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B8BF4B-398F-5CDC-2C40-7E1D36283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4305"/>
              </p:ext>
            </p:extLst>
          </p:nvPr>
        </p:nvGraphicFramePr>
        <p:xfrm>
          <a:off x="590870" y="1324923"/>
          <a:ext cx="8229600" cy="40233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093308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34908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00903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Static-like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36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logically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at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732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/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7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157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38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789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Perspective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8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07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(by logic)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42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append()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0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457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C1C127-F8F1-6E1B-77FF-9782DE7ABE0D}"/>
              </a:ext>
            </a:extLst>
          </p:cNvPr>
          <p:cNvSpPr txBox="1"/>
          <p:nvPr/>
        </p:nvSpPr>
        <p:spPr>
          <a:xfrm>
            <a:off x="590870" y="537937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dynamic array is implemented using lists, which automatically resize themselves when elements are added or removed during program execution.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52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89E5-3D77-6604-D05B-6C35CAF5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77BD05-38E4-302B-95C6-585D16CD7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26BD9C-AE19-427F-2BB7-220E8005D79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7DEB971-1846-1339-7D62-1087768699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E9C4BC-8908-1FEF-9230-F63CB765C1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9CD631-7B5D-8DD8-7638-97CA5CA61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dirty="0">
                <a:solidFill>
                  <a:srgbClr val="FF0000"/>
                </a:solidFill>
              </a:rPr>
              <a:t>Static and Dynamic Array Memory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86803-2133-6321-7838-258FDC5DD0A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20739-52C6-51E1-8D98-1D4114761DD7}"/>
              </a:ext>
            </a:extLst>
          </p:cNvPr>
          <p:cNvSpPr/>
          <p:nvPr/>
        </p:nvSpPr>
        <p:spPr>
          <a:xfrm>
            <a:off x="107504" y="1107776"/>
            <a:ext cx="8784976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 Memory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contiguous block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fixed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memory mapping: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[20] [30] [40] [50]</a:t>
            </a:r>
          </a:p>
          <a:p>
            <a:pPr>
              <a:spcBef>
                <a:spcPts val="600"/>
              </a:spcBef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Memory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small capacity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full → new larger block created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elements copied to new block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updated: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resize: [10] [20] [30]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resize : [10] [20] [30] [40] [50]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resizing strategy gives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B4CACA0-8936-ED91-2387-A160DE16C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A22479-68F3-4CE6-C11F-78FB264F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04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12A7-60AA-7D3A-053C-D60BF834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332245-6AAF-95C9-A537-053D2E048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9CB71D-1E6E-4493-3DCD-EF5CB7F00FA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C0F85CF-025A-2D5A-341C-FAE2311C30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5AD0CC-E81A-52EF-6E47-09291325765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91B279-6EBA-5712-789C-56891B80F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97B32-9084-D2BB-16C7-869AB09F3B2D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4A300-9F60-AF3B-BAAD-A1A395A2F3C7}"/>
              </a:ext>
            </a:extLst>
          </p:cNvPr>
          <p:cNvSpPr/>
          <p:nvPr/>
        </p:nvSpPr>
        <p:spPr>
          <a:xfrm>
            <a:off x="107504" y="1107776"/>
            <a:ext cx="8784976" cy="1694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❓Which Python data structure behaves as a dynamic array?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internally when a list grows beyond capacity?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When to Use Dynamic Arrays?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5C6C876-7F7E-DC2A-51FA-DAB85FE0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B08090-BA09-4AD7-A6F2-A14B1E58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495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1DBA-CDE2-F985-78D8-47612763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DFCF0C-CAB3-FC4C-C3A4-C2DC84C44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183F2-156F-ECF9-8593-68FAC0A7231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D0371E-114E-FEBD-861A-B641761C48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21F07-F212-882B-393B-7ABC52411B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0DA62-9E46-711E-2BBD-83FD992B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38043-4E19-6314-1ECA-3C910456C63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357E7-8AB9-8EA4-4D21-42D51C457500}"/>
              </a:ext>
            </a:extLst>
          </p:cNvPr>
          <p:cNvSpPr/>
          <p:nvPr/>
        </p:nvSpPr>
        <p:spPr>
          <a:xfrm>
            <a:off x="107504" y="1107776"/>
            <a:ext cx="8784976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Python data structure behaves as a dynamic array?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Python list behaves as a dynamic array.</a:t>
            </a:r>
          </a:p>
          <a:p>
            <a:pPr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2913" indent="-442913"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❓What happens internally when a list grows beyond capacity?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allocates a larger memory block, copies existing elements to it, and updates the list reference, enabling amortized O(1) growth.</a:t>
            </a:r>
          </a:p>
          <a:p>
            <a:pPr marL="442913" indent="-442913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2913" indent="-442913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Dynamic Arrays?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input size is unknown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frequent insertions are required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memory flexibility is needed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3715332-278C-9219-7179-E2A632E25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ABCCA7-B705-C888-5E9C-E13FDE97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80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675F-F380-5171-C497-3318838D8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86BACE-6284-A13C-83B5-895286332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371535-6B09-F892-179C-423FCD78D6C1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75720EE-7903-9189-3629-AC9F62FDE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51ACE-5E61-B210-94A8-925618240B6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AD9FE-F51E-554B-D222-47D142B45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(Resizable) in Python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29BFDEA-AB30-D966-9424-4E8DB792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5B9FCF-86C2-80D0-B95B-9B5EB03F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FC78B-2C5D-3CE3-F2FA-FE308FE039FC}"/>
              </a:ext>
            </a:extLst>
          </p:cNvPr>
          <p:cNvSpPr txBox="1"/>
          <p:nvPr/>
        </p:nvSpPr>
        <p:spPr>
          <a:xfrm>
            <a:off x="147311" y="1043464"/>
            <a:ext cx="511373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in Python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   # empty list (dynamic array)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print("Dynamic Array Elements:")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changes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grows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 triggers resizing if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by default.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33AEB-C020-D952-1026-797EBD438F5E}"/>
              </a:ext>
            </a:extLst>
          </p:cNvPr>
          <p:cNvSpPr txBox="1"/>
          <p:nvPr/>
        </p:nvSpPr>
        <p:spPr>
          <a:xfrm>
            <a:off x="4310844" y="1340641"/>
            <a:ext cx="4779404" cy="45243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empty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created. In Python, a list 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its size to change during program execution.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Insertion of Elements: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for loop runs from 0 to 4.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added to the list using the append() method, which dynamically increases the array size.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and Displaying Elements: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for loop iterates from index 0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− 1. Each element of the dynamic array is accessed using its index and printed one by one.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elements stored in the dynamic array are displayed in sequence, showing how the array grows dynamically at runtime.</a:t>
            </a:r>
          </a:p>
        </p:txBody>
      </p:sp>
    </p:spTree>
    <p:extLst>
      <p:ext uri="{BB962C8B-B14F-4D97-AF65-F5344CB8AC3E}">
        <p14:creationId xmlns:p14="http://schemas.microsoft.com/office/powerpoint/2010/main" val="3260398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1902-114C-AD51-7662-AB2F9DA2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660F0B-FDEE-C90C-6296-FBCC8F29A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AEEE5E-7626-15F9-57C6-B70CE3198C9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440EB2-99D0-D979-2723-D9DB9DBD95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D526F-C302-CE36-BAD0-06DB86C37D8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64730-5CA2-6CEE-01E2-628DBB351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Visual Memory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584CA-DF98-E0A5-557F-1A726DABAB2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1287B6A-7680-FE4C-B91C-13507B81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3453AC-68B3-7FD7-5BD1-06396D00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E53F1-2FBD-E4B2-A135-9F5614871E5B}"/>
              </a:ext>
            </a:extLst>
          </p:cNvPr>
          <p:cNvSpPr txBox="1"/>
          <p:nvPr/>
        </p:nvSpPr>
        <p:spPr>
          <a:xfrm>
            <a:off x="439149" y="552615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Fig.3:  Visual Memory Representation of Static and Dynamic Arrays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A9CAB-5BCE-10F8-0193-3DDB49251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49" y="1939249"/>
            <a:ext cx="2034223" cy="3174207"/>
          </a:xfrm>
          <a:prstGeom prst="rect">
            <a:avLst/>
          </a:prstGeom>
        </p:spPr>
      </p:pic>
      <p:pic>
        <p:nvPicPr>
          <p:cNvPr id="5124" name="Picture 4" descr="Dive Into Systems">
            <a:extLst>
              <a:ext uri="{FF2B5EF4-FFF2-40B4-BE49-F238E27FC236}">
                <a16:creationId xmlns:a16="http://schemas.microsoft.com/office/drawing/2014/main" id="{50BDB60D-A1CA-F6D3-968C-82051BE0C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385" y="2000687"/>
            <a:ext cx="6553200" cy="354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9CA58B-28A5-D662-B0FF-822FCBDF86ED}"/>
              </a:ext>
            </a:extLst>
          </p:cNvPr>
          <p:cNvSpPr txBox="1"/>
          <p:nvPr/>
        </p:nvSpPr>
        <p:spPr>
          <a:xfrm>
            <a:off x="250357" y="1450080"/>
            <a:ext cx="268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(a):  Dynamic Arrays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C8E0E-08A5-1E62-115C-1CFAF354A0F6}"/>
              </a:ext>
            </a:extLst>
          </p:cNvPr>
          <p:cNvSpPr txBox="1"/>
          <p:nvPr/>
        </p:nvSpPr>
        <p:spPr>
          <a:xfrm>
            <a:off x="4662264" y="1495104"/>
            <a:ext cx="2250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(b):  Static Arrays </a:t>
            </a:r>
          </a:p>
        </p:txBody>
      </p:sp>
    </p:spTree>
    <p:extLst>
      <p:ext uri="{BB962C8B-B14F-4D97-AF65-F5344CB8AC3E}">
        <p14:creationId xmlns:p14="http://schemas.microsoft.com/office/powerpoint/2010/main" val="320200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4F92-7478-DD92-D375-893977A0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736526-6AFF-A18B-0322-2A9CF8E35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562D0A-DA7A-6A64-1D1A-CA6013F9EFB9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32BC68-D254-F125-4DBD-62E0C72D0B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3B1FB-5F48-14CE-7A5F-3649D62F14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1EDF45-B354-F786-309A-175F88339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vs Dynamic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1DCD-9F8D-0427-C5F7-1E3B8A8745B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FFC684-10D7-D0BE-3F05-B0EF4CD4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B49205-FD4B-8C2C-BCE8-5E861502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84837E2-E4C9-54AE-14C3-0CC600283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92146"/>
              </p:ext>
            </p:extLst>
          </p:nvPr>
        </p:nvGraphicFramePr>
        <p:xfrm>
          <a:off x="1259632" y="2076842"/>
          <a:ext cx="691276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79031945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576404125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795182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5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2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78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451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3FCC-FCEA-E6A9-2477-39AF316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69164A-0C77-5271-7B84-8CC7A96D4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0B3CC7-8EF2-430B-1272-72B259C125C8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82E6BD-6E69-2A33-D12C-69AF86A5AC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85851-487A-D032-F3F0-5497A76EA7D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FDABB-5205-8CD6-E1BB-7376DD49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0D3FB-D536-A079-90AE-49C0197CCDAB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AEF0917-56CE-212A-86F8-07F655DE9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33FD12-B545-31D6-7A6E-7EE6F988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007D4-B71D-D0E3-EF02-46C2167F7307}"/>
              </a:ext>
            </a:extLst>
          </p:cNvPr>
          <p:cNvSpPr txBox="1"/>
          <p:nvPr/>
        </p:nvSpPr>
        <p:spPr>
          <a:xfrm>
            <a:off x="253131" y="1136658"/>
            <a:ext cx="856733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memory location used in both cases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to: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array size from the user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memory dynamically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display elements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02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C389-CAAE-910F-58E0-761870D3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196205-D621-8FEF-E9A8-1EF430032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61257B-A348-25EB-C071-B75A6EC27CB7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AA676E4-2593-EF8F-CA6D-62B42E7A6F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4184D-F406-C6F7-A493-F179A584F26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127A0-DBAA-B3F8-620B-67A8A0EE2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7A138-4DB4-31D8-4456-368F6B663A0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7CA3489-16CE-7968-15F1-868CA59BF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A2C85C-C82B-CC43-D17F-4E9A2AE1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DA26B-96BC-BA32-0DD4-2198A0874109}"/>
              </a:ext>
            </a:extLst>
          </p:cNvPr>
          <p:cNvSpPr txBox="1"/>
          <p:nvPr/>
        </p:nvSpPr>
        <p:spPr>
          <a:xfrm>
            <a:off x="187091" y="1030761"/>
            <a:ext cx="8567339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size is fixed at compile time and cannot be changed during execution.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(int*)malloc(5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allocated dynamically at runtime, allowing flexibility in array size.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Memory Location Used in Both Cases</a:t>
            </a:r>
          </a:p>
          <a:p>
            <a:pPr marL="714375" indent="-357188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memory</a:t>
            </a:r>
          </a:p>
          <a:p>
            <a:pPr marL="714375" indent="-357188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</p:txBody>
      </p:sp>
    </p:spTree>
    <p:extLst>
      <p:ext uri="{BB962C8B-B14F-4D97-AF65-F5344CB8AC3E}">
        <p14:creationId xmlns:p14="http://schemas.microsoft.com/office/powerpoint/2010/main" val="2472786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B0E4-5AF4-03D7-6FFD-5F01E751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B8769B-B7C8-E9BA-A9D0-2774599A1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09B6A0-5642-FF17-453E-4B88F99B87A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DB1DC3-F2BB-753C-6894-F6F1022948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44233-3469-8811-D96A-4F308D6570E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FD3C7-18A8-BB0E-7292-12C9A1473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7235F-A860-450F-35E4-EAB665DC220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25778CF-7EC0-9617-825C-19DC124A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FEB7FF-1E26-BA09-7136-E1E4B6A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D16B5-13D3-8797-6D9A-8648DC7D3BC2}"/>
              </a:ext>
            </a:extLst>
          </p:cNvPr>
          <p:cNvSpPr txBox="1"/>
          <p:nvPr/>
        </p:nvSpPr>
        <p:spPr>
          <a:xfrm>
            <a:off x="179512" y="1298416"/>
            <a:ext cx="85673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 (Simulated in Python)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# size fixed at creation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does not support true static arrays, so a fixed-size list is used and not resized, simulating static array behavior.</a:t>
            </a:r>
          </a:p>
        </p:txBody>
      </p:sp>
    </p:spTree>
    <p:extLst>
      <p:ext uri="{BB962C8B-B14F-4D97-AF65-F5344CB8AC3E}">
        <p14:creationId xmlns:p14="http://schemas.microsoft.com/office/powerpoint/2010/main" val="4207577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D1C0-FDEA-DDB9-FE54-D1C320C1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51FB4B-73E2-42C2-686F-5317827C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022173-2CAE-A349-0DF4-AB4CC9A9C459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29F58BA-46A6-3A66-2363-5951AE46A4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4E3379-40EA-25B7-B0BA-00729143376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BA5B9-7361-7564-41FD-65964C6F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19BBA-295D-A063-3A8A-92917E99B61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434E4BF-9B47-9CE1-D6DB-A654F67F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2AFB86-88EE-5AE4-AABE-F418C916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25B8-9245-16DA-36DA-5141CE3B973C}"/>
              </a:ext>
            </a:extLst>
          </p:cNvPr>
          <p:cNvSpPr txBox="1"/>
          <p:nvPr/>
        </p:nvSpPr>
        <p:spPr>
          <a:xfrm>
            <a:off x="187091" y="1030761"/>
            <a:ext cx="85673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grows dynamically at runtime using the append() method.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Used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 (simulated 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(list):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Python, all lists are stored in heap memory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9127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3883-F332-2673-5146-43B2F605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2A14B-A422-4CEB-FFA9-9849B57CD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FA4732-159C-F56C-1234-A4C678B9DC2E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82F3878-64E1-C7D9-A05C-CFF65F798D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E4FE0-A296-4A82-2B8B-DD73E241F10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943F2A-0280-9AB7-6569-BCE3AC9D5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Exercise –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FA9DF-3D75-8F46-4C21-6391A3DBFA0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CD655D4-2143-29A9-8DE5-F0F2368C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1107C1-7A99-D217-4A63-B86B69D9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A6774-CE56-9EBD-0F99-F7664FA31C66}"/>
              </a:ext>
            </a:extLst>
          </p:cNvPr>
          <p:cNvSpPr txBox="1"/>
          <p:nvPr/>
        </p:nvSpPr>
        <p:spPr>
          <a:xfrm>
            <a:off x="48154" y="1030761"/>
            <a:ext cx="46631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*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Accept array size from the user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size of the array: ");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Allocate memory dynamically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1CAB9-8F19-3B67-4110-F83F5CE65FF0}"/>
              </a:ext>
            </a:extLst>
          </p:cNvPr>
          <p:cNvSpPr txBox="1"/>
          <p:nvPr/>
        </p:nvSpPr>
        <p:spPr>
          <a:xfrm>
            <a:off x="4572000" y="1074712"/>
            <a:ext cx="452384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Store elements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%d elements:\n", n);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elements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("Array elements are:\n");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Free allocated memory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8143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ABE6-61DD-D7EF-ED10-4484B8DF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3DDE8-A6FA-5D10-29C2-115122994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CC3BD3-2860-AE71-22FC-A29D527FD39C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B6C5AB3-1FCA-D6A7-A1CE-4B28F3792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9FC22-62D9-C4A4-1699-2DD9C3E1E4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F2289-7274-B6DF-F977-2093141F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Exercise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07644-FA4B-B2E1-4EC6-CAE54D76EF36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73BC7AE-C644-7DB5-371A-CED7C3B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C604F5-2CBB-493B-197D-7E83787F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24EEF-3DFD-953D-347D-8A48F0B875A6}"/>
              </a:ext>
            </a:extLst>
          </p:cNvPr>
          <p:cNvSpPr txBox="1"/>
          <p:nvPr/>
        </p:nvSpPr>
        <p:spPr>
          <a:xfrm>
            <a:off x="187091" y="1030761"/>
            <a:ext cx="85673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Dynamic Array with User Input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program in Python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the size of the array: "))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Store elements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range(n):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element = int(input(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{i+1}: "))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Display elements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print("Array elements are:")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46402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D315-F7D6-663B-895F-76D8EBCF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586A03-5999-5736-FF58-A569B19B2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6F782B-A508-00CD-7556-C6AE00142AA1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C4ACED-9359-9020-0A7B-DD14B11BA0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27D78-A348-5BB1-320C-CE48AD4BB96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7729F-C30B-D7C0-39EB-0D19A995A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9CA0F-8136-A8A7-4CC7-745FC13DADF8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B947DE9-ACCB-164B-F0F1-E832F8303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AD9BCD-C3AA-4ABD-5A66-6FCEDD9F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9D143-4180-EFF9-0C07-0501C817C07E}"/>
              </a:ext>
            </a:extLst>
          </p:cNvPr>
          <p:cNvSpPr txBox="1"/>
          <p:nvPr/>
        </p:nvSpPr>
        <p:spPr>
          <a:xfrm>
            <a:off x="253130" y="1446123"/>
            <a:ext cx="85673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fixed exam marks when the number of subjects is known.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days of the week or months of the year with a fixed size.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game boards like chess or tic-tac-toe, where the board size is constant.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embedded systems for fixed sensor readings due to limited memory.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lookup tables such as ASCII codes or predefined constants.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5773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78BA-1B30-BAC7-5441-E1060732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83F078-9293-CD2E-3CF5-4CFB8711B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99CCB8-2543-1DC7-850D-6C172DD9AD87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115D17-3539-0974-4EDD-301F9B856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04F29E-C470-317E-50DE-113AAD85461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5EB48-6A24-074D-8B3E-655A58C3A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8773-90EF-11CF-3ECF-F79F162D4C7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5A4C07-3775-6D02-0286-76E733E7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19F8A-3C36-528F-1317-491088E3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8AEBE-CCB6-AEA7-F4E7-A60C7D52B28E}"/>
              </a:ext>
            </a:extLst>
          </p:cNvPr>
          <p:cNvSpPr txBox="1"/>
          <p:nvPr/>
        </p:nvSpPr>
        <p:spPr>
          <a:xfrm>
            <a:off x="253130" y="1446123"/>
            <a:ext cx="85673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shopping carts where items can be added or removed dynamically.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social media feeds where posts load and grow at runtime.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student registration systems where the number of students is not fixed.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image and video processing where data size varies dynamically.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graph algorithms where adjacency lists grow based on input size.</a:t>
            </a:r>
          </a:p>
        </p:txBody>
      </p:sp>
    </p:spTree>
    <p:extLst>
      <p:ext uri="{BB962C8B-B14F-4D97-AF65-F5344CB8AC3E}">
        <p14:creationId xmlns:p14="http://schemas.microsoft.com/office/powerpoint/2010/main" val="3886025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simple but rigid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flexible but complex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is crucial in dynamic arrays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wisely based on data size predictability</a:t>
            </a:r>
          </a:p>
        </p:txBody>
      </p:sp>
    </p:spTree>
    <p:extLst>
      <p:ext uri="{BB962C8B-B14F-4D97-AF65-F5344CB8AC3E}">
        <p14:creationId xmlns:p14="http://schemas.microsoft.com/office/powerpoint/2010/main" val="400345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C110-25BD-1973-5F16-984E4EC0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63387F-FD4C-A9C0-96EA-069511EC5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E2EF80-054F-7C52-77EF-85A09CD0D6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E56364-2BF2-0AD5-3DA7-E415765C03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EA4295-0B98-9639-573A-714FC197F2B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61104-488E-F9A4-1625-E34FE44C4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8E410-6E40-3CAE-62E0-F92D0EAA6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AD26EA-757C-16DD-C283-4305EFB72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6201207-2041-78B4-425D-85EA03BB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96709-FC82-6991-F688-CE05188B0838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11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22FC-57FC-421E-1C2C-9EDE19E1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C08F76-3EE1-1770-B1B1-747540C9A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5DA8DB-F28E-20C9-99A7-0A7C94E0F59F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CFD752-12FA-21CF-295E-A1803136F5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035F19-E6B5-4EF8-AE4F-E6EF2AB7762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9D09-E0B0-FB2E-1683-A359BD9E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507A1-B1B7-26AC-F2F1-12A35F3CC01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F557FA2-E4B5-DC2C-16AB-6CBA6B32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F7FE9D-8EBD-D559-5EBE-7B17D58E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953B4-EB46-D9D0-46D7-1A83A7BF1495}"/>
              </a:ext>
            </a:extLst>
          </p:cNvPr>
          <p:cNvSpPr txBox="1"/>
          <p:nvPr/>
        </p:nvSpPr>
        <p:spPr>
          <a:xfrm>
            <a:off x="253130" y="1446123"/>
            <a:ext cx="856733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271463" lvl="0" indent="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use heap memory.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faster due to fixed size and compile-time memory allocation.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should be preferred when the data size is fixed and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1754349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FE65-4B47-4868-56CB-A2442A4C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C810BA-2E9E-2401-27A2-CBD611F29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AFFB51-7819-1608-D179-22BDBB7227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FF22BF-91EC-1530-3A1E-91D6FBEB7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84711-69EB-AD50-0D12-4A9D5450D2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4A7106-9C65-26F9-D7ED-789F262E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93387-DC20-4F50-FCC4-5F55DDE6E7F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4B864CD-F5A0-A5C9-62EB-25310870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7D3049-0D78-42FD-5E0D-5B93B907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61D38-24A7-448E-BFB9-F2391C3F7B5E}"/>
              </a:ext>
            </a:extLst>
          </p:cNvPr>
          <p:cNvSpPr txBox="1"/>
          <p:nvPr/>
        </p:nvSpPr>
        <p:spPr>
          <a:xfrm>
            <a:off x="231997" y="1185704"/>
            <a:ext cx="856733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used by static arrays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data structure that behaves as a dynamic array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stored in ________ memory.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have a ________ size decided before execution.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append() method is used to add elements in a ________ array in Python.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allocated using malloc() should be released using ________.</a:t>
            </a:r>
          </a:p>
        </p:txBody>
      </p:sp>
    </p:spTree>
    <p:extLst>
      <p:ext uri="{BB962C8B-B14F-4D97-AF65-F5344CB8AC3E}">
        <p14:creationId xmlns:p14="http://schemas.microsoft.com/office/powerpoint/2010/main" val="1876896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3995-908D-6973-0A03-0662FF8A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0FE56B-46FA-256D-6E8E-B0E2E9A1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56BFC9-EFE8-4496-A730-EC98CF822D42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E55FC3-7303-5556-9D8B-CDF38BC251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8EB1D0-0B25-94E6-829A-236EEDB7A7E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6376EF-4CD4-FE3D-D4D6-59235FA2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33A12-71A3-9798-077E-C965CC025F8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E097993-35DF-317B-A8CF-3E7882E6D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E84FC3-0A26-05F8-1761-AF7C7E46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8C355-D3EC-3EDB-6AD2-EF62D7AD38F1}"/>
              </a:ext>
            </a:extLst>
          </p:cNvPr>
          <p:cNvSpPr txBox="1"/>
          <p:nvPr/>
        </p:nvSpPr>
        <p:spPr>
          <a:xfrm>
            <a:off x="231997" y="1185704"/>
            <a:ext cx="8567339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free()</a:t>
            </a:r>
          </a:p>
        </p:txBody>
      </p:sp>
    </p:spTree>
    <p:extLst>
      <p:ext uri="{BB962C8B-B14F-4D97-AF65-F5344CB8AC3E}">
        <p14:creationId xmlns:p14="http://schemas.microsoft.com/office/powerpoint/2010/main" val="3760829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Arrays in Data Structures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https://www.geeksforgeeks.org/array-data-structure/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Structures: Arrays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https://www.tutorialspoint.com/data_structures_algorithms/array_data_structure.htm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https://ocw.mit.edu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Lists (Dynamic Arrays)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https://www.programiz.com/python-programming/list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19195</TotalTime>
  <Words>4377</Words>
  <Application>Microsoft Office PowerPoint</Application>
  <PresentationFormat>On-screen Show (4:3)</PresentationFormat>
  <Paragraphs>787</Paragraphs>
  <Slides>52</Slides>
  <Notes>50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1346</cp:revision>
  <cp:lastPrinted>2022-09-05T08:43:44Z</cp:lastPrinted>
  <dcterms:created xsi:type="dcterms:W3CDTF">2020-01-16T09:05:56Z</dcterms:created>
  <dcterms:modified xsi:type="dcterms:W3CDTF">2026-01-11T12:40:50Z</dcterms:modified>
</cp:coreProperties>
</file>