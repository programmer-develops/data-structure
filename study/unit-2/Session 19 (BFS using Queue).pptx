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1011" r:id="rId2"/>
    <p:sldId id="993" r:id="rId3"/>
    <p:sldId id="1012" r:id="rId4"/>
    <p:sldId id="1013" r:id="rId5"/>
    <p:sldId id="691" r:id="rId6"/>
    <p:sldId id="1027" r:id="rId7"/>
    <p:sldId id="930" r:id="rId8"/>
    <p:sldId id="718" r:id="rId9"/>
    <p:sldId id="726" r:id="rId10"/>
    <p:sldId id="734" r:id="rId11"/>
    <p:sldId id="735" r:id="rId12"/>
    <p:sldId id="736" r:id="rId13"/>
    <p:sldId id="737" r:id="rId14"/>
    <p:sldId id="1077" r:id="rId15"/>
    <p:sldId id="1076" r:id="rId16"/>
    <p:sldId id="738" r:id="rId17"/>
    <p:sldId id="739" r:id="rId18"/>
    <p:sldId id="740" r:id="rId19"/>
    <p:sldId id="741" r:id="rId20"/>
    <p:sldId id="742" r:id="rId21"/>
    <p:sldId id="743" r:id="rId22"/>
    <p:sldId id="891" r:id="rId23"/>
    <p:sldId id="1081" r:id="rId24"/>
    <p:sldId id="1082" r:id="rId25"/>
    <p:sldId id="1080" r:id="rId26"/>
    <p:sldId id="892" r:id="rId27"/>
    <p:sldId id="1075" r:id="rId28"/>
    <p:sldId id="1079" r:id="rId29"/>
    <p:sldId id="1078" r:id="rId30"/>
    <p:sldId id="888" r:id="rId31"/>
    <p:sldId id="754" r:id="rId32"/>
    <p:sldId id="755" r:id="rId33"/>
    <p:sldId id="1072" r:id="rId34"/>
    <p:sldId id="1073" r:id="rId35"/>
    <p:sldId id="1074" r:id="rId36"/>
    <p:sldId id="886" r:id="rId37"/>
    <p:sldId id="1070" r:id="rId38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B3"/>
    <a:srgbClr val="E31E24"/>
    <a:srgbClr val="4B0993"/>
    <a:srgbClr val="E83030"/>
    <a:srgbClr val="0060AA"/>
    <a:srgbClr val="006C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D74D86-25DB-46EB-BCB6-0965E0A81DA9}" v="1" dt="2026-01-15T06:41:35.6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3883" autoAdjust="0"/>
  </p:normalViewPr>
  <p:slideViewPr>
    <p:cSldViewPr>
      <p:cViewPr varScale="1">
        <p:scale>
          <a:sx n="88" d="100"/>
          <a:sy n="88" d="100"/>
        </p:scale>
        <p:origin x="885" y="57"/>
      </p:cViewPr>
      <p:guideLst>
        <p:guide orient="horz" pos="2160"/>
        <p:guide pos="2880"/>
      </p:guideLst>
    </p:cSldViewPr>
  </p:slid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yoti Yadav" userId="8da2e7729ab2cedd" providerId="LiveId" clId="{741A7A88-242A-459A-A359-2627301AD1E9}"/>
    <pc:docChg chg="modSld">
      <pc:chgData name="Jyoti Yadav" userId="8da2e7729ab2cedd" providerId="LiveId" clId="{741A7A88-242A-459A-A359-2627301AD1E9}" dt="2026-01-15T06:41:47.226" v="8" actId="20577"/>
      <pc:docMkLst>
        <pc:docMk/>
      </pc:docMkLst>
      <pc:sldChg chg="modSp mod">
        <pc:chgData name="Jyoti Yadav" userId="8da2e7729ab2cedd" providerId="LiveId" clId="{741A7A88-242A-459A-A359-2627301AD1E9}" dt="2026-01-15T06:41:47.226" v="8" actId="20577"/>
        <pc:sldMkLst>
          <pc:docMk/>
          <pc:sldMk cId="751646105" sldId="1011"/>
        </pc:sldMkLst>
        <pc:spChg chg="mod">
          <ac:chgData name="Jyoti Yadav" userId="8da2e7729ab2cedd" providerId="LiveId" clId="{741A7A88-242A-459A-A359-2627301AD1E9}" dt="2026-01-15T06:41:47.226" v="8" actId="20577"/>
          <ac:spMkLst>
            <pc:docMk/>
            <pc:sldMk cId="751646105" sldId="1011"/>
            <ac:spMk id="7" creationId="{707A6CE9-669B-DEE3-BF3E-8D5506EAE30B}"/>
          </ac:spMkLst>
        </pc:spChg>
        <pc:spChg chg="mod">
          <ac:chgData name="Jyoti Yadav" userId="8da2e7729ab2cedd" providerId="LiveId" clId="{741A7A88-242A-459A-A359-2627301AD1E9}" dt="2026-01-15T06:41:35.627" v="0"/>
          <ac:spMkLst>
            <pc:docMk/>
            <pc:sldMk cId="751646105" sldId="1011"/>
            <ac:spMk id="9" creationId="{80A128E3-2186-5C09-4DCD-7BC65272487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39319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180562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55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F8777-BC47-2200-6A1C-EB34789B9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9F4ABC-EEF1-A951-7FAC-1F93C569E2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D04343-20BB-49D4-3398-79EEED45DE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6DA01-74A2-3336-38C9-77FDE5032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110452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3292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AD66B-D39F-9A85-D5E3-03BAF5CD9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3AFF25-01D8-9077-3E21-0D0695DCDC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501B00-9F99-9B33-6FA8-BBDD291933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F968-BB44-95D9-C378-B56150E45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5258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59524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0455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5498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71073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30487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0AED3-8FE8-1988-693F-29D5461CB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68E5B-89C2-7EE0-11FE-9575ADF055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BCC3C-ABCE-098F-086E-3DA187FD40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7D3629-DDE6-038C-C064-DBF55E1235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44585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87B20-9FCB-CB20-28B6-B68A78B1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5BE912-E651-5EE9-5F46-537664CAD5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ED0F82-AB55-83B7-D005-0772E820F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8D74E-FD4E-F2A8-C9B5-6A6B78A6F3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474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61836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9840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0990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6355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49905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4500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51F46-A82E-9FD8-2E3F-2DDDE6DB54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901CC9-70B5-122A-9C18-1D4DBFE0E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7765E4-9249-B6CD-C519-DC5C16F59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FAA3E-6F6C-867C-FAB2-705A3248A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730432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24D20-4719-6FA0-D170-8C1EC3536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363EF0-4839-57AC-5039-327CBD4F2F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0A7EE-9C2B-2543-CB49-75A58F7FE9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E1A878-47D7-35E3-9A31-82E4F813E5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05022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59660-8DB1-8C18-5B5C-C76775EA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747F0D-39BC-4B98-7948-3240BA587A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B36EB2-6D76-5DA3-451D-46530C2F2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2836CD-5B87-B370-5FE0-DF58112040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79898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8002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20353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1862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EF3BD-8CC3-C57E-4F98-0B08D962E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6A14F3-19A7-B6D5-73B9-133499F822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B3FC3-12FA-AB6F-1405-290E0436E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FC669-C364-3FEF-D269-200FDF62A7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02915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74D0C-912F-54A9-CA3B-8BF5B40A6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34171-D92F-0CBF-CC08-574B99C7C6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5FE93-1BEF-454E-B4C7-FEF941D42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C136C-1FB6-FE1A-D787-AC173AE0B7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2092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23B4E-1839-46C2-C524-72831AD73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F14888-85BF-08C9-42BB-C16AC3F82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4CD836-A87C-20C9-8775-13240290D0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2131CB-BA06-C9B5-C801-0AFFD1052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95582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FE6D6-DE3C-4F02-4BB1-B55C0C9BC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2BD2B-7558-AC42-0F89-11BB869D7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E40DB2-5228-9BD7-03F4-36E13407F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4625AE-FFFA-4019-4485-254214019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8838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24B7B-8CFF-4188-8E5F-458DAB1C0A4A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A89787-5071-4C5F-8398-907FFB8E997A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C24D9-24F3-417C-BC8F-BF4AA98118EF}" type="datetime1">
              <a:rPr lang="en-IN" smtClean="0"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 dirty="0"/>
              <a:t>Dr. Aarti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onlinegdb.com/m5if5mL4_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implilearn.com/tutorials/data-structure-tutorial/graphs-in-data-structure" TargetMode="External"/><Relationship Id="rId3" Type="http://schemas.openxmlformats.org/officeDocument/2006/relationships/image" Target="../media/image1.png"/><Relationship Id="rId7" Type="http://schemas.openxmlformats.org/officeDocument/2006/relationships/hyperlink" Target="https://www.tutorialspoint.com/data_structures_algorithms/graph_data_structure.html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geeksforgeeks.org/what-is-graph-data-structure/" TargetMode="External"/><Relationship Id="rId11" Type="http://schemas.openxmlformats.org/officeDocument/2006/relationships/hyperlink" Target="https://www.youtube.com/watch?v=4IZ80K72OXo" TargetMode="External"/><Relationship Id="rId5" Type="http://schemas.openxmlformats.org/officeDocument/2006/relationships/hyperlink" Target="https://www.boardinfinity.com/blog/graphs-in-data-structure/" TargetMode="External"/><Relationship Id="rId10" Type="http://schemas.openxmlformats.org/officeDocument/2006/relationships/hyperlink" Target="https://www.upgrad.com/blog/graphs-in-data-structure/" TargetMode="External"/><Relationship Id="rId4" Type="http://schemas.openxmlformats.org/officeDocument/2006/relationships/image" Target="../media/image15.png"/><Relationship Id="rId9" Type="http://schemas.openxmlformats.org/officeDocument/2006/relationships/hyperlink" Target="https://www.geeksforgeeks.org/applications-of-graph-data-structure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70355-B08D-308D-DAFB-1DCEF1C1D3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CE75B-70BC-32F0-9AE3-D3A4E8E6F8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78983B-21DD-AA3A-59D7-A404EAAE16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D99E4B-F41D-043D-FE73-335D31AA23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D873DE-D9DB-5423-6553-EECC3B910E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952" y="480488"/>
            <a:ext cx="6172601" cy="888700"/>
          </a:xfrm>
          <a:prstGeom prst="rect">
            <a:avLst/>
          </a:prstGeom>
        </p:spPr>
      </p:pic>
      <p:sp>
        <p:nvSpPr>
          <p:cNvPr id="7" name="Rectangle 1">
            <a:extLst>
              <a:ext uri="{FF2B5EF4-FFF2-40B4-BE49-F238E27FC236}">
                <a16:creationId xmlns:a16="http://schemas.microsoft.com/office/drawing/2014/main" id="{707A6CE9-669B-DEE3-BF3E-8D5506EAE3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5625" y="1636320"/>
            <a:ext cx="6372708" cy="12844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</a:p>
          <a:p>
            <a:pPr lvl="0" algn="ctr">
              <a:lnSpc>
                <a:spcPct val="150000"/>
              </a:lnSpc>
              <a:buSzPct val="25000"/>
            </a:pPr>
            <a:r>
              <a:rPr lang="en-US" sz="2800" b="1" kern="1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ETCCBD201 </a:t>
            </a:r>
            <a:endParaRPr lang="en-IN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A8034320-BE78-5A55-6F19-03B79C05C8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619" y="4240831"/>
            <a:ext cx="6480720" cy="1054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Faculty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School of Engineering &amp; Technology </a:t>
            </a:r>
          </a:p>
          <a:p>
            <a:pPr lvl="0" algn="ctr">
              <a:spcBef>
                <a:spcPts val="600"/>
              </a:spcBef>
              <a:buSzPct val="25000"/>
            </a:pP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K.R. </a:t>
            </a:r>
            <a:r>
              <a:rPr lang="en-US" b="1" kern="100" dirty="0" err="1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Mangalam</a:t>
            </a:r>
            <a:r>
              <a:rPr lang="en-US" b="1" kern="100" dirty="0">
                <a:latin typeface="Sylfaen" panose="010A0502050306030303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University </a:t>
            </a:r>
            <a:endParaRPr lang="en-IN" b="1" dirty="0">
              <a:solidFill>
                <a:srgbClr val="E31E24"/>
              </a:solidFill>
              <a:latin typeface="Sylfaen" panose="010A0502050306030303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0A128E3-2186-5C09-4DCD-7BC6527248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3429000"/>
            <a:ext cx="6372708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Ms. Jyoti Yadav</a:t>
            </a:r>
            <a:endParaRPr lang="en-IN" sz="24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D9C7E5-CE35-9355-4CD6-2B1E6EB9A5AA}"/>
              </a:ext>
            </a:extLst>
          </p:cNvPr>
          <p:cNvSpPr txBox="1"/>
          <p:nvPr/>
        </p:nvSpPr>
        <p:spPr>
          <a:xfrm>
            <a:off x="1178176" y="5615709"/>
            <a:ext cx="70276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 2 : </a:t>
            </a:r>
            <a:r>
              <a:rPr lang="en-US" sz="24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Linear Data Structures</a:t>
            </a:r>
            <a:endParaRPr lang="en-IN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1646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547664" y="320012"/>
            <a:ext cx="546931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>
              <a:buSzPct val="25000"/>
            </a:pPr>
            <a:r>
              <a:rPr lang="en-US" sz="3200" b="1" kern="100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Unit-2 Linear Data Structures</a:t>
            </a:r>
            <a:endParaRPr lang="en-IN" sz="3200" b="1" dirty="0">
              <a:solidFill>
                <a:srgbClr val="E31E24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1213558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11	Arrays – 1D &amp; 2D</a:t>
            </a:r>
            <a:r>
              <a:rPr lang="en-US" sz="2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2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95536" y="1733775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12	Static &amp; Dynamic Arrays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3243" y="2249884"/>
            <a:ext cx="8352928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13	Linked Lists Types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1836" y="281152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14	Linked List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3378" y="3324993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15	Stack ADT &amp; Operations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07359" y="4262830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17	Queue ADT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836" y="4776297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18	Queue Applications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95536" y="3787886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16	 Stack Applications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E9AA04E-4CF0-1135-99A8-DFA66C9162E6}"/>
              </a:ext>
            </a:extLst>
          </p:cNvPr>
          <p:cNvSpPr txBox="1"/>
          <p:nvPr/>
        </p:nvSpPr>
        <p:spPr>
          <a:xfrm>
            <a:off x="414129" y="5270729"/>
            <a:ext cx="8352928" cy="46166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	BFS using Queue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5B26A0-3162-1565-E432-BE0EB2B54357}"/>
              </a:ext>
            </a:extLst>
          </p:cNvPr>
          <p:cNvSpPr txBox="1"/>
          <p:nvPr/>
        </p:nvSpPr>
        <p:spPr>
          <a:xfrm>
            <a:off x="421836" y="5786838"/>
            <a:ext cx="83529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20	Revision (Unit–2)	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3646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39E82FE-96D7-2529-7945-4ACABDB58E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C685B53-95B0-E1DB-1C9C-F5456893FE5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" y="6237312"/>
            <a:ext cx="3060242" cy="43991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948772" y="1478462"/>
            <a:ext cx="6588732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200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Graphs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Traversal Techniques (BFS &amp; DFS)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Breadth-First Search (BFS): Concept &amp; Properties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Algorithm (Steps)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Pseudocode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– Worked Example (Level-order traversal)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Implementation using Queue 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BFS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Your Understanding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Takeaways</a:t>
            </a:r>
          </a:p>
          <a:p>
            <a:pPr marL="342900" lvl="0" indent="-342900" eaLnBrk="0" fontAlgn="base" hangingPunct="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7635" y="9478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1935" y="1062163"/>
            <a:ext cx="138564" cy="4847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7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36519" y="878322"/>
            <a:ext cx="7315199" cy="42473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Session 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335322" y="255261"/>
            <a:ext cx="45175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using Queue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37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5518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endParaRPr lang="en-US" sz="2400" b="1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>
              <a:buFont typeface="Wingdings" panose="05000000000000000000" pitchFamily="2" charset="2"/>
              <a:buChar char="§"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21C46D-3F04-4F73-BF36-E6D9DA5AE143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51521" y="1144905"/>
            <a:ext cx="8496942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this lecture, students will be able to: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a graph and identify its components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Differentiate between BFS and DFS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BFS as a level-by-level traversal technique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the role of a queue in BFS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algorithm and pseudocode for BFS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BFS using a queue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Trace BFS order for a given graph</a:t>
            </a:r>
          </a:p>
          <a:p>
            <a:pPr marL="360363" lvl="0" indent="-36036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common applications of BFS</a:t>
            </a:r>
          </a:p>
        </p:txBody>
      </p:sp>
    </p:spTree>
    <p:extLst>
      <p:ext uri="{BB962C8B-B14F-4D97-AF65-F5344CB8AC3E}">
        <p14:creationId xmlns:p14="http://schemas.microsoft.com/office/powerpoint/2010/main" val="327407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Recapitulation (</a:t>
            </a: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Queue Applications</a:t>
            </a:r>
            <a:r>
              <a:rPr lang="en-US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)</a:t>
            </a:r>
            <a:endParaRPr lang="en-IN" sz="28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8245" y="1297491"/>
            <a:ext cx="8580969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lvl="0" indent="-17621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Queues implement FIFO for fair task processing.</a:t>
            </a:r>
          </a:p>
          <a:p>
            <a:pPr marL="176213" lvl="0" indent="-17621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CPU scheduling, printer spooling, BFS, packet handling, customer service, and traffic control.</a:t>
            </a:r>
          </a:p>
          <a:p>
            <a:pPr marL="176213" lvl="0" indent="-17621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queues optimize memory usage.</a:t>
            </a:r>
          </a:p>
          <a:p>
            <a:pPr marL="176213" lvl="0" indent="-17621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queues serve high-priority tasks first.</a:t>
            </a:r>
          </a:p>
          <a:p>
            <a:pPr marL="176213" lvl="0" indent="-176213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operations are efficient and essential for system design.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0881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8FECA-5393-67D2-AB3A-88FF12CA8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417CCF-9D13-21D7-8A01-B566BD0E2D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EEDFDC-CF63-81A9-B0FF-D66EB2B30BC0}"/>
              </a:ext>
            </a:extLst>
          </p:cNvPr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0FCD68A-5D5F-69ED-9E1B-49A119C5752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181" y="6345261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BA3086-797F-DF92-D68F-AC598BD921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C59DB3-3A91-DA7E-7B4A-1DC48C3689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896" y="339393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009213-D4D2-E2C9-27C9-02B227D89D1F}"/>
              </a:ext>
            </a:extLst>
          </p:cNvPr>
          <p:cNvSpPr txBox="1"/>
          <p:nvPr/>
        </p:nvSpPr>
        <p:spPr>
          <a:xfrm>
            <a:off x="304786" y="1280189"/>
            <a:ext cx="8580969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__________ principle.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 overcomes the problem of __________ in linear queue.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queue that serves higher priority elements first is called __________ queue.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inserts an element into a queue?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an element?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one OS application of queue.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queue connects last position to first?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FIFO important in CPU scheduling?</a:t>
            </a:r>
          </a:p>
          <a:p>
            <a:pPr marL="457200" indent="-457200">
              <a:spcBef>
                <a:spcPts val="600"/>
              </a:spcBef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priority queue useful in operating systems?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507CED-2EE3-4762-E052-FA7C361DC9A8}"/>
              </a:ext>
            </a:extLst>
          </p:cNvPr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5522B-7DAD-6F72-F197-E3266F677833}"/>
              </a:ext>
            </a:extLst>
          </p:cNvPr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7F6B204-7BB8-BD04-E03F-2A90C354D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80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256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72008" y="105273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82594"/>
            <a:ext cx="891073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28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Quick Quiz (Answers)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8640958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unused/vacant space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scheduling/printer spooling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queue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Fairness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handle urgent tasks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4786" y="2492516"/>
            <a:ext cx="78488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797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C329F-E92F-EDD7-915A-56A8087A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24CFBBD-50BA-5AED-703C-8E89E17C0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C8E47A3-19E5-2480-D729-7717BBFCF6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532" y="120815"/>
            <a:ext cx="644471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Introduction to Graphs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93A9F-B97B-AF76-6D55-820A501541FD}"/>
              </a:ext>
            </a:extLst>
          </p:cNvPr>
          <p:cNvCxnSpPr/>
          <p:nvPr/>
        </p:nvCxnSpPr>
        <p:spPr>
          <a:xfrm>
            <a:off x="1" y="774774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43F45274-10BE-0CF7-F6D8-B35FA20631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B0734EE-9746-9E1E-DD18-BF795A5F179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9532" y="1033592"/>
            <a:ext cx="84249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/>
              <a:t>A graph is a non-linear data structure made up of nodes or vertices and edges. 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400" dirty="0"/>
              <a:t>The edges connect any two nodes in the graph, and the nodes are also known as vertices.</a:t>
            </a:r>
            <a:endParaRPr lang="en-IN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2771800" y="5925932"/>
            <a:ext cx="5846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3976" y="2900781"/>
            <a:ext cx="4391025" cy="28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369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329420"/>
            <a:ext cx="82252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Graph Traversal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53461" y="1578099"/>
            <a:ext cx="8496944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Graph traversal is a method used to search nodes in a graph. 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There are two traversal Techniques :</a:t>
            </a:r>
          </a:p>
          <a:p>
            <a:pPr marL="720725" indent="-360363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/>
              <a:t>Breadth First Search   </a:t>
            </a:r>
          </a:p>
          <a:p>
            <a:pPr marL="720725" indent="-360363" fontAlgn="base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400" b="1" dirty="0"/>
              <a:t>Depth First Search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0396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3" y="329420"/>
            <a:ext cx="80812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BFS (Breadth-First Search)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467543" y="1107776"/>
            <a:ext cx="83529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fontAlgn="base"/>
            <a:endParaRPr lang="en-US" sz="2400" dirty="0"/>
          </a:p>
          <a:p>
            <a:pPr marL="342900" indent="-342900" algn="just" fontAlgn="base">
              <a:buFont typeface="Wingdings" panose="05000000000000000000" pitchFamily="2" charset="2"/>
              <a:buChar char="Ø"/>
            </a:pPr>
            <a:r>
              <a:rPr lang="en-US" sz="2400" b="1" dirty="0"/>
              <a:t>Breadth-First Search (BFS)</a:t>
            </a:r>
            <a:r>
              <a:rPr lang="en-US" sz="2400" dirty="0"/>
              <a:t> is a graph traversal algorithm, where we start from a selected(source) node and traverse the graph level by level, by exploring the neighbor nodes at each level.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12" name="Picture 11"/>
          <p:cNvPicPr/>
          <p:nvPr/>
        </p:nvPicPr>
        <p:blipFill>
          <a:blip r:embed="rId6"/>
          <a:stretch>
            <a:fillRect/>
          </a:stretch>
        </p:blipFill>
        <p:spPr>
          <a:xfrm>
            <a:off x="1855470" y="3125206"/>
            <a:ext cx="5433060" cy="25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3457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514617" y="273900"/>
            <a:ext cx="42851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buSzPct val="25000"/>
            </a:pPr>
            <a:r>
              <a:rPr 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 for BFS</a:t>
            </a:r>
            <a:endParaRPr lang="en-IN" sz="32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-36513" y="901940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>
            <a:spLocks noGrp="1" noChangeArrowheads="1"/>
          </p:cNvSpPr>
          <p:nvPr/>
        </p:nvSpPr>
        <p:spPr bwMode="auto">
          <a:xfrm>
            <a:off x="611560" y="994995"/>
            <a:ext cx="8258683" cy="5221271"/>
          </a:xfrm>
          <a:prstGeom prst="rect">
            <a:avLst/>
          </a:prstGeom>
          <a:solidFill>
            <a:srgbClr val="CCECFF"/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w"/>
              <a:defRPr sz="3200" kern="1200">
                <a:solidFill>
                  <a:srgbClr val="01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US" sz="3100" dirty="0"/>
              <a:t>Step 1 : Define a queue based on the number of nodes.</a:t>
            </a:r>
          </a:p>
          <a:p>
            <a:pPr marL="0" indent="0" algn="just">
              <a:buNone/>
            </a:pPr>
            <a:r>
              <a:rPr lang="en-US" sz="3100" dirty="0"/>
              <a:t>Step 2 : Start from any node, visit it, and add it to the queue.</a:t>
            </a:r>
          </a:p>
          <a:p>
            <a:pPr marL="0" indent="0" algn="just">
              <a:buNone/>
            </a:pPr>
            <a:r>
              <a:rPr lang="en-US" sz="3100" dirty="0"/>
              <a:t>Step 3 : Visit non-visited adjacent nodes in the queue.</a:t>
            </a:r>
          </a:p>
          <a:p>
            <a:pPr marL="0" indent="0" algn="just">
              <a:buNone/>
            </a:pPr>
            <a:r>
              <a:rPr lang="en-US" sz="3100" dirty="0"/>
              <a:t>Step 4 : Delete nodes without edges and not in the queue.</a:t>
            </a:r>
          </a:p>
          <a:p>
            <a:pPr marL="0" indent="0" algn="just">
              <a:buNone/>
            </a:pPr>
            <a:r>
              <a:rPr lang="en-US" sz="3100" dirty="0"/>
              <a:t>Step 5 : Empty the queue and form the spanning tree</a:t>
            </a:r>
          </a:p>
          <a:p>
            <a:pPr marL="457200" lvl="1" indent="0">
              <a:buNone/>
            </a:pP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585330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610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11559" y="358113"/>
            <a:ext cx="808948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buSzPct val="25000"/>
            </a:pPr>
            <a:r>
              <a:rPr lang="en-US" sz="28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Algorithm for BFS</a:t>
            </a:r>
            <a:r>
              <a:rPr lang="en-IN" sz="28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Pseudo code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-32000" y="1096777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829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3621" y="867560"/>
            <a:ext cx="84969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IN" sz="2400" dirty="0"/>
          </a:p>
        </p:txBody>
      </p:sp>
      <p:sp>
        <p:nvSpPr>
          <p:cNvPr id="12" name="Rectangle 11"/>
          <p:cNvSpPr>
            <a:spLocks noGrp="1" noChangeArrowheads="1"/>
          </p:cNvSpPr>
          <p:nvPr/>
        </p:nvSpPr>
        <p:spPr bwMode="auto">
          <a:xfrm>
            <a:off x="1101872" y="1166612"/>
            <a:ext cx="7214544" cy="50707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w"/>
              <a:defRPr sz="3200" kern="1200">
                <a:solidFill>
                  <a:srgbClr val="01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5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287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716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0000"/>
              </a:lnSpc>
              <a:buNone/>
            </a:pPr>
            <a:endParaRPr lang="en-US" altLang="en-US" sz="2400" b="1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2281" y="1493430"/>
            <a:ext cx="4171950" cy="3952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6709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3" y="329420"/>
            <a:ext cx="80812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525428" y="1507637"/>
            <a:ext cx="8129658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stands for __________ First Search.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explores nodes __________ by __________.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structure used in BFS is a __________.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follows the __________ principle.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a queue suitable for BFS?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traversal technique explores deep before wide?</a:t>
            </a:r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66037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0FB10-F636-C8C1-E806-DB82B0601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2E40F9-7167-4F1D-FB31-C675AE847C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9BBCED6-3051-2622-7C2C-19928D8272E1}"/>
              </a:ext>
            </a:extLst>
          </p:cNvPr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D3AB117A-3A00-871B-A171-A79A11C9451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6EA44BB-21DF-2D03-E3C0-61846D57D1A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A34639-BEB8-D9DC-830A-09C1FA243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3" y="329420"/>
            <a:ext cx="80812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QUICK CHECK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32D1AE-BEEF-33BF-F593-F2E82DDA09A7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7A9852-54E7-6D6C-690B-18EE260CE70F}"/>
              </a:ext>
            </a:extLst>
          </p:cNvPr>
          <p:cNvSpPr/>
          <p:nvPr/>
        </p:nvSpPr>
        <p:spPr>
          <a:xfrm>
            <a:off x="525428" y="1507637"/>
            <a:ext cx="8129658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Breadth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by level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process vertices in arrival order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DFS.</a:t>
            </a:r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0E8F4CE4-0FCA-6AC3-30BF-E9726ED733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8766568-580D-29F1-F15B-4CE1787D432C}"/>
              </a:ext>
            </a:extLst>
          </p:cNvPr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1743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BE681-632B-E6FE-B7F1-56ACAAD0D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7F47CAE-F561-BB09-9484-6923B8F8A6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F8A131D-BC94-E10A-F12D-4AB2FE13DC4D}"/>
              </a:ext>
            </a:extLst>
          </p:cNvPr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329F5E3-145B-DF70-BA64-4BC4AB4E1CC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24342F-0A2F-9BBB-AC4B-DDBEBF48EBF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5EB428-C044-6504-8347-01A6975F0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3" y="329420"/>
            <a:ext cx="808121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CB395E-9A08-DDD9-4DFC-7BD69CBFCCAF}"/>
              </a:ext>
            </a:extLst>
          </p:cNvPr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C3C1467-E6F7-3B37-DE84-EFE82F358CE8}"/>
              </a:ext>
            </a:extLst>
          </p:cNvPr>
          <p:cNvSpPr/>
          <p:nvPr/>
        </p:nvSpPr>
        <p:spPr>
          <a:xfrm>
            <a:off x="539552" y="1107776"/>
            <a:ext cx="812965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marL="342900" indent="-342900" algn="just" fontAlgn="base">
              <a:buFont typeface="Wingdings" panose="05000000000000000000" pitchFamily="2" charset="2"/>
              <a:buChar char="Ø"/>
            </a:pPr>
            <a:r>
              <a:rPr lang="en-US" sz="2400" dirty="0"/>
              <a:t>Starting from the root, all the nodes at a particular level are visited first, and then the nodes of the next level are traversed till all the nodes are visited.</a:t>
            </a:r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1026" name="Picture 2" descr="Ezoic">
            <a:extLst>
              <a:ext uri="{FF2B5EF4-FFF2-40B4-BE49-F238E27FC236}">
                <a16:creationId xmlns:a16="http://schemas.microsoft.com/office/drawing/2014/main" id="{8B33A121-0813-B229-32AC-F6A427AC6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CC90D57-EE2A-5D0F-A51D-F3EF9F4F980B}"/>
              </a:ext>
            </a:extLst>
          </p:cNvPr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6F3F43-8561-7284-30C9-BEDA6070AA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9949" y="2890817"/>
            <a:ext cx="6797204" cy="3008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92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5" y="329420"/>
            <a:ext cx="81532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790" y="1702130"/>
            <a:ext cx="8280226" cy="3324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938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5" y="329420"/>
            <a:ext cx="81532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658" y="1724705"/>
            <a:ext cx="8241556" cy="3885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858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329420"/>
            <a:ext cx="82252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077" y="1666628"/>
            <a:ext cx="8458150" cy="401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173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9" y="329420"/>
            <a:ext cx="82252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836" y="1804725"/>
            <a:ext cx="8553400" cy="3988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9811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5" y="329420"/>
            <a:ext cx="815322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pic>
        <p:nvPicPr>
          <p:cNvPr id="1026" name="Picture 2" descr="Ezoi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825" y="-212725"/>
            <a:ext cx="126532" cy="133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17" y="1620593"/>
            <a:ext cx="8453388" cy="4537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619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/>
          <p:cNvCxnSpPr/>
          <p:nvPr/>
        </p:nvCxnSpPr>
        <p:spPr>
          <a:xfrm>
            <a:off x="1" y="1235756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EE1B99-B51C-4A5A-108B-8445DFED1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1" y="329420"/>
            <a:ext cx="8009209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Example of BFS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23530" y="1235756"/>
            <a:ext cx="784887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107504" y="1107776"/>
            <a:ext cx="87849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endParaRPr lang="en-US" sz="2400" dirty="0"/>
          </a:p>
          <a:p>
            <a:pPr fontAlgn="base"/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250357" y="3655590"/>
            <a:ext cx="84188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b="1" dirty="0"/>
          </a:p>
          <a:p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205" y="1384407"/>
            <a:ext cx="8202750" cy="4801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44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EDDC7670-4613-13C9-8F8E-471A2782A88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  <a:prstGeom prst="rect">
            <a:avLst/>
          </a:prstGeom>
        </p:spPr>
      </p:pic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251520" y="25260"/>
            <a:ext cx="8568952" cy="857250"/>
          </a:xfrm>
        </p:spPr>
        <p:txBody>
          <a:bodyPr>
            <a:normAutofit fontScale="90000"/>
          </a:bodyPr>
          <a:lstStyle/>
          <a:p>
            <a:r>
              <a:rPr lang="en-CA" alt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Implementing BFS traversal in Graph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altLang="en-US" sz="1800" dirty="0">
                <a:latin typeface="Arial" charset="0"/>
                <a:cs typeface="Arial" charset="0"/>
              </a:rPr>
              <a:t>	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 flipV="1">
            <a:off x="0" y="868530"/>
            <a:ext cx="9144000" cy="2796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381328"/>
            <a:ext cx="1808820" cy="2600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85293" y="1063660"/>
            <a:ext cx="7981460" cy="7339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BFS Traversal (PYTHON)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0601" y="1675043"/>
            <a:ext cx="7984641" cy="4130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from collections import deque</a:t>
            </a:r>
          </a:p>
          <a:p>
            <a:endParaRPr lang="en-US" sz="2000" dirty="0"/>
          </a:p>
          <a:p>
            <a:r>
              <a:rPr lang="en-US" sz="2000" dirty="0"/>
              <a:t>def </a:t>
            </a:r>
            <a:r>
              <a:rPr lang="en-US" sz="2000" dirty="0" err="1"/>
              <a:t>bfs</a:t>
            </a:r>
            <a:r>
              <a:rPr lang="en-US" sz="2000" dirty="0"/>
              <a:t>(graph, start):</a:t>
            </a:r>
          </a:p>
          <a:p>
            <a:r>
              <a:rPr lang="en-US" sz="2000" dirty="0"/>
              <a:t>    visited = set()          # to keep track of visited nodes</a:t>
            </a:r>
          </a:p>
          <a:p>
            <a:r>
              <a:rPr lang="en-US" sz="2000" dirty="0"/>
              <a:t>    queue = deque()          # queue for BFS</a:t>
            </a:r>
          </a:p>
          <a:p>
            <a:endParaRPr lang="en-US" sz="2000" dirty="0"/>
          </a:p>
          <a:p>
            <a:r>
              <a:rPr lang="en-US" sz="2000" dirty="0"/>
              <a:t>    </a:t>
            </a:r>
            <a:r>
              <a:rPr lang="en-US" sz="2000" dirty="0" err="1"/>
              <a:t>visited.add</a:t>
            </a:r>
            <a:r>
              <a:rPr lang="en-US" sz="2000" dirty="0"/>
              <a:t>(start)</a:t>
            </a:r>
          </a:p>
          <a:p>
            <a:r>
              <a:rPr lang="en-US" sz="2000" dirty="0"/>
              <a:t>    </a:t>
            </a:r>
            <a:r>
              <a:rPr lang="en-US" sz="2000" dirty="0" err="1"/>
              <a:t>queue.append</a:t>
            </a:r>
            <a:r>
              <a:rPr lang="en-US" sz="2000" dirty="0"/>
              <a:t>(start)</a:t>
            </a:r>
          </a:p>
          <a:p>
            <a:endParaRPr lang="en-US" sz="2000" dirty="0"/>
          </a:p>
          <a:p>
            <a:r>
              <a:rPr lang="en-US" sz="2000" dirty="0"/>
              <a:t>    print("BFS Traversal:", end=" ")</a:t>
            </a:r>
          </a:p>
          <a:p>
            <a:endParaRPr lang="en-US" sz="2000" dirty="0"/>
          </a:p>
        </p:txBody>
      </p:sp>
      <p:sp>
        <p:nvSpPr>
          <p:cNvPr id="4" name="Rectangle 3"/>
          <p:cNvSpPr/>
          <p:nvPr/>
        </p:nvSpPr>
        <p:spPr>
          <a:xfrm>
            <a:off x="2329400" y="636649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28018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F8B88-9B51-283A-4F55-41AA13EAD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4732B4CC-E5AC-B5CE-CE6C-B871866287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  <a:prstGeom prst="rect">
            <a:avLst/>
          </a:prstGeom>
        </p:spPr>
      </p:pic>
      <p:sp>
        <p:nvSpPr>
          <p:cNvPr id="10242" name="Title 1">
            <a:extLst>
              <a:ext uri="{FF2B5EF4-FFF2-40B4-BE49-F238E27FC236}">
                <a16:creationId xmlns:a16="http://schemas.microsoft.com/office/drawing/2014/main" id="{BE9B90BD-2C99-26B3-9DA8-5AA6ABDF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5260"/>
            <a:ext cx="8568952" cy="857250"/>
          </a:xfrm>
        </p:spPr>
        <p:txBody>
          <a:bodyPr>
            <a:normAutofit fontScale="90000"/>
          </a:bodyPr>
          <a:lstStyle/>
          <a:p>
            <a:r>
              <a:rPr lang="en-CA" alt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Implementing BFS traversal in Graph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A13F13B5-2BF1-A888-9AF9-171F429B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altLang="en-US" sz="1800" dirty="0">
                <a:latin typeface="Arial" charset="0"/>
                <a:cs typeface="Arial" charset="0"/>
              </a:rPr>
              <a:t>	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8BED1B-4A85-8028-19B7-2D4B083BE775}"/>
              </a:ext>
            </a:extLst>
          </p:cNvPr>
          <p:cNvCxnSpPr/>
          <p:nvPr/>
        </p:nvCxnSpPr>
        <p:spPr>
          <a:xfrm flipV="1">
            <a:off x="0" y="868530"/>
            <a:ext cx="9144000" cy="2796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00A5000-69F2-96AC-0889-528C4769733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381328"/>
            <a:ext cx="1808820" cy="2600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775694E-B36D-860D-7E8F-2DA5F01C9C70}"/>
              </a:ext>
            </a:extLst>
          </p:cNvPr>
          <p:cNvSpPr/>
          <p:nvPr/>
        </p:nvSpPr>
        <p:spPr>
          <a:xfrm>
            <a:off x="385293" y="1063660"/>
            <a:ext cx="7981460" cy="7339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BFS Traversal (PYTHON)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5EEFD2F-F751-5ACC-31E9-D2F2076A522B}"/>
              </a:ext>
            </a:extLst>
          </p:cNvPr>
          <p:cNvSpPr/>
          <p:nvPr/>
        </p:nvSpPr>
        <p:spPr>
          <a:xfrm>
            <a:off x="400601" y="1675043"/>
            <a:ext cx="7984641" cy="4130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 while queue:</a:t>
            </a:r>
          </a:p>
          <a:p>
            <a:r>
              <a:rPr lang="en-US" sz="2000" dirty="0"/>
              <a:t>        node = </a:t>
            </a:r>
            <a:r>
              <a:rPr lang="en-US" sz="2000" dirty="0" err="1"/>
              <a:t>queue.popleft</a:t>
            </a:r>
            <a:r>
              <a:rPr lang="en-US" sz="2000" dirty="0"/>
              <a:t>()     # dequeue</a:t>
            </a:r>
          </a:p>
          <a:p>
            <a:r>
              <a:rPr lang="en-US" sz="2000" dirty="0"/>
              <a:t>        print(node, end=" ")</a:t>
            </a:r>
          </a:p>
          <a:p>
            <a:endParaRPr lang="en-US" sz="2000" dirty="0"/>
          </a:p>
          <a:p>
            <a:r>
              <a:rPr lang="en-US" sz="2000" dirty="0"/>
              <a:t>        for neighbor in graph[node]:</a:t>
            </a:r>
          </a:p>
          <a:p>
            <a:r>
              <a:rPr lang="en-US" sz="2000" dirty="0"/>
              <a:t>            if neighbor not in visited: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visited.add</a:t>
            </a:r>
            <a:r>
              <a:rPr lang="en-US" sz="2000" dirty="0"/>
              <a:t>(neighbor)</a:t>
            </a:r>
          </a:p>
          <a:p>
            <a:r>
              <a:rPr lang="en-US" sz="2000" dirty="0"/>
              <a:t>                </a:t>
            </a:r>
            <a:r>
              <a:rPr lang="en-US" sz="2000" dirty="0" err="1"/>
              <a:t>queue.append</a:t>
            </a:r>
            <a:r>
              <a:rPr lang="en-US" sz="2000" dirty="0"/>
              <a:t>(neighbor)</a:t>
            </a:r>
          </a:p>
          <a:p>
            <a:endParaRPr lang="en-U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42095D-F64E-C1B4-2E33-91E8832A7372}"/>
              </a:ext>
            </a:extLst>
          </p:cNvPr>
          <p:cNvSpPr/>
          <p:nvPr/>
        </p:nvSpPr>
        <p:spPr>
          <a:xfrm>
            <a:off x="2329400" y="636649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7249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17218-4A91-3A12-13D2-DB0BC37C9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1387FDF4-9AFC-A78A-5EEF-821D09EA8B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  <a:prstGeom prst="rect">
            <a:avLst/>
          </a:prstGeom>
        </p:spPr>
      </p:pic>
      <p:sp>
        <p:nvSpPr>
          <p:cNvPr id="10242" name="Title 1">
            <a:extLst>
              <a:ext uri="{FF2B5EF4-FFF2-40B4-BE49-F238E27FC236}">
                <a16:creationId xmlns:a16="http://schemas.microsoft.com/office/drawing/2014/main" id="{0AE96BEB-4153-3E76-A1D1-BCB3F08B6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5260"/>
            <a:ext cx="8568952" cy="857250"/>
          </a:xfrm>
        </p:spPr>
        <p:txBody>
          <a:bodyPr>
            <a:normAutofit fontScale="90000"/>
          </a:bodyPr>
          <a:lstStyle/>
          <a:p>
            <a:r>
              <a:rPr lang="en-CA" alt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Implementing BFS traversal in Graph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CF4BE9DF-D932-148C-864A-7E1BC938D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altLang="en-US" sz="1800" dirty="0">
                <a:latin typeface="Arial" charset="0"/>
                <a:cs typeface="Arial" charset="0"/>
              </a:rPr>
              <a:t>	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0C9A0C-5D2D-22B6-13CD-D645A320B00B}"/>
              </a:ext>
            </a:extLst>
          </p:cNvPr>
          <p:cNvCxnSpPr/>
          <p:nvPr/>
        </p:nvCxnSpPr>
        <p:spPr>
          <a:xfrm flipV="1">
            <a:off x="0" y="868530"/>
            <a:ext cx="9144000" cy="2796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7C9A7FA0-37E2-2250-71B1-A216835326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381328"/>
            <a:ext cx="1808820" cy="2600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0C444F3-7FFE-565A-E524-BC20FC3D7924}"/>
              </a:ext>
            </a:extLst>
          </p:cNvPr>
          <p:cNvSpPr/>
          <p:nvPr/>
        </p:nvSpPr>
        <p:spPr>
          <a:xfrm>
            <a:off x="385293" y="1063660"/>
            <a:ext cx="7981460" cy="7339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BFS Traversal (PYTHON)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6BEF9A-6899-52D3-C438-10062A29D084}"/>
              </a:ext>
            </a:extLst>
          </p:cNvPr>
          <p:cNvSpPr/>
          <p:nvPr/>
        </p:nvSpPr>
        <p:spPr>
          <a:xfrm>
            <a:off x="400601" y="1675043"/>
            <a:ext cx="7984641" cy="4130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# Example graph (adjacency list)</a:t>
            </a:r>
          </a:p>
          <a:p>
            <a:r>
              <a:rPr lang="en-US" sz="2000" dirty="0"/>
              <a:t>graph = {</a:t>
            </a:r>
          </a:p>
          <a:p>
            <a:r>
              <a:rPr lang="en-US" sz="2000" dirty="0"/>
              <a:t>    'A': ['B', 'C'],</a:t>
            </a:r>
          </a:p>
          <a:p>
            <a:r>
              <a:rPr lang="en-US" sz="2000" dirty="0"/>
              <a:t>    'B': ['A', 'D', 'E'],</a:t>
            </a:r>
          </a:p>
          <a:p>
            <a:r>
              <a:rPr lang="en-US" sz="2000" dirty="0"/>
              <a:t>    'C': ['A', 'F'],</a:t>
            </a:r>
          </a:p>
          <a:p>
            <a:r>
              <a:rPr lang="en-US" sz="2000" dirty="0"/>
              <a:t>    'D': ['B'],</a:t>
            </a:r>
          </a:p>
          <a:p>
            <a:r>
              <a:rPr lang="en-US" sz="2000" dirty="0"/>
              <a:t>    'E': ['B', 'F'],</a:t>
            </a:r>
          </a:p>
          <a:p>
            <a:r>
              <a:rPr lang="en-US" sz="2000" dirty="0"/>
              <a:t>    'F': ['C', 'E']</a:t>
            </a:r>
          </a:p>
          <a:p>
            <a:r>
              <a:rPr lang="en-US" sz="2000" dirty="0"/>
              <a:t>}</a:t>
            </a:r>
          </a:p>
          <a:p>
            <a:endParaRPr lang="en-US" sz="2000" dirty="0"/>
          </a:p>
          <a:p>
            <a:r>
              <a:rPr lang="en-US" sz="2000" dirty="0"/>
              <a:t># Call BFS</a:t>
            </a:r>
          </a:p>
          <a:p>
            <a:r>
              <a:rPr lang="en-US" sz="2000" dirty="0" err="1"/>
              <a:t>bfs</a:t>
            </a:r>
            <a:r>
              <a:rPr lang="en-US" sz="2000" dirty="0"/>
              <a:t>(graph, 'A')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3444934-85DE-D963-7832-8F1D7C1535CF}"/>
              </a:ext>
            </a:extLst>
          </p:cNvPr>
          <p:cNvSpPr/>
          <p:nvPr/>
        </p:nvSpPr>
        <p:spPr>
          <a:xfrm>
            <a:off x="2329400" y="636649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601572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386341-DE26-E0AE-DB6A-809E93480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F0387D9E-C047-2A7A-7F08-75855B2F43E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  <a:prstGeom prst="rect">
            <a:avLst/>
          </a:prstGeom>
        </p:spPr>
      </p:pic>
      <p:sp>
        <p:nvSpPr>
          <p:cNvPr id="10242" name="Title 1">
            <a:extLst>
              <a:ext uri="{FF2B5EF4-FFF2-40B4-BE49-F238E27FC236}">
                <a16:creationId xmlns:a16="http://schemas.microsoft.com/office/drawing/2014/main" id="{D1E1E789-42BF-5A26-4915-89FFD6D57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5260"/>
            <a:ext cx="8568952" cy="857250"/>
          </a:xfrm>
        </p:spPr>
        <p:txBody>
          <a:bodyPr>
            <a:normAutofit fontScale="90000"/>
          </a:bodyPr>
          <a:lstStyle/>
          <a:p>
            <a:r>
              <a:rPr lang="en-CA" alt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Implementing BFS traversal in Graph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B3FE6B45-34AA-CAC2-E641-FF91CF9FC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altLang="en-US" sz="1800" dirty="0">
                <a:latin typeface="Arial" charset="0"/>
                <a:cs typeface="Arial" charset="0"/>
              </a:rPr>
              <a:t>	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6755473-EB16-EF93-D579-45B4CEB24D92}"/>
              </a:ext>
            </a:extLst>
          </p:cNvPr>
          <p:cNvCxnSpPr/>
          <p:nvPr/>
        </p:nvCxnSpPr>
        <p:spPr>
          <a:xfrm flipV="1">
            <a:off x="0" y="868530"/>
            <a:ext cx="9144000" cy="2796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FA307297-5BF8-3201-EAB9-88B533E821A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381328"/>
            <a:ext cx="1808820" cy="260018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41B98A88-F610-1390-327C-43866F0B5D46}"/>
              </a:ext>
            </a:extLst>
          </p:cNvPr>
          <p:cNvSpPr/>
          <p:nvPr/>
        </p:nvSpPr>
        <p:spPr>
          <a:xfrm>
            <a:off x="385293" y="1063660"/>
            <a:ext cx="7981460" cy="7339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BFS Traversal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08B339C-8868-310C-2976-3746C911F9F5}"/>
              </a:ext>
            </a:extLst>
          </p:cNvPr>
          <p:cNvSpPr/>
          <p:nvPr/>
        </p:nvSpPr>
        <p:spPr>
          <a:xfrm>
            <a:off x="400601" y="1675043"/>
            <a:ext cx="7984641" cy="413022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dirty="0"/>
              <a:t>void BFS(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startVertex</a:t>
            </a:r>
            <a:r>
              <a:rPr lang="en-US" sz="2000" dirty="0"/>
              <a:t>) {</a:t>
            </a:r>
          </a:p>
          <a:p>
            <a:r>
              <a:rPr lang="en-US" sz="2000" dirty="0"/>
              <a:t>        vector&lt;</a:t>
            </a:r>
            <a:r>
              <a:rPr lang="en-US" sz="2000" dirty="0" err="1"/>
              <a:t>bool</a:t>
            </a:r>
            <a:r>
              <a:rPr lang="en-US" sz="2000" dirty="0"/>
              <a:t>&gt; visited(</a:t>
            </a:r>
            <a:r>
              <a:rPr lang="en-US" sz="2000" dirty="0" err="1"/>
              <a:t>numVertices</a:t>
            </a:r>
            <a:r>
              <a:rPr lang="en-US" sz="2000" dirty="0"/>
              <a:t>, false);</a:t>
            </a:r>
          </a:p>
          <a:p>
            <a:r>
              <a:rPr lang="en-US" sz="2000" dirty="0"/>
              <a:t>        queue&lt;</a:t>
            </a:r>
            <a:r>
              <a:rPr lang="en-US" sz="2000" dirty="0" err="1"/>
              <a:t>int</a:t>
            </a:r>
            <a:r>
              <a:rPr lang="en-US" sz="2000" dirty="0"/>
              <a:t>&gt; q;</a:t>
            </a:r>
          </a:p>
          <a:p>
            <a:endParaRPr lang="en-US" sz="2000" dirty="0"/>
          </a:p>
          <a:p>
            <a:r>
              <a:rPr lang="en-US" sz="2000" dirty="0"/>
              <a:t>        visited[</a:t>
            </a:r>
            <a:r>
              <a:rPr lang="en-US" sz="2000" dirty="0" err="1"/>
              <a:t>startVertex</a:t>
            </a:r>
            <a:r>
              <a:rPr lang="en-US" sz="2000" dirty="0"/>
              <a:t>] = true;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q.push</a:t>
            </a:r>
            <a:r>
              <a:rPr lang="en-US" sz="2000" dirty="0"/>
              <a:t>(</a:t>
            </a:r>
            <a:r>
              <a:rPr lang="en-US" sz="2000" dirty="0" err="1"/>
              <a:t>startVertex</a:t>
            </a:r>
            <a:r>
              <a:rPr lang="en-US" sz="2000" dirty="0"/>
              <a:t>);</a:t>
            </a:r>
          </a:p>
          <a:p>
            <a:endParaRPr lang="en-US" sz="2000" dirty="0"/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"BFS Traversal starting from vertex " &lt;&lt; </a:t>
            </a:r>
            <a:r>
              <a:rPr lang="en-US" sz="2000" dirty="0" err="1"/>
              <a:t>startVertex</a:t>
            </a:r>
            <a:r>
              <a:rPr lang="en-US" sz="2000" dirty="0"/>
              <a:t> &lt;&lt; ": ";</a:t>
            </a:r>
            <a:endParaRPr lang="en-IN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EBF0B8-0A01-F226-1E01-1A0FA229602A}"/>
              </a:ext>
            </a:extLst>
          </p:cNvPr>
          <p:cNvSpPr/>
          <p:nvPr/>
        </p:nvSpPr>
        <p:spPr>
          <a:xfrm>
            <a:off x="2329400" y="636649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65984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3">
            <a:extLst>
              <a:ext uri="{FF2B5EF4-FFF2-40B4-BE49-F238E27FC236}">
                <a16:creationId xmlns:a16="http://schemas.microsoft.com/office/drawing/2014/main" id="{763772A8-5999-EEFC-2CC9-420BBA7A797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  <a:prstGeom prst="rect">
            <a:avLst/>
          </a:prstGeom>
        </p:spPr>
      </p:pic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07504" y="25260"/>
            <a:ext cx="8712968" cy="857250"/>
          </a:xfrm>
        </p:spPr>
        <p:txBody>
          <a:bodyPr>
            <a:normAutofit/>
          </a:bodyPr>
          <a:lstStyle/>
          <a:p>
            <a:r>
              <a:rPr lang="en-CA" altLang="en-US" sz="32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Implementing BFS traversal in Graph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charset="0"/>
              <a:buNone/>
            </a:pPr>
            <a:r>
              <a:rPr lang="en-CA" altLang="en-US" sz="1800" dirty="0">
                <a:latin typeface="Arial" charset="0"/>
                <a:cs typeface="Arial" charset="0"/>
              </a:rPr>
              <a:t>	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 flipV="1">
            <a:off x="0" y="868530"/>
            <a:ext cx="9144000" cy="2796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6381328"/>
            <a:ext cx="1808820" cy="260018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85293" y="1063660"/>
            <a:ext cx="7981460" cy="733981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BFS Traversal</a:t>
            </a:r>
            <a:endParaRPr lang="en-IN" sz="2400" b="1" dirty="0">
              <a:solidFill>
                <a:schemeClr val="tx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0601" y="1675043"/>
            <a:ext cx="7984641" cy="462915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dirty="0"/>
          </a:p>
          <a:p>
            <a:r>
              <a:rPr lang="en-US" sz="2000" dirty="0"/>
              <a:t>while (!</a:t>
            </a:r>
            <a:r>
              <a:rPr lang="en-US" sz="2000" dirty="0" err="1"/>
              <a:t>q.empty</a:t>
            </a:r>
            <a:r>
              <a:rPr lang="en-US" sz="2000" dirty="0"/>
              <a:t>()) {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int</a:t>
            </a:r>
            <a:r>
              <a:rPr lang="en-US" sz="2000" dirty="0"/>
              <a:t> vertex = </a:t>
            </a:r>
            <a:r>
              <a:rPr lang="en-US" sz="2000" dirty="0" err="1"/>
              <a:t>q.front</a:t>
            </a:r>
            <a:r>
              <a:rPr lang="en-US" sz="2000" dirty="0"/>
              <a:t>();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q.pop</a:t>
            </a:r>
            <a:r>
              <a:rPr lang="en-US" sz="2000" dirty="0"/>
              <a:t>();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cout</a:t>
            </a:r>
            <a:r>
              <a:rPr lang="en-US" sz="2000" dirty="0"/>
              <a:t> &lt;&lt; vertex &lt;&lt; " ";</a:t>
            </a:r>
          </a:p>
          <a:p>
            <a:endParaRPr lang="en-US" sz="2000" dirty="0"/>
          </a:p>
          <a:p>
            <a:r>
              <a:rPr lang="en-US" sz="2000" dirty="0"/>
              <a:t>            for (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adjVertex</a:t>
            </a:r>
            <a:r>
              <a:rPr lang="en-US" sz="2000" dirty="0"/>
              <a:t> : </a:t>
            </a:r>
            <a:r>
              <a:rPr lang="en-US" sz="2000" dirty="0" err="1"/>
              <a:t>adjList</a:t>
            </a:r>
            <a:r>
              <a:rPr lang="en-US" sz="2000" dirty="0"/>
              <a:t>[vertex]) {</a:t>
            </a:r>
          </a:p>
          <a:p>
            <a:r>
              <a:rPr lang="en-US" sz="2000" dirty="0"/>
              <a:t>                if (!visited[</a:t>
            </a:r>
            <a:r>
              <a:rPr lang="en-US" sz="2000" dirty="0" err="1"/>
              <a:t>adjVertex</a:t>
            </a:r>
            <a:r>
              <a:rPr lang="en-US" sz="2000" dirty="0"/>
              <a:t>]) {</a:t>
            </a:r>
          </a:p>
          <a:p>
            <a:r>
              <a:rPr lang="en-US" sz="2000" dirty="0"/>
              <a:t>                    visited[</a:t>
            </a:r>
            <a:r>
              <a:rPr lang="en-US" sz="2000" dirty="0" err="1"/>
              <a:t>adjVertex</a:t>
            </a:r>
            <a:r>
              <a:rPr lang="en-US" sz="2000" dirty="0"/>
              <a:t>] = true;</a:t>
            </a:r>
          </a:p>
          <a:p>
            <a:r>
              <a:rPr lang="en-US" sz="2000" dirty="0"/>
              <a:t>                    </a:t>
            </a:r>
            <a:r>
              <a:rPr lang="en-US" sz="2000" dirty="0" err="1"/>
              <a:t>q.push</a:t>
            </a:r>
            <a:r>
              <a:rPr lang="en-US" sz="2000" dirty="0"/>
              <a:t>(</a:t>
            </a:r>
            <a:r>
              <a:rPr lang="en-US" sz="2000" dirty="0" err="1"/>
              <a:t>adjVertex</a:t>
            </a:r>
            <a:r>
              <a:rPr lang="en-US" sz="2000" dirty="0"/>
              <a:t>);</a:t>
            </a:r>
          </a:p>
          <a:p>
            <a:r>
              <a:rPr lang="en-US" sz="2000" dirty="0"/>
              <a:t>                }</a:t>
            </a:r>
          </a:p>
          <a:p>
            <a:r>
              <a:rPr lang="en-US" sz="2000" dirty="0"/>
              <a:t>            }</a:t>
            </a:r>
          </a:p>
          <a:p>
            <a:r>
              <a:rPr lang="en-US" sz="2000" dirty="0"/>
              <a:t>        }</a:t>
            </a:r>
          </a:p>
          <a:p>
            <a:r>
              <a:rPr lang="en-US" sz="2000" dirty="0"/>
              <a:t>        </a:t>
            </a:r>
            <a:r>
              <a:rPr lang="en-US" sz="2000" dirty="0" err="1"/>
              <a:t>cout</a:t>
            </a:r>
            <a:r>
              <a:rPr lang="en-US" sz="2000" dirty="0"/>
              <a:t> &lt;&lt; </a:t>
            </a:r>
            <a:r>
              <a:rPr lang="en-US" sz="2000" dirty="0" err="1"/>
              <a:t>endl</a:t>
            </a:r>
            <a:r>
              <a:rPr lang="en-US" sz="2000" dirty="0"/>
              <a:t>;</a:t>
            </a:r>
          </a:p>
          <a:p>
            <a:r>
              <a:rPr lang="en-US" sz="2000" dirty="0"/>
              <a:t>    }</a:t>
            </a:r>
            <a:endParaRPr lang="en-IN" sz="2000" dirty="0"/>
          </a:p>
        </p:txBody>
      </p:sp>
      <p:sp>
        <p:nvSpPr>
          <p:cNvPr id="4" name="Rectangle 3"/>
          <p:cNvSpPr/>
          <p:nvPr/>
        </p:nvSpPr>
        <p:spPr>
          <a:xfrm>
            <a:off x="2329400" y="6366497"/>
            <a:ext cx="18473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2522435" y="6318180"/>
            <a:ext cx="65321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>
                <a:hlinkClick r:id="rId4"/>
              </a:rPr>
              <a:t>Access the Complete Code here :https://onlinegdb.com/m5if5mL4_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62782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B8D60C-80F7-2430-9E52-57AC2EF8E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9562DBF-CD28-DCF3-D706-B05E26C08E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A8E884E-BF82-A5DC-EC61-221ACB47310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A487C52-81B5-3511-46F9-74DE51AE5FF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6B0486-9E5D-CA65-D71C-2CF2335D513A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E729CE-D988-D882-0E22-9B77DF310035}"/>
              </a:ext>
            </a:extLst>
          </p:cNvPr>
          <p:cNvSpPr txBox="1"/>
          <p:nvPr/>
        </p:nvSpPr>
        <p:spPr>
          <a:xfrm>
            <a:off x="179512" y="1458149"/>
            <a:ext cx="874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34DAF49-DC24-1791-F5D6-8F5B5809D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77325"/>
            <a:ext cx="80334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QUICK CHECK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AB96D-0B47-8D5F-6E74-DE483F38C9AE}"/>
              </a:ext>
            </a:extLst>
          </p:cNvPr>
          <p:cNvSpPr txBox="1"/>
          <p:nvPr/>
        </p:nvSpPr>
        <p:spPr>
          <a:xfrm>
            <a:off x="36004" y="1131316"/>
            <a:ext cx="9071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5F1535-BEE7-30F0-817C-BD82A0D46DD5}"/>
              </a:ext>
            </a:extLst>
          </p:cNvPr>
          <p:cNvSpPr/>
          <p:nvPr/>
        </p:nvSpPr>
        <p:spPr>
          <a:xfrm>
            <a:off x="395537" y="1293834"/>
            <a:ext cx="8208912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times is a node visited in BFS?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enqueued first: the start node or its neighbors?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operation removes a vertex from the queue?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one application of BFS.</a:t>
            </a:r>
          </a:p>
        </p:txBody>
      </p:sp>
    </p:spTree>
    <p:extLst>
      <p:ext uri="{BB962C8B-B14F-4D97-AF65-F5344CB8AC3E}">
        <p14:creationId xmlns:p14="http://schemas.microsoft.com/office/powerpoint/2010/main" val="9793353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81E4C-D162-3002-34CC-FD0FE9CA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4FEA28-9E8B-1020-048C-C7E81B29289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2A60C1-B63C-0B63-52A5-9F248BC1FDF1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35A168F-73AD-9F3E-4657-9D77C1900F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BD1B8AD-1472-A154-31B1-E4C52BC6C933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5B937BE-7D05-91D2-B287-D174527CDD39}"/>
              </a:ext>
            </a:extLst>
          </p:cNvPr>
          <p:cNvSpPr txBox="1"/>
          <p:nvPr/>
        </p:nvSpPr>
        <p:spPr>
          <a:xfrm>
            <a:off x="179512" y="1458149"/>
            <a:ext cx="874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7E4C91BC-6930-ED2F-ADF9-A6BD51346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77325"/>
            <a:ext cx="80334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QUICK CHECK (ANSWERS)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6434BF-EC39-BDD5-F824-AB104A486BC2}"/>
              </a:ext>
            </a:extLst>
          </p:cNvPr>
          <p:cNvSpPr txBox="1"/>
          <p:nvPr/>
        </p:nvSpPr>
        <p:spPr>
          <a:xfrm>
            <a:off x="36004" y="1131316"/>
            <a:ext cx="9071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18CBA9-8D0E-CD5F-A684-904F5E3384A1}"/>
              </a:ext>
            </a:extLst>
          </p:cNvPr>
          <p:cNvSpPr/>
          <p:nvPr/>
        </p:nvSpPr>
        <p:spPr>
          <a:xfrm>
            <a:off x="395537" y="1293834"/>
            <a:ext cx="8208912" cy="22419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node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Dequeue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/ bipartite check / level order traversal.</a:t>
            </a:r>
          </a:p>
        </p:txBody>
      </p:sp>
    </p:spTree>
    <p:extLst>
      <p:ext uri="{BB962C8B-B14F-4D97-AF65-F5344CB8AC3E}">
        <p14:creationId xmlns:p14="http://schemas.microsoft.com/office/powerpoint/2010/main" val="2881739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3E572-8D7C-B729-FDB9-ACA065280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5B7BCD6-0DD6-35A9-5E75-3DAC20C93E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715E95-58A0-A242-74E2-EEFD8A2309C7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F2503A09-144D-DF72-8598-A74B2C036F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D8F603-A1B6-03CB-D323-3A568FCBB1E7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993982-8CD3-7143-06A0-256673C65A2A}"/>
              </a:ext>
            </a:extLst>
          </p:cNvPr>
          <p:cNvSpPr txBox="1"/>
          <p:nvPr/>
        </p:nvSpPr>
        <p:spPr>
          <a:xfrm>
            <a:off x="179512" y="1458149"/>
            <a:ext cx="874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BBF2937-E4E4-5AEB-EA9F-2EAE9F8411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77325"/>
            <a:ext cx="80334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BFS APPLICATIONS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5733A4-7E9C-DB8B-2975-B1B2EA19E046}"/>
              </a:ext>
            </a:extLst>
          </p:cNvPr>
          <p:cNvSpPr txBox="1"/>
          <p:nvPr/>
        </p:nvSpPr>
        <p:spPr>
          <a:xfrm>
            <a:off x="36004" y="1131316"/>
            <a:ext cx="9071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98DFC5-2E75-9CF4-2C4E-2BEA78536BF4}"/>
              </a:ext>
            </a:extLst>
          </p:cNvPr>
          <p:cNvSpPr/>
          <p:nvPr/>
        </p:nvSpPr>
        <p:spPr>
          <a:xfrm>
            <a:off x="395537" y="1293834"/>
            <a:ext cx="8208912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in Unweighted Graphs: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the minimum number of edges between two vertices.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Order Traversal of Trees: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Visits nodes level by level in binary trees and general trees.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 Connected Components: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which vertices are reachable from a given vertex.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Bipartite Graph Checking: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whether a graph can be colored using two colors.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Crawling: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traverse web pages level by level from a starting page.</a:t>
            </a:r>
          </a:p>
        </p:txBody>
      </p:sp>
    </p:spTree>
    <p:extLst>
      <p:ext uri="{BB962C8B-B14F-4D97-AF65-F5344CB8AC3E}">
        <p14:creationId xmlns:p14="http://schemas.microsoft.com/office/powerpoint/2010/main" val="30689308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79512" y="1458149"/>
            <a:ext cx="874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77325"/>
            <a:ext cx="80334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BFS APPLICATIONS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004" y="1131316"/>
            <a:ext cx="9071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360295" y="1330264"/>
            <a:ext cx="8388169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GPS and Map Navigation (Unweighted paths):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Determines shortest routes when all edges have equal weight.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Broadcasting: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send data to all nodes in minimum time steps.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Network Analysis: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Finds people at a certain “distance” (friends, friends of friends).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Puzzle Solving &amp; Game AI: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in problems like maze solving and minimum-move puzzles.</a:t>
            </a:r>
          </a:p>
          <a:p>
            <a:pPr marL="268288" lvl="0" indent="-268288" algn="just" eaLnBrk="0" fontAlgn="base" hangingPunct="0">
              <a:spcBef>
                <a:spcPts val="600"/>
              </a:spcBef>
              <a:spcAft>
                <a:spcPts val="600"/>
              </a:spcAft>
              <a:buFontTx/>
              <a:buChar char="•"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Garbage Collection Algorithms: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 reachable memory blocks in memory management.</a:t>
            </a:r>
          </a:p>
        </p:txBody>
      </p:sp>
    </p:spTree>
    <p:extLst>
      <p:ext uri="{BB962C8B-B14F-4D97-AF65-F5344CB8AC3E}">
        <p14:creationId xmlns:p14="http://schemas.microsoft.com/office/powerpoint/2010/main" val="16265903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1" y="824789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95536" y="823656"/>
            <a:ext cx="8424934" cy="70173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b="1" dirty="0"/>
              <a:t>Q1 A person wants to visit some places. He starts from a vertex and then wants to visit every place connected to this vertex and so on. What algorithm he should use?</a:t>
            </a:r>
            <a:br>
              <a:rPr lang="en-US" dirty="0"/>
            </a:br>
            <a:r>
              <a:rPr lang="en-US" dirty="0"/>
              <a:t>a) Depth First Search</a:t>
            </a:r>
            <a:br>
              <a:rPr lang="en-US" dirty="0"/>
            </a:br>
            <a:r>
              <a:rPr lang="en-US" dirty="0"/>
              <a:t>b) Breadth First Search</a:t>
            </a:r>
            <a:br>
              <a:rPr lang="en-US" dirty="0"/>
            </a:br>
            <a:r>
              <a:rPr lang="en-US" dirty="0"/>
              <a:t>c) Trim’s algorithm</a:t>
            </a:r>
            <a:br>
              <a:rPr lang="en-US" dirty="0"/>
            </a:br>
            <a:r>
              <a:rPr lang="en-US" dirty="0"/>
              <a:t>d) </a:t>
            </a:r>
            <a:r>
              <a:rPr lang="en-US" dirty="0" err="1"/>
              <a:t>Kruskal’s</a:t>
            </a:r>
            <a:r>
              <a:rPr lang="en-US" dirty="0"/>
              <a:t> algorithm</a:t>
            </a:r>
            <a:endParaRPr lang="en-US" b="1" dirty="0"/>
          </a:p>
          <a:p>
            <a:endParaRPr lang="en-US" b="1" dirty="0"/>
          </a:p>
          <a:p>
            <a:r>
              <a:rPr lang="en-US" b="1" dirty="0"/>
              <a:t>Answer (B)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Q2 Which of the following is not an application of Breadth First Search?</a:t>
            </a:r>
            <a:br>
              <a:rPr lang="en-US" dirty="0"/>
            </a:br>
            <a:r>
              <a:rPr lang="en-US" dirty="0"/>
              <a:t>a) Finding shortest path between two nodes</a:t>
            </a:r>
            <a:br>
              <a:rPr lang="en-US" dirty="0"/>
            </a:br>
            <a:r>
              <a:rPr lang="en-US" dirty="0"/>
              <a:t>b) Finding </a:t>
            </a:r>
            <a:r>
              <a:rPr lang="en-US" dirty="0" err="1"/>
              <a:t>bipartiteness</a:t>
            </a:r>
            <a:r>
              <a:rPr lang="en-US" dirty="0"/>
              <a:t> of a graph</a:t>
            </a:r>
            <a:br>
              <a:rPr lang="en-US" dirty="0"/>
            </a:br>
            <a:r>
              <a:rPr lang="en-US" dirty="0"/>
              <a:t>c) GPS navigation system</a:t>
            </a:r>
            <a:br>
              <a:rPr lang="en-US" dirty="0"/>
            </a:br>
            <a:r>
              <a:rPr lang="en-US" dirty="0"/>
              <a:t>d) Path Finding</a:t>
            </a:r>
          </a:p>
          <a:p>
            <a:endParaRPr lang="en-US" b="1" dirty="0"/>
          </a:p>
          <a:p>
            <a:r>
              <a:rPr lang="en-US" b="1" dirty="0"/>
              <a:t>Answer (D)</a:t>
            </a:r>
          </a:p>
          <a:p>
            <a:endParaRPr lang="en-US" b="1" dirty="0"/>
          </a:p>
          <a:p>
            <a:endParaRPr lang="en-US" b="1" dirty="0"/>
          </a:p>
          <a:p>
            <a:endParaRPr lang="pt-BR" dirty="0"/>
          </a:p>
          <a:p>
            <a:br>
              <a:rPr lang="pt-BR" dirty="0"/>
            </a:br>
            <a:br>
              <a:rPr lang="en-US" dirty="0"/>
            </a:br>
            <a:endParaRPr lang="en-US" dirty="0"/>
          </a:p>
          <a:p>
            <a:endParaRPr lang="en-I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4" y="177325"/>
            <a:ext cx="803349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Test Your Knowledge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62664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1" y="824789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3452" y="823656"/>
            <a:ext cx="83570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Q3  In BFS, how many times a node is visited?</a:t>
            </a:r>
            <a:br>
              <a:rPr lang="en-US" dirty="0"/>
            </a:br>
            <a:r>
              <a:rPr lang="en-US" dirty="0"/>
              <a:t>a) Once</a:t>
            </a:r>
            <a:br>
              <a:rPr lang="en-US" dirty="0"/>
            </a:br>
            <a:r>
              <a:rPr lang="en-US" dirty="0"/>
              <a:t>b) Twice</a:t>
            </a:r>
            <a:br>
              <a:rPr lang="en-US" dirty="0"/>
            </a:br>
            <a:r>
              <a:rPr lang="en-US" dirty="0"/>
              <a:t>c) Equivalent to number of </a:t>
            </a:r>
            <a:r>
              <a:rPr lang="en-US" dirty="0" err="1"/>
              <a:t>indegree</a:t>
            </a:r>
            <a:r>
              <a:rPr lang="en-US" dirty="0"/>
              <a:t> of the node</a:t>
            </a:r>
            <a:br>
              <a:rPr lang="en-US" dirty="0"/>
            </a:br>
            <a:r>
              <a:rPr lang="en-US" dirty="0"/>
              <a:t>d) Thrice</a:t>
            </a:r>
            <a:endParaRPr lang="en-US" b="1" dirty="0"/>
          </a:p>
          <a:p>
            <a:r>
              <a:rPr lang="en-US" b="1" dirty="0"/>
              <a:t>Answer (C)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dirty="0"/>
              <a:t>Q4 </a:t>
            </a:r>
            <a:r>
              <a:rPr lang="en-IN" dirty="0"/>
              <a:t>Consider the following graph, Among the following sequences:</a:t>
            </a:r>
            <a:r>
              <a:rPr lang="en-US" dirty="0"/>
              <a:t>Which is breadth first traversals of the above graph?</a:t>
            </a:r>
            <a:endParaRPr lang="en-IN" dirty="0"/>
          </a:p>
          <a:p>
            <a:endParaRPr lang="en-US" b="1" dirty="0"/>
          </a:p>
          <a:p>
            <a:r>
              <a:rPr lang="en-IN" b="1" dirty="0"/>
              <a:t>A)</a:t>
            </a:r>
            <a:r>
              <a:rPr lang="en-IN" dirty="0"/>
              <a:t> a → e → b → f → g → h </a:t>
            </a:r>
            <a:br>
              <a:rPr lang="en-IN" dirty="0"/>
            </a:br>
            <a:r>
              <a:rPr lang="en-IN" b="1" dirty="0"/>
              <a:t>B)</a:t>
            </a:r>
            <a:r>
              <a:rPr lang="en-IN" dirty="0"/>
              <a:t> a → b → e → h → g → f</a:t>
            </a:r>
            <a:br>
              <a:rPr lang="en-IN" dirty="0"/>
            </a:br>
            <a:r>
              <a:rPr lang="en-IN" b="1" dirty="0"/>
              <a:t>C)</a:t>
            </a:r>
            <a:r>
              <a:rPr lang="en-IN" dirty="0"/>
              <a:t> a → f → b → e → h → g</a:t>
            </a:r>
            <a:br>
              <a:rPr lang="en-IN" dirty="0"/>
            </a:br>
            <a:r>
              <a:rPr lang="en-IN" b="1" dirty="0"/>
              <a:t>D)</a:t>
            </a:r>
            <a:r>
              <a:rPr lang="en-IN" dirty="0"/>
              <a:t> a → e → g → b → h → f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50" y="177325"/>
            <a:ext cx="79655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Test Your Knowledge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63451" y="5255663"/>
            <a:ext cx="124130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/>
              <a:t>Answer (A)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2040" y="3995830"/>
            <a:ext cx="342900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408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752A7-D625-1B76-770E-24E0C43E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48B0817-4712-DC0B-BBA6-3566D8B3F0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51FAEB-3404-E70D-19F4-0F26CEB87B75}"/>
              </a:ext>
            </a:extLst>
          </p:cNvPr>
          <p:cNvCxnSpPr/>
          <p:nvPr/>
        </p:nvCxnSpPr>
        <p:spPr>
          <a:xfrm>
            <a:off x="1" y="824789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5D106425-FA5F-4484-6A51-3ADD51E3E9F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3673C6-9FB3-3168-8FB4-50A53DAB7186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8C03A2-3442-3BCD-C7D0-2B2A49B84D5E}"/>
              </a:ext>
            </a:extLst>
          </p:cNvPr>
          <p:cNvSpPr txBox="1"/>
          <p:nvPr/>
        </p:nvSpPr>
        <p:spPr>
          <a:xfrm>
            <a:off x="463452" y="823656"/>
            <a:ext cx="8357018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IN" dirty="0"/>
              <a:t>Q5. Perform </a:t>
            </a:r>
            <a:r>
              <a:rPr lang="en-IN" b="1" dirty="0"/>
              <a:t>Breadth-First Search (BFS)</a:t>
            </a:r>
            <a:r>
              <a:rPr lang="en-IN" dirty="0"/>
              <a:t> traversal of the given graph starting from vertex </a:t>
            </a:r>
            <a:r>
              <a:rPr lang="en-IN" b="1" dirty="0"/>
              <a:t>M</a:t>
            </a:r>
            <a:r>
              <a:rPr lang="en-IN" dirty="0"/>
              <a:t>. Write the traversal order.</a:t>
            </a:r>
          </a:p>
          <a:p>
            <a:r>
              <a:rPr lang="en-IN" b="1" dirty="0"/>
              <a:t>Answer:</a:t>
            </a:r>
          </a:p>
          <a:p>
            <a:r>
              <a:rPr lang="en-IN" dirty="0"/>
              <a:t>BFS order:</a:t>
            </a:r>
          </a:p>
          <a:p>
            <a:r>
              <a:rPr lang="en-IN" dirty="0"/>
              <a:t>M → N → Q → R → O → P</a:t>
            </a:r>
          </a:p>
          <a:p>
            <a:r>
              <a:rPr lang="en-IN" dirty="0"/>
              <a:t>(Level-wise explanation)</a:t>
            </a:r>
          </a:p>
          <a:p>
            <a:r>
              <a:rPr lang="en-IN" dirty="0"/>
              <a:t>Level 0: M</a:t>
            </a:r>
          </a:p>
          <a:p>
            <a:r>
              <a:rPr lang="en-IN" dirty="0"/>
              <a:t>Level 1: N, Q, R</a:t>
            </a:r>
          </a:p>
          <a:p>
            <a:r>
              <a:rPr lang="en-IN" dirty="0"/>
              <a:t>Level 2: O, P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Q6. What is the order of nodes in the </a:t>
            </a:r>
            <a:r>
              <a:rPr lang="en-IN" b="1" dirty="0"/>
              <a:t>queue</a:t>
            </a:r>
            <a:r>
              <a:rPr lang="en-IN" dirty="0"/>
              <a:t> after visiting node </a:t>
            </a:r>
            <a:r>
              <a:rPr lang="en-IN" b="1" dirty="0"/>
              <a:t>M</a:t>
            </a:r>
            <a:r>
              <a:rPr lang="en-IN" dirty="0"/>
              <a:t> and then node </a:t>
            </a:r>
            <a:r>
              <a:rPr lang="en-IN" b="1" dirty="0"/>
              <a:t>N</a:t>
            </a:r>
            <a:r>
              <a:rPr lang="en-IN" dirty="0"/>
              <a:t>?</a:t>
            </a:r>
          </a:p>
          <a:p>
            <a:r>
              <a:rPr lang="en-IN" b="1" dirty="0"/>
              <a:t>Answer:</a:t>
            </a:r>
          </a:p>
          <a:p>
            <a:r>
              <a:rPr lang="en-IN" dirty="0"/>
              <a:t>Queue after visiting:</a:t>
            </a:r>
          </a:p>
          <a:p>
            <a:r>
              <a:rPr lang="en-IN" dirty="0"/>
              <a:t>M → enqueue (N, Q, R)</a:t>
            </a:r>
          </a:p>
          <a:p>
            <a:r>
              <a:rPr lang="en-IN" dirty="0"/>
              <a:t>Visit N → enqueue O</a:t>
            </a:r>
          </a:p>
          <a:p>
            <a:r>
              <a:rPr lang="en-IN" dirty="0"/>
              <a:t>Final queue:</a:t>
            </a:r>
          </a:p>
          <a:p>
            <a:r>
              <a:rPr lang="en-IN" b="1" dirty="0"/>
              <a:t>Q, R, O</a:t>
            </a:r>
            <a:endParaRPr lang="en-IN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D647EE8-D19E-4AF9-3480-D04919639F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50" y="177325"/>
            <a:ext cx="79655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Test Your Knowledge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47D80EC-D3F6-5B42-5BD6-847921463D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985" y="1853241"/>
            <a:ext cx="2826058" cy="1884038"/>
          </a:xfrm>
          <a:prstGeom prst="rect">
            <a:avLst/>
          </a:prstGeom>
        </p:spPr>
      </p:pic>
      <p:sp>
        <p:nvSpPr>
          <p:cNvPr id="12" name="AutoShape 4" descr="Generated image">
            <a:extLst>
              <a:ext uri="{FF2B5EF4-FFF2-40B4-BE49-F238E27FC236}">
                <a16:creationId xmlns:a16="http://schemas.microsoft.com/office/drawing/2014/main" id="{FCB67166-291B-8425-9348-DEA5D4D477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6" descr="Generated image">
            <a:extLst>
              <a:ext uri="{FF2B5EF4-FFF2-40B4-BE49-F238E27FC236}">
                <a16:creationId xmlns:a16="http://schemas.microsoft.com/office/drawing/2014/main" id="{F63BBC04-C15B-25CB-1BA5-F40446C0B8C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81606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ACD57-0900-AECE-A2F2-05F20C8C9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8168DC-A3E1-92F0-D431-B70AD0B83F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E313A23-C1BE-DBD0-24A6-39B2FF3F1E2D}"/>
              </a:ext>
            </a:extLst>
          </p:cNvPr>
          <p:cNvCxnSpPr/>
          <p:nvPr/>
        </p:nvCxnSpPr>
        <p:spPr>
          <a:xfrm>
            <a:off x="1" y="824789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241AFDAE-D3AA-21CF-B287-4865998D992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8DDF7C-22E7-A33C-787A-CF7F278A7AFF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C1593F1-A029-21B5-962F-25F86869095E}"/>
              </a:ext>
            </a:extLst>
          </p:cNvPr>
          <p:cNvSpPr txBox="1"/>
          <p:nvPr/>
        </p:nvSpPr>
        <p:spPr>
          <a:xfrm>
            <a:off x="463450" y="1087100"/>
            <a:ext cx="83570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Q7. How many levels are formed in the BFS traversal starting from </a:t>
            </a:r>
            <a:r>
              <a:rPr lang="en-IN" b="1" dirty="0"/>
              <a:t>M</a:t>
            </a:r>
            <a:r>
              <a:rPr lang="en-IN" dirty="0"/>
              <a:t>?</a:t>
            </a:r>
          </a:p>
          <a:p>
            <a:r>
              <a:rPr lang="en-IN" b="1" dirty="0"/>
              <a:t>Answer:</a:t>
            </a:r>
          </a:p>
          <a:p>
            <a:r>
              <a:rPr lang="en-IN" b="1" dirty="0"/>
              <a:t>3 levels</a:t>
            </a:r>
            <a:endParaRPr lang="en-IN" dirty="0"/>
          </a:p>
          <a:p>
            <a:r>
              <a:rPr lang="en-IN" dirty="0"/>
              <a:t>(Levels: {M}, {N,Q,R}, {O,P})</a:t>
            </a:r>
          </a:p>
          <a:p>
            <a:br>
              <a:rPr lang="en-IN" dirty="0"/>
            </a:br>
            <a:endParaRPr lang="en-IN" dirty="0"/>
          </a:p>
          <a:p>
            <a:r>
              <a:rPr lang="en-IN" dirty="0"/>
              <a:t>Q8. Which nodes are visited immediately </a:t>
            </a:r>
            <a:r>
              <a:rPr lang="en-IN" b="1" dirty="0"/>
              <a:t>before</a:t>
            </a:r>
            <a:r>
              <a:rPr lang="en-IN" dirty="0"/>
              <a:t> node </a:t>
            </a:r>
            <a:r>
              <a:rPr lang="en-IN" b="1" dirty="0"/>
              <a:t>P</a:t>
            </a:r>
            <a:r>
              <a:rPr lang="en-IN" dirty="0"/>
              <a:t> in BFS order?</a:t>
            </a:r>
          </a:p>
          <a:p>
            <a:r>
              <a:rPr lang="en-IN" b="1" dirty="0"/>
              <a:t>Answer:</a:t>
            </a:r>
          </a:p>
          <a:p>
            <a:r>
              <a:rPr lang="en-IN" b="1" dirty="0"/>
              <a:t>O</a:t>
            </a:r>
            <a:endParaRPr lang="en-IN" dirty="0"/>
          </a:p>
          <a:p>
            <a:r>
              <a:rPr lang="en-IN" dirty="0"/>
              <a:t>(Traversal: M → N → Q → R → O → P)</a:t>
            </a: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F810E3F-D067-5352-1988-54C6144F4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450" y="177325"/>
            <a:ext cx="796557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Test Your Knowledge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8C7DA0-95C9-71D4-2052-D226A20DCA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9249" y="3715367"/>
            <a:ext cx="3116496" cy="2077663"/>
          </a:xfrm>
          <a:prstGeom prst="rect">
            <a:avLst/>
          </a:prstGeom>
        </p:spPr>
      </p:pic>
      <p:sp>
        <p:nvSpPr>
          <p:cNvPr id="12" name="AutoShape 4" descr="Generated image">
            <a:extLst>
              <a:ext uri="{FF2B5EF4-FFF2-40B4-BE49-F238E27FC236}">
                <a16:creationId xmlns:a16="http://schemas.microsoft.com/office/drawing/2014/main" id="{46FCA086-5B5C-0467-9066-C2976F66E3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" name="AutoShape 6" descr="Generated image">
            <a:extLst>
              <a:ext uri="{FF2B5EF4-FFF2-40B4-BE49-F238E27FC236}">
                <a16:creationId xmlns:a16="http://schemas.microsoft.com/office/drawing/2014/main" id="{729A6502-0DC9-0016-6F7B-034BDFB42FB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3004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45A77-53E1-8164-937B-E5CCD2C6E8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68D9A99-2B01-64B8-086B-EA816819D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7C3A5C-3DBA-4AED-0524-91970732C01A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A079F8E-4F60-140D-EE48-8D649F1C81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8FAC2D-BD17-3014-0723-4F6CB3428B6E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AC9E500-7413-C68A-E0B6-7CAF5905787F}"/>
              </a:ext>
            </a:extLst>
          </p:cNvPr>
          <p:cNvSpPr txBox="1"/>
          <p:nvPr/>
        </p:nvSpPr>
        <p:spPr>
          <a:xfrm>
            <a:off x="179512" y="1458149"/>
            <a:ext cx="8748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28B41AA7-15F5-4F4F-4630-C032159E2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536" y="177325"/>
            <a:ext cx="803349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KEY TAKEAWAYS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ECF32E-F877-131D-A60C-DED6A9372F2C}"/>
              </a:ext>
            </a:extLst>
          </p:cNvPr>
          <p:cNvSpPr txBox="1"/>
          <p:nvPr/>
        </p:nvSpPr>
        <p:spPr>
          <a:xfrm>
            <a:off x="36004" y="1131316"/>
            <a:ext cx="90719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 fontAlgn="base">
              <a:buFont typeface="Wingdings" panose="05000000000000000000" pitchFamily="2" charset="2"/>
              <a:buChar char="Ø"/>
            </a:pPr>
            <a:endParaRPr lang="en-US" sz="2400" b="1" dirty="0">
              <a:solidFill>
                <a:srgbClr val="FF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0C1295-3C61-F6C3-118E-A37A447A7575}"/>
              </a:ext>
            </a:extLst>
          </p:cNvPr>
          <p:cNvSpPr/>
          <p:nvPr/>
        </p:nvSpPr>
        <p:spPr>
          <a:xfrm>
            <a:off x="363424" y="1293834"/>
            <a:ext cx="8313031" cy="4457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is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traversal algorithm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visits vertices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 by level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a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(FIFO)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manage the traversal order.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vertex is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visited once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marked to avoid repetition.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is ideal for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shortest path (unweighted graphs)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bipartite checking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level-order traversal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Complexity: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O(V + E)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68288" lvl="0" indent="-268288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Space Complexity: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O(V)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(for queue + visited array)</a:t>
            </a:r>
          </a:p>
        </p:txBody>
      </p:sp>
    </p:spTree>
    <p:extLst>
      <p:ext uri="{BB962C8B-B14F-4D97-AF65-F5344CB8AC3E}">
        <p14:creationId xmlns:p14="http://schemas.microsoft.com/office/powerpoint/2010/main" val="2381770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ADB55-3C53-1960-9802-231A64EC3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46D4054-DC68-23F6-F5BC-F7394AD9E2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92" y="0"/>
            <a:ext cx="9144000" cy="6887292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0560" y="1081481"/>
            <a:ext cx="6267764" cy="4385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endParaRPr lang="en-IN" sz="24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550C769-3FF2-465E-2CF3-1703CA2E5E23}"/>
              </a:ext>
            </a:extLst>
          </p:cNvPr>
          <p:cNvCxnSpPr/>
          <p:nvPr/>
        </p:nvCxnSpPr>
        <p:spPr>
          <a:xfrm>
            <a:off x="13692" y="980728"/>
            <a:ext cx="9144000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B7A1180-1697-901D-882B-382076FF1C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150" y="6278894"/>
            <a:ext cx="1808820" cy="2600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3BD37-21B5-DEC3-9FF3-7821A9653240}"/>
              </a:ext>
            </a:extLst>
          </p:cNvPr>
          <p:cNvSpPr txBox="1"/>
          <p:nvPr/>
        </p:nvSpPr>
        <p:spPr>
          <a:xfrm>
            <a:off x="1277634" y="1827625"/>
            <a:ext cx="6588732" cy="3146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107000"/>
              </a:lnSpc>
            </a:pPr>
            <a:r>
              <a:rPr lang="en-US" sz="135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100" kern="100" dirty="0"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291327" y="1653336"/>
            <a:ext cx="6561347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sz="1350" dirty="0"/>
          </a:p>
        </p:txBody>
      </p:sp>
      <p:sp>
        <p:nvSpPr>
          <p:cNvPr id="3" name="TextBox 2"/>
          <p:cNvSpPr txBox="1"/>
          <p:nvPr/>
        </p:nvSpPr>
        <p:spPr>
          <a:xfrm>
            <a:off x="539552" y="1511993"/>
            <a:ext cx="8208912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5"/>
              </a:rPr>
              <a:t>https://www.boardinfinity.com/blog/graphs-in-data-structure/</a:t>
            </a:r>
            <a:r>
              <a:rPr lang="en-IN" sz="2000" dirty="0"/>
              <a:t>.</a:t>
            </a:r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6"/>
              </a:rPr>
              <a:t>https://www.geeksforgeeks.org/what-is-graph-data-structure/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7"/>
              </a:rPr>
              <a:t>https://www.tutorialspoint.com/data_structures_algorithms/graph_data_structure.html</a:t>
            </a:r>
            <a:r>
              <a:rPr lang="en-IN" sz="2000" dirty="0"/>
              <a:t>.</a:t>
            </a:r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8"/>
              </a:rPr>
              <a:t>https://www.simplilearn.com/tutorials/data-structure-tutorial/graphs-in-data-structure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9"/>
              </a:rPr>
              <a:t>https://www.geeksforgeeks.org/applications-of-graph-data-structure/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10"/>
              </a:rPr>
              <a:t>https://www.upgrad.com/blog/graphs-in-data-structure/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r>
              <a:rPr lang="en-IN" sz="2000" dirty="0">
                <a:hlinkClick r:id="rId11"/>
              </a:rPr>
              <a:t>https://www.youtube.com/watch?v=4IZ80K72OXo</a:t>
            </a: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endParaRPr lang="en-IN" sz="200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endParaRPr lang="en-IN" sz="1350" dirty="0"/>
          </a:p>
          <a:p>
            <a:pPr marL="257175" indent="-257175">
              <a:buFont typeface="Wingdings" panose="05000000000000000000" pitchFamily="2" charset="2"/>
              <a:buChar char="Ø"/>
              <a:tabLst>
                <a:tab pos="683419" algn="l"/>
                <a:tab pos="1369219" algn="l"/>
                <a:tab pos="2055019" algn="l"/>
                <a:tab pos="2740819" algn="l"/>
                <a:tab pos="3426619" algn="l"/>
                <a:tab pos="4112419" algn="l"/>
                <a:tab pos="4798219" algn="l"/>
                <a:tab pos="5484019" algn="l"/>
                <a:tab pos="6169819" algn="l"/>
                <a:tab pos="6855619" algn="l"/>
                <a:tab pos="7541419" algn="l"/>
              </a:tabLst>
            </a:pPr>
            <a:endParaRPr lang="en-IN" sz="1350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64C06AB1-0FEA-D879-1F4C-A54AF13BB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552" y="203420"/>
            <a:ext cx="5979732" cy="623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600" b="1" kern="100" dirty="0">
                <a:solidFill>
                  <a:srgbClr val="E31E24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References</a:t>
            </a:r>
            <a:endParaRPr lang="en-IN" sz="3600" b="1" kern="100" dirty="0">
              <a:solidFill>
                <a:srgbClr val="E31E24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7886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6BD4-0C46-7723-3D33-4A396A199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9D137C-AB62-EEE0-8D48-C1AC00FB7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F0AD931-41F5-5766-D306-C893F5B163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106362-5908-0850-F1E0-F9372D054593}"/>
              </a:ext>
            </a:extLst>
          </p:cNvPr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5C6DA1-3C0A-0EB2-3E6B-C7CFCA82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4960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23967</TotalTime>
  <Words>2105</Words>
  <Application>Microsoft Office PowerPoint</Application>
  <PresentationFormat>On-screen Show (4:3)</PresentationFormat>
  <Paragraphs>386</Paragraphs>
  <Slides>37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Arial</vt:lpstr>
      <vt:lpstr>Calibri</vt:lpstr>
      <vt:lpstr>Garamond</vt:lpstr>
      <vt:lpstr>Sylfaen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Implementing BFS traversal in Graph</vt:lpstr>
      <vt:lpstr>Implementing BFS traversal in Graph</vt:lpstr>
      <vt:lpstr>Implementing BFS traversal in Graph</vt:lpstr>
      <vt:lpstr>Implementing BFS traversal in Graph</vt:lpstr>
      <vt:lpstr>Implementing BFS traversal in Graph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Jyoti Yadav</cp:lastModifiedBy>
  <cp:revision>1487</cp:revision>
  <cp:lastPrinted>2022-09-05T08:43:44Z</cp:lastPrinted>
  <dcterms:created xsi:type="dcterms:W3CDTF">2020-01-16T09:05:56Z</dcterms:created>
  <dcterms:modified xsi:type="dcterms:W3CDTF">2026-01-15T06:41:49Z</dcterms:modified>
</cp:coreProperties>
</file>