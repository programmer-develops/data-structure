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1011" r:id="rId2"/>
    <p:sldId id="993" r:id="rId3"/>
    <p:sldId id="1012" r:id="rId4"/>
    <p:sldId id="691" r:id="rId5"/>
    <p:sldId id="1027" r:id="rId6"/>
    <p:sldId id="930" r:id="rId7"/>
    <p:sldId id="1013" r:id="rId8"/>
    <p:sldId id="300" r:id="rId9"/>
    <p:sldId id="1066" r:id="rId10"/>
    <p:sldId id="262" r:id="rId11"/>
    <p:sldId id="263" r:id="rId12"/>
    <p:sldId id="303" r:id="rId13"/>
    <p:sldId id="264" r:id="rId14"/>
    <p:sldId id="281" r:id="rId15"/>
    <p:sldId id="1080" r:id="rId16"/>
    <p:sldId id="1081" r:id="rId17"/>
    <p:sldId id="265" r:id="rId18"/>
    <p:sldId id="266" r:id="rId19"/>
    <p:sldId id="267" r:id="rId20"/>
    <p:sldId id="268" r:id="rId21"/>
    <p:sldId id="1067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94" r:id="rId34"/>
    <p:sldId id="295" r:id="rId35"/>
    <p:sldId id="296" r:id="rId36"/>
    <p:sldId id="297" r:id="rId37"/>
    <p:sldId id="298" r:id="rId38"/>
    <p:sldId id="282" r:id="rId39"/>
    <p:sldId id="1076" r:id="rId40"/>
    <p:sldId id="284" r:id="rId41"/>
    <p:sldId id="285" r:id="rId42"/>
    <p:sldId id="305" r:id="rId43"/>
    <p:sldId id="286" r:id="rId44"/>
    <p:sldId id="287" r:id="rId45"/>
    <p:sldId id="288" r:id="rId46"/>
    <p:sldId id="1078" r:id="rId47"/>
    <p:sldId id="1077" r:id="rId48"/>
    <p:sldId id="289" r:id="rId49"/>
    <p:sldId id="290" r:id="rId50"/>
    <p:sldId id="291" r:id="rId51"/>
    <p:sldId id="292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1071" r:id="rId60"/>
    <p:sldId id="1072" r:id="rId61"/>
    <p:sldId id="1074" r:id="rId62"/>
    <p:sldId id="1075" r:id="rId63"/>
    <p:sldId id="1079" r:id="rId64"/>
    <p:sldId id="1014" r:id="rId65"/>
    <p:sldId id="269" r:id="rId66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B3"/>
    <a:srgbClr val="E31E24"/>
    <a:srgbClr val="4B0993"/>
    <a:srgbClr val="E83030"/>
    <a:srgbClr val="0060AA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 autoAdjust="0"/>
    <p:restoredTop sz="93883" autoAdjust="0"/>
  </p:normalViewPr>
  <p:slideViewPr>
    <p:cSldViewPr>
      <p:cViewPr varScale="1">
        <p:scale>
          <a:sx n="88" d="100"/>
          <a:sy n="88" d="100"/>
        </p:scale>
        <p:origin x="885" y="57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yoti Yadav" userId="8da2e7729ab2cedd" providerId="LiveId" clId="{741A7A88-242A-459A-A359-2627301AD1E9}"/>
    <pc:docChg chg="modSld">
      <pc:chgData name="Jyoti Yadav" userId="8da2e7729ab2cedd" providerId="LiveId" clId="{741A7A88-242A-459A-A359-2627301AD1E9}" dt="2026-01-15T06:39:40.649" v="24" actId="20577"/>
      <pc:docMkLst>
        <pc:docMk/>
      </pc:docMkLst>
      <pc:sldChg chg="modSp mod">
        <pc:chgData name="Jyoti Yadav" userId="8da2e7729ab2cedd" providerId="LiveId" clId="{741A7A88-242A-459A-A359-2627301AD1E9}" dt="2026-01-15T06:39:40.649" v="24" actId="20577"/>
        <pc:sldMkLst>
          <pc:docMk/>
          <pc:sldMk cId="751646105" sldId="1011"/>
        </pc:sldMkLst>
        <pc:spChg chg="mod">
          <ac:chgData name="Jyoti Yadav" userId="8da2e7729ab2cedd" providerId="LiveId" clId="{741A7A88-242A-459A-A359-2627301AD1E9}" dt="2026-01-15T06:39:31.280" v="5" actId="20577"/>
          <ac:spMkLst>
            <pc:docMk/>
            <pc:sldMk cId="751646105" sldId="1011"/>
            <ac:spMk id="7" creationId="{707A6CE9-669B-DEE3-BF3E-8D5506EAE30B}"/>
          </ac:spMkLst>
        </pc:spChg>
        <pc:spChg chg="mod">
          <ac:chgData name="Jyoti Yadav" userId="8da2e7729ab2cedd" providerId="LiveId" clId="{741A7A88-242A-459A-A359-2627301AD1E9}" dt="2026-01-15T06:39:40.649" v="24" actId="20577"/>
          <ac:spMkLst>
            <pc:docMk/>
            <pc:sldMk cId="751646105" sldId="1011"/>
            <ac:spMk id="9" creationId="{80A128E3-2186-5C09-4DCD-7BC65272487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93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4DFB-3008-8543-633F-58A4FDCE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E617-873D-1C3C-F1FE-596A7096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17E02-BCF9-92D4-5122-7BCC78C01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01162-177B-B734-FFE6-17BCFEDA5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905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54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8777-BC47-2200-6A1C-EB34789B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F4ABC-EEF1-A951-7FAC-1F93C569E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4343-20BB-49D4-3398-79EEED45D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6DA01-74A2-3336-38C9-77FDE5032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104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292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056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52C0A-5BAA-BF88-3455-F66752E5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4B637-3722-E45C-B8ED-6C2496E10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A0D78-B8C2-070C-A75D-39390A1F0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FB704-FDF4-DE6A-D204-FC9442B68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321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729728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6303749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BE539-B463-9085-965A-30B93AA73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64DA6-4D49-1C33-FFC3-42D650D3C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A4649-4611-29A5-AAA1-66BAEFBBC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9F905-662A-5D6A-63A2-67D2A247D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39595-B75E-51D7-F7F6-FD747B4222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96E9A32A-CA7C-AA90-EEA3-34F2DBE41536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49932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C0D07-6538-E570-E7EB-DD39253E1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C2F51-47AE-DD68-8186-507C6B5EF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7473D-ECD5-FE2E-DD6F-9D015A69B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5FC83-41AA-7E0E-CAB1-943D711E9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A74F4-6ADA-B48F-A418-F111E9C839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E6EA59C-9753-EC51-99A1-92D8ACDC9ACF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054307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29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09F53-2F64-A6FA-D753-35A565FD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1E28D4-C6B1-C8D3-3762-C2C38B54B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900241-E5AD-B3C0-1697-BFBC03F4F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830A8-0177-6711-2D83-478190A39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39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F7130-A8B3-50C3-D903-86D985F026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B0334CB-883D-D17D-2086-E0338F1CA45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3273730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369A2-1547-C940-781E-65A2BFB41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9A0B9-8C4F-2650-880C-FC68AA9B1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091A4-C185-9C07-2022-364436028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74080-A623-EFE9-49D5-2460750F2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A58E4-B518-0BE9-0EAD-CE38F78021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7DE85F3-355A-6ABE-47AC-54D614E4A53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58003184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5E2D9-000C-CBC8-BF71-ECBBD55CD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D69D0-7BE2-C048-C9BE-AB6C54B46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5481B-C9A6-5356-D732-A1838544E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F1B06-9E89-3326-1180-D3744B97A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758D3-87EB-1D31-B794-04394030AA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9B2BAB26-1EBB-2E93-6010-73AAC96A511B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14230659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49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55BEF-3F2A-2107-7417-BCD5FDD87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2234E-1C24-4A27-F81F-9E960C532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C8AC7-1E41-DB89-7B41-A378743B1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6B9EF-860C-8028-D71B-9C613082A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BDE07-FB83-FC19-564F-61FB2E7493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BE21AE5-B3C9-950E-CA12-BDC58197A6A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28738461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5031C-D6AA-283E-444B-AC58872CF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2A7D6-B1C7-B162-C9A4-BAE542645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752DF-147B-FC02-F798-86A67EDFD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3FD6C-BFD0-539C-5A0D-ED47FD474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EA841-4D57-32E3-E22F-BBA05C393F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54F4E3EA-6912-7EC8-B431-E4A962F975C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32598365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8CC28-284F-BFAD-B79D-A9E71B788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A0979-D9D5-24C6-7402-2EAFC57BA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55558-EDD6-BA39-10AC-64F3924B6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4C5B0-4138-A982-09EE-1DD3332E9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BA052-4640-C92C-EA18-2EE8010F43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19D59BD-56D5-DD07-EE08-B7DEC5C59C28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81226648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7D4CE-748A-01D4-4BE1-21CE33875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4BBC8F-CB58-1A29-4CF5-8774F182B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79CA1-A69C-03F7-0928-390ECE99A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47698-0DE9-9124-1AA3-04A40ED5B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09387-053F-0E8F-80BB-3A7AFC3AE5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C5958E72-DE79-B3B5-905C-21958CA23A70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60716958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8BFA9-7F1D-9634-EEEA-0A902E290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13325-2C01-97E4-9A62-0423B190F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620BE-8110-5A44-59AE-2E703D9CF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C1D1E-0204-EF85-D96E-5D42C5AE3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9F9D5-7D36-D436-A717-AA365CC037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7674074-39C2-3668-6DC7-F8901508D3D5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57437604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4CC49-436A-C08A-F124-27A8C5F7C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80D721-8F12-A3A6-4ED0-48F7D1412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3FDCAA-8064-C2D8-BA8E-06B0655DE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BA6D3-0ABB-83BB-72BB-9576E0A5A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57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32DB7-7CAA-4525-5F06-359939311E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FAB08F8B-1863-9C04-B26F-69D831C7C312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41676949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D95B0-4E25-2B1A-2D28-EBD60BAA7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CBB6C-92F3-364A-0C01-48117DD33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D1A6D-6A98-3132-ED70-4F92D7EC1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3FBBE-4AF4-935A-37FB-C5D007FDA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58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498E6-7577-BFE7-7757-29EF0D8813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31EA14D-4471-6C41-C10F-454F60022924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19726926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59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87870-69C3-052C-2D34-AB9010CF5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F5D21-8CC7-D704-5F25-376DD49FB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CE45C-1E2C-70D1-4607-5B563FA0A5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7AB84-0995-2E73-205F-1279697C0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pPr/>
              <a:t>63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66337-56ED-5A81-BCA9-0B77DE7B28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IN"/>
              <a:t>Ms.Suman KRMU    Data  Structure Unit3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7B87D03-7E27-75F1-52DC-7C920AA472F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IN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40268755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2238-09A6-8EB0-4295-5007DFCC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80A71-06A5-D1F8-DA16-27247CBDC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9DB18-C22C-0235-39B4-E26D3FB8C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C905F-3127-FA31-973F-892A372D9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341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data-structure-meaning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www.scaler.com/topics/data-structures/queue-in-data-structure/" TargetMode="Externa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avatpoint.com/data-structure-queue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avatpoint.com/data-structure-queue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www.javatpoint.com/data-structure-queue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loner.com/queues-in-data-structures-and-algorithms-dsa/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avatpoint.com/array-representation-of-queue" TargetMode="Externa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hyperlink" Target="https://www.geeksforgeeks.org/basic-operations-for-queue-in-data-structure/" TargetMode="Externa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hyperlink" Target="https://www.geeksforgeeks.org/basic-operations-for-queue-in-data-structure/" TargetMode="Externa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etalrachh.home.blog/2020/02/24/implementing-queue-using-array-in-java/" TargetMode="External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etalrachh.home.blog/2020/02/24/implementing-queue-using-array-in-java/" TargetMode="External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ogramiz.com/dsa/queue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javatpoint.com/data-structure-queue" TargetMode="Externa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aler.com/topics/data-structures/queue-in-data-structure/" TargetMode="External"/><Relationship Id="rId5" Type="http://schemas.openxmlformats.org/officeDocument/2006/relationships/hyperlink" Target="https://www.geeksforgeeks.org/queue-data-structure/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ww.tutorialspoint.com/data_structures_algorithms/queue_algorithm.htm" TargetMode="Externa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0355-B08D-308D-DAFB-1DCEF1C1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E75B-70BC-32F0-9AE3-D3A4E8E6F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8983B-21DD-AA3A-59D7-A404EAAE16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D99E4B-F41D-043D-FE73-335D31AA23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873DE-D9DB-5423-6553-EECC3B910E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52" y="480488"/>
            <a:ext cx="6172601" cy="8887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07A6CE9-669B-DEE3-BF3E-8D5506EAE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625" y="1636320"/>
            <a:ext cx="6372708" cy="1284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ETCCBD201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034320-BE78-5A55-6F19-03B79C05C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619" y="4240831"/>
            <a:ext cx="648072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 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K.R. </a:t>
            </a:r>
            <a:r>
              <a:rPr lang="en-US" b="1" kern="100" dirty="0" err="1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  <a:endParaRPr lang="en-IN" b="1" dirty="0">
              <a:solidFill>
                <a:srgbClr val="E31E24"/>
              </a:solidFill>
              <a:latin typeface="Sylfaen" panose="010A0502050306030303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0A128E3-2186-5C09-4DCD-7BC65272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29000"/>
            <a:ext cx="6372708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Ms. Jyoti Yadav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9C7E5-CE35-9355-4CD6-2B1E6EB9A5AA}"/>
              </a:ext>
            </a:extLst>
          </p:cNvPr>
          <p:cNvSpPr txBox="1"/>
          <p:nvPr/>
        </p:nvSpPr>
        <p:spPr>
          <a:xfrm>
            <a:off x="1178176" y="5615709"/>
            <a:ext cx="7027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 : </a:t>
            </a: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Linear Data Structures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4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47664" y="320012"/>
            <a:ext cx="54693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Unit-2 Linear Data Structures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213558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11	Arrays – 1D &amp; 2D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95536" y="1733775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12	Static &amp; Dynamic Arrays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3243" y="2249884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13	Linked Lists Types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836" y="281152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14	Linked List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3378" y="3324993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15	Stack ADT &amp;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359" y="4262830"/>
            <a:ext cx="835292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	Queue ADT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836" y="477629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18	Queue Applications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536" y="378788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16	 Stack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AA04E-4CF0-1135-99A8-DFA66C9162E6}"/>
              </a:ext>
            </a:extLst>
          </p:cNvPr>
          <p:cNvSpPr txBox="1"/>
          <p:nvPr/>
        </p:nvSpPr>
        <p:spPr>
          <a:xfrm>
            <a:off x="414129" y="5270729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19	BFS using Queue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5B26A0-3162-1565-E432-BE0EB2B54357}"/>
              </a:ext>
            </a:extLst>
          </p:cNvPr>
          <p:cNvSpPr txBox="1"/>
          <p:nvPr/>
        </p:nvSpPr>
        <p:spPr>
          <a:xfrm>
            <a:off x="421836" y="578683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	Revision (Unit–2)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64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9B22-9FA9-1FAA-D08D-F3C8030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9E82FE-96D7-2529-7945-4ACABDB58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685B53-95B0-E1DB-1C9C-F5456893FE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" y="6237312"/>
            <a:ext cx="3060242" cy="439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6DC02-599B-DF7E-0281-3D512FA448DC}"/>
              </a:ext>
            </a:extLst>
          </p:cNvPr>
          <p:cNvSpPr txBox="1"/>
          <p:nvPr/>
        </p:nvSpPr>
        <p:spPr>
          <a:xfrm>
            <a:off x="1277634" y="1827626"/>
            <a:ext cx="6588732" cy="302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350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1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35" y="9478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935" y="10621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6519" y="878322"/>
            <a:ext cx="7315199" cy="424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92280" y="1347520"/>
            <a:ext cx="5861364" cy="5068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Queue ADT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Queue &amp; FIFO Principle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Terminology (Front &amp; Rear)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Queues (Linear, Circular, Priority, Deque)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Queue Operations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Representation of Queue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for Enqueue &amp; Dequeue (Array)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Queue Using Array (Python/C++)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Array Implementation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Representation of Queue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for Linked Queue Operations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Example (Queue A → Queue B ordering)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Problem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176213" lvl="0" indent="-176213" eaLnBrk="0" fontAlgn="base" hangingPunct="0">
              <a:spcBef>
                <a:spcPts val="20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5322" y="255261"/>
            <a:ext cx="4517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ADT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37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</a:t>
            </a: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Stack Applications</a:t>
            </a: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245" y="1242860"/>
            <a:ext cx="8346203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is used for expression evaluation and conversion (infix, prefix, postfix).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function call management using the call stack.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backtracking (e.g., Tower of Hanoi).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reverse data and check balanced parentheses.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operations are efficient and mostly run in O(1) time per push/pop.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81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FECA-5393-67D2-AB3A-88FF12CA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17CCF-9D13-21D7-8A01-B566BD0E2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EEDFDC-CF63-81A9-B0FF-D66EB2B30BC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FCD68A-5D5F-69ED-9E1B-49A119C575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BA3086-797F-DF92-D68F-AC598BD921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C59DB3-3A91-DA7E-7B4A-1DC48C368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09213-D4D2-E2C9-27C9-02B227D89D1F}"/>
              </a:ext>
            </a:extLst>
          </p:cNvPr>
          <p:cNvSpPr txBox="1"/>
          <p:nvPr/>
        </p:nvSpPr>
        <p:spPr>
          <a:xfrm>
            <a:off x="258244" y="1065209"/>
            <a:ext cx="8580969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in the Blanks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Postfix expressions are evaluated using a __________.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Tower of Hanoi is solved using __________ and stack.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stores function return addresses in the __________ stack.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Infix to postfix conversion uses a stack to store __________.</a:t>
            </a:r>
          </a:p>
          <a:p>
            <a:pPr>
              <a:spcBef>
                <a:spcPts val="600"/>
              </a:spcBef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One-Word / Short Answer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notation places operator after operands?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one real-life application of stack.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principle is used by stack?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5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stack operation removes an element?</a:t>
            </a:r>
          </a:p>
          <a:p>
            <a:pPr>
              <a:spcBef>
                <a:spcPts val="600"/>
              </a:spcBef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Application-based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9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postfix preferred over infix for machine evaluation?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 startAt="9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stack help in reversing a string?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07CED-2EE3-4762-E052-FA7C361DC9A8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C732D7C8-79E3-F348-757E-CE701D933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5522B-7DAD-6F72-F197-E3266F677833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F6B204-7BB8-BD04-E03F-2A90C354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09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82594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 (Answers)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8640958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</a:p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</a:t>
            </a:r>
          </a:p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</a:p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</a:p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Postfix</a:t>
            </a:r>
          </a:p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Undo/Redo / Browser history (any one)</a:t>
            </a:r>
          </a:p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</a:t>
            </a:r>
          </a:p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</a:p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avoids parentheses and precedence handling</a:t>
            </a:r>
          </a:p>
          <a:p>
            <a:pPr marL="457200" lvl="0" indent="-457200" eaLnBrk="0" fontAlgn="base" hangingPunct="0">
              <a:spcBef>
                <a:spcPts val="60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pushing characters and popping them in reverse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7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5518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§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1" y="1144905"/>
            <a:ext cx="849694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this lecture, students will be able to: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Queue ADT and explain the FIFO principle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queue components: front and rear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different types of queues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basic operations: enqueue, dequeue, peek,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overflow and underflow conditions in queues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queue using arrays and linked lists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algorithms for queue operations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advantages and limitations of different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3274074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8E17-3BF5-9751-942D-65A32277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D2D022-93FA-2A31-2E26-7E72B3C3C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ADCC02A-5AF8-1D8F-E326-994D9D7D7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20815"/>
            <a:ext cx="39917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>
                <a:solidFill>
                  <a:srgbClr val="FF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Data Structure</a:t>
            </a:r>
            <a:endParaRPr lang="en-IN" sz="3600" b="1" kern="100">
              <a:solidFill>
                <a:srgbClr val="FF0000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085878-D9CE-8CF5-C473-1FE98FFF1D5A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F22722-7D99-9D55-209A-9C9256023D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148AE-576B-FD01-C9AA-823C813591F2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3834"/>
            <a:ext cx="8077200" cy="3963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476865" y="5662989"/>
            <a:ext cx="6553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6"/>
              </a:rPr>
              <a:t>https://www.geeksforgeeks.org/data-structure-meaning/</a:t>
            </a:r>
            <a:endParaRPr lang="en-IN"/>
          </a:p>
          <a:p>
            <a:endParaRPr lang="en-I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6721AA-8D09-9E96-9039-1DF3C3962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 Structure         Unit2  </a:t>
            </a:r>
          </a:p>
        </p:txBody>
      </p:sp>
    </p:spTree>
    <p:extLst>
      <p:ext uri="{BB962C8B-B14F-4D97-AF65-F5344CB8AC3E}">
        <p14:creationId xmlns:p14="http://schemas.microsoft.com/office/powerpoint/2010/main" val="3439256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37331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Structure of Queues?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0734EE-9746-9E1E-DD18-BF795A5F179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800" y="4495800"/>
            <a:ext cx="7010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/>
          </a:p>
          <a:p>
            <a:pPr algn="ctr"/>
            <a:r>
              <a:rPr lang="en-US"/>
              <a:t>Fig 1 : QUEUE</a:t>
            </a:r>
          </a:p>
          <a:p>
            <a:pPr algn="ctr"/>
            <a:r>
              <a:rPr lang="en-US">
                <a:hlinkClick r:id="rId5"/>
              </a:rPr>
              <a:t>https://www.scaler.com/topics/data-structures/queue-in-data-structure/</a:t>
            </a:r>
            <a:endParaRPr lang="en-US"/>
          </a:p>
          <a:p>
            <a:pPr algn="ctr"/>
            <a:endParaRPr lang="en-US"/>
          </a:p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2349" b="35054"/>
          <a:stretch/>
        </p:blipFill>
        <p:spPr bwMode="auto">
          <a:xfrm>
            <a:off x="685800" y="1143001"/>
            <a:ext cx="7772400" cy="3335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9266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-12700"/>
            <a:ext cx="917575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16514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Queues?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4" name="Rectangle 3"/>
          <p:cNvSpPr/>
          <p:nvPr/>
        </p:nvSpPr>
        <p:spPr>
          <a:xfrm>
            <a:off x="179512" y="1143000"/>
            <a:ext cx="8583488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ordered list which enables insert operations to be performed at one end called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delete operations to be performed at another end called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spcBef>
                <a:spcPts val="600"/>
              </a:spcBef>
              <a:buFont typeface="Wingdings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Referred to be as First In First Out list.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87" y="3047686"/>
            <a:ext cx="7177013" cy="1848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995386" y="5105400"/>
            <a:ext cx="75390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6"/>
              </a:rPr>
              <a:t>https://www.javatpoint.com/data-structure-queue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418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311567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Types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1"/>
          <a:stretch/>
        </p:blipFill>
        <p:spPr bwMode="auto">
          <a:xfrm>
            <a:off x="545467" y="1650643"/>
            <a:ext cx="7693025" cy="3392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997844" y="5416275"/>
            <a:ext cx="75390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6"/>
              </a:rPr>
              <a:t>https://www.javatpoint.com/data-structure-queue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62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99588" y="244206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Types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97844" y="5416275"/>
            <a:ext cx="75390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5"/>
              </a:rPr>
              <a:t>https://www.javatpint.com/data-structure-queue</a:t>
            </a:r>
            <a:endParaRPr lang="en-IN"/>
          </a:p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92"/>
          <a:stretch/>
        </p:blipFill>
        <p:spPr bwMode="auto">
          <a:xfrm>
            <a:off x="179512" y="1293834"/>
            <a:ext cx="5943600" cy="1344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54"/>
          <a:stretch/>
        </p:blipFill>
        <p:spPr bwMode="auto">
          <a:xfrm>
            <a:off x="460375" y="3048000"/>
            <a:ext cx="5503503" cy="233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133600"/>
            <a:ext cx="3505201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224" y="4215606"/>
            <a:ext cx="3124200" cy="1393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4447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97349" y="25282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Operations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307974" y="1293834"/>
            <a:ext cx="836848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Enqueue (Insert)</a:t>
            </a: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an element to the rear of the queue.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Dequeue (Delete):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and returns the element from the front of the queue.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Peek: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Returns the element at the front of the queue without removing it.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Checks if the queue is empty.</a:t>
            </a:r>
          </a:p>
          <a:p>
            <a:pPr marL="342900" indent="-342900" algn="just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Checks if the queue is full.</a:t>
            </a:r>
          </a:p>
        </p:txBody>
      </p:sp>
    </p:spTree>
    <p:extLst>
      <p:ext uri="{BB962C8B-B14F-4D97-AF65-F5344CB8AC3E}">
        <p14:creationId xmlns:p14="http://schemas.microsoft.com/office/powerpoint/2010/main" val="782023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326125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Operations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22" y="1448276"/>
            <a:ext cx="7007226" cy="3410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838200" y="4859272"/>
            <a:ext cx="7467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>
                <a:hlinkClick r:id="rId6"/>
              </a:rPr>
              <a:t>https://learnloner.com/queues-in-data-structures-and-algorithms-dsa/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457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0BD77-069F-BEF6-7D4C-586F8D5E5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A015B2-936B-703E-5120-C2DCC2B12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4568193-5F21-03B3-EB3B-3937678FA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26125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Check Your Understanding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D4BC3A-905C-CB63-FA7E-FCCDFEA8C1D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68226FF-2BC2-9BEE-12C5-E3DFEC27E8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295582-0AB9-055E-1E51-070444ADD91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75773D-7983-DE04-C49C-23972F915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AD33FD01-2BD1-511E-8A58-EA824DCFAE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1AC11721-9FA5-E45C-9B53-3DC93FD14C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B7591D-D5EE-B5C1-8E5E-9F38A2BEEB5F}"/>
              </a:ext>
            </a:extLst>
          </p:cNvPr>
          <p:cNvSpPr txBox="1"/>
          <p:nvPr/>
        </p:nvSpPr>
        <p:spPr>
          <a:xfrm>
            <a:off x="307975" y="1401570"/>
            <a:ext cx="8152457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Fill in the blanks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 indent="-360363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follows the __________ principle.</a:t>
            </a:r>
          </a:p>
          <a:p>
            <a:pPr marL="360363" indent="-360363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in a queue is performed at the __________ end.</a:t>
            </a:r>
          </a:p>
          <a:p>
            <a:pPr marL="360363" indent="-360363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in a queue is performed from the __________ end.</a:t>
            </a:r>
          </a:p>
          <a:p>
            <a:pPr marL="360363" indent="-360363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operation used to remove an element is called __________.</a:t>
            </a:r>
          </a:p>
          <a:p>
            <a:pPr>
              <a:spcBef>
                <a:spcPts val="60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answer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363" indent="-360363">
              <a:spcBef>
                <a:spcPts val="600"/>
              </a:spcBef>
              <a:buFont typeface="+mj-lt"/>
              <a:buAutoNum type="arabicPeriod" startAt="5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queue overflow?</a:t>
            </a:r>
          </a:p>
          <a:p>
            <a:pPr marL="360363" indent="-360363">
              <a:spcBef>
                <a:spcPts val="600"/>
              </a:spcBef>
              <a:buFont typeface="+mj-lt"/>
              <a:buAutoNum type="arabicPeriod" startAt="5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any one type of queue.</a:t>
            </a:r>
          </a:p>
        </p:txBody>
      </p:sp>
    </p:spTree>
    <p:extLst>
      <p:ext uri="{BB962C8B-B14F-4D97-AF65-F5344CB8AC3E}">
        <p14:creationId xmlns:p14="http://schemas.microsoft.com/office/powerpoint/2010/main" val="3985043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6D318-5F3C-FB2E-9A9F-F4932E25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76E5D2-0AA3-69FC-2006-B5C6159DED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FC79394-FA77-D54B-FB7E-0F1101DA5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26125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Check Your Understanding (Answers)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4388CE-055C-B188-EBF2-81D19CEFAFC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2ED4367-BD55-A926-A531-6799A6B5E6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FD0329-88EA-BB45-775F-394A242C5EC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B7845-70BC-D5E4-4C51-2E0FE32F9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D5C34A20-E44F-3EEB-D40A-F5D41E2A8B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C8D70C4F-FB70-614D-8FED-A6347F2D9B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66D4E5-8DD5-557F-EE2F-0D7E75F1AFC4}"/>
              </a:ext>
            </a:extLst>
          </p:cNvPr>
          <p:cNvSpPr txBox="1"/>
          <p:nvPr/>
        </p:nvSpPr>
        <p:spPr>
          <a:xfrm>
            <a:off x="307975" y="1401570"/>
            <a:ext cx="8152457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Inserting into full queue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/ Priority / Deque.</a:t>
            </a:r>
          </a:p>
        </p:txBody>
      </p:sp>
    </p:spTree>
    <p:extLst>
      <p:ext uri="{BB962C8B-B14F-4D97-AF65-F5344CB8AC3E}">
        <p14:creationId xmlns:p14="http://schemas.microsoft.com/office/powerpoint/2010/main" val="1012622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9476097C-6961-FCC2-2F1E-F383E15595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5575" y="324273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Working of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228600" y="1295400"/>
            <a:ext cx="86106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letters in the word "ENCRYPT" are stored in Queue A in a random manner. Observe the operations performed to display the letters in their correct order in Queue B so as to form the actual word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br>
              <a:rPr lang="en-US" dirty="0"/>
            </a:br>
            <a:r>
              <a:rPr lang="en-US" dirty="0"/>
              <a:t>  </a:t>
            </a:r>
          </a:p>
        </p:txBody>
      </p:sp>
      <p:pic>
        <p:nvPicPr>
          <p:cNvPr id="327681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656456" y="2906772"/>
            <a:ext cx="7867600" cy="2797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44538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2972A775-E199-A99F-07CD-B50131A20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218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88779" y="880225"/>
            <a:ext cx="7884368" cy="5190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91613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DD4C0677-31FD-02D9-7229-00CBBABAC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320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2775" y="703323"/>
            <a:ext cx="8172400" cy="5540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84817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C292799B-E0AD-6386-CCD4-A44C8D2DCE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42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7808" y="853877"/>
            <a:ext cx="8028384" cy="5352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946524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BA00AB22-A624-94A7-F8AC-04CB443A8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525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752" y="985949"/>
            <a:ext cx="7774964" cy="4886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40990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6F24390E-D291-8C0D-41BA-9BFAE4A60F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627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32955" y="635404"/>
            <a:ext cx="8107427" cy="5587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31511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A4C6EC97-D7ED-C5A0-4DC6-1C1C4A338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729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3439" y="809109"/>
            <a:ext cx="8496944" cy="5239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164833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D86E0725-8469-C227-8D21-0FD7DE9EE8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832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-1" y="228600"/>
            <a:ext cx="9127067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00234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84AEFDC6-10AD-A777-CC7A-74AD5061B5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6934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5575" y="519708"/>
            <a:ext cx="8925436" cy="568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56580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DB31CAF1-AF31-BB0D-F2EA-72D1BE073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7037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600" y="387427"/>
            <a:ext cx="8686799" cy="573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47850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2CDA37C9-7E69-3797-E0A0-BF429D9059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71395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41959" y="346100"/>
            <a:ext cx="7823684" cy="5849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66169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BD7841E3-5384-D9ED-6C9C-8E14BD5039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7241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64924" y="261664"/>
            <a:ext cx="8057281" cy="604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646659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AF0374DB-8464-1E06-BEDA-E47526CE06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7344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55576" y="836712"/>
            <a:ext cx="7677126" cy="5121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3363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9DAFF28F-B15F-1700-167A-91880305A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7446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82627" y="540555"/>
            <a:ext cx="7783016" cy="570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14394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1FEFEC94-03FC-E818-062C-04777C741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7549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09741" y="570293"/>
            <a:ext cx="7830641" cy="5582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358776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445DC9E5-C420-02F5-6A00-15DD6E05E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008" y="370965"/>
            <a:ext cx="842493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IN" sz="3200"/>
            </a:b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7651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33388" y="836712"/>
            <a:ext cx="8277225" cy="510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01053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307974" y="1293834"/>
            <a:ext cx="842372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 adds an element to the end of a Queue?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</a:p>
          <a:p>
            <a:pPr lvl="1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 removes an element from the front of a Queue?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</a:t>
            </a:r>
          </a:p>
          <a:p>
            <a:pPr marL="457200" indent="-457200" algn="just">
              <a:buAutoNum type="alpha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418B97-55C7-24C3-D46B-519D0B4C0CD8}"/>
              </a:ext>
            </a:extLst>
          </p:cNvPr>
          <p:cNvSpPr txBox="1"/>
          <p:nvPr/>
        </p:nvSpPr>
        <p:spPr>
          <a:xfrm>
            <a:off x="219615" y="199650"/>
            <a:ext cx="510107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Test Yourself</a:t>
            </a:r>
          </a:p>
        </p:txBody>
      </p:sp>
    </p:spTree>
    <p:extLst>
      <p:ext uri="{BB962C8B-B14F-4D97-AF65-F5344CB8AC3E}">
        <p14:creationId xmlns:p14="http://schemas.microsoft.com/office/powerpoint/2010/main" val="19883757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16789C95-F72F-51AA-2061-7DE1BC6C7A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395536" y="1293834"/>
            <a:ext cx="8336159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happens when attempting to enqueue an element into a full Queue in an array-based implementation?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The element is added to the end of the Queue, expanding the size of the array.</a:t>
            </a:r>
          </a:p>
          <a:p>
            <a:pPr marL="0" lvl="1"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The element is added to the end of the Queue, and the front element is removed.</a:t>
            </a:r>
          </a:p>
          <a:p>
            <a:pPr marL="0" lvl="1"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The operation fails, as the Queue is full.</a:t>
            </a:r>
          </a:p>
          <a:p>
            <a:pPr marL="0" lvl="1"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The element is added to the beginning of the Queue, shifting all elements one position to the right.</a:t>
            </a:r>
          </a:p>
          <a:p>
            <a:pPr lvl="1" algn="just">
              <a:spcBef>
                <a:spcPts val="600"/>
              </a:spcBef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Bef>
                <a:spcPts val="600"/>
              </a:spcBef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799B1-2C7E-1ADE-A39A-703093303048}"/>
              </a:ext>
            </a:extLst>
          </p:cNvPr>
          <p:cNvSpPr txBox="1"/>
          <p:nvPr/>
        </p:nvSpPr>
        <p:spPr>
          <a:xfrm>
            <a:off x="219615" y="199650"/>
            <a:ext cx="510107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Test Yourself</a:t>
            </a:r>
          </a:p>
        </p:txBody>
      </p:sp>
    </p:spTree>
    <p:extLst>
      <p:ext uri="{BB962C8B-B14F-4D97-AF65-F5344CB8AC3E}">
        <p14:creationId xmlns:p14="http://schemas.microsoft.com/office/powerpoint/2010/main" val="3232546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4FC3BB6D-DF51-8863-3D70-B21CE8F98A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395536" y="1293834"/>
            <a:ext cx="820891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data structures is typically used for the underlying implementation of Queues?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Arrays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Linked Lists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Stacks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Trees</a:t>
            </a:r>
          </a:p>
          <a:p>
            <a:pPr algn="just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two primary operations performed on a Queue?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Insertion and Deletion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Searching and Sorting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Push and Pop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Enqueue and Dequeue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A02ED8-39FC-F678-AD92-9A184089083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9F6AF55-A528-9C44-E21F-8850A47820DE}"/>
              </a:ext>
            </a:extLst>
          </p:cNvPr>
          <p:cNvSpPr txBox="1"/>
          <p:nvPr/>
        </p:nvSpPr>
        <p:spPr>
          <a:xfrm>
            <a:off x="219615" y="199650"/>
            <a:ext cx="510107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Test Yourself</a:t>
            </a:r>
          </a:p>
        </p:txBody>
      </p:sp>
    </p:spTree>
    <p:extLst>
      <p:ext uri="{BB962C8B-B14F-4D97-AF65-F5344CB8AC3E}">
        <p14:creationId xmlns:p14="http://schemas.microsoft.com/office/powerpoint/2010/main" val="17737915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" y="-13692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395536" y="1293834"/>
            <a:ext cx="8336159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array-based implementation of a linear Queue, where is the front pointer initially positioned?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At the beginning of the array</a:t>
            </a:r>
          </a:p>
          <a:p>
            <a:pPr marL="0" lvl="1"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At the end of the array</a:t>
            </a:r>
          </a:p>
          <a:p>
            <a:pPr marL="0" lvl="1"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At a random position within the array</a:t>
            </a:r>
          </a:p>
          <a:p>
            <a:pPr marL="0" lvl="1" algn="just">
              <a:spcBef>
                <a:spcPts val="6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Not applicable, as arrays cannot be used to implement Queues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06DFBE-610F-1B4E-5578-964550F78BBB}"/>
              </a:ext>
            </a:extLst>
          </p:cNvPr>
          <p:cNvSpPr txBox="1"/>
          <p:nvPr/>
        </p:nvSpPr>
        <p:spPr>
          <a:xfrm>
            <a:off x="219615" y="199650"/>
            <a:ext cx="510107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Test Yourself</a:t>
            </a:r>
          </a:p>
        </p:txBody>
      </p:sp>
    </p:spTree>
    <p:extLst>
      <p:ext uri="{BB962C8B-B14F-4D97-AF65-F5344CB8AC3E}">
        <p14:creationId xmlns:p14="http://schemas.microsoft.com/office/powerpoint/2010/main" val="193066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3">
            <a:extLst>
              <a:ext uri="{FF2B5EF4-FFF2-40B4-BE49-F238E27FC236}">
                <a16:creationId xmlns:a16="http://schemas.microsoft.com/office/drawing/2014/main" id="{80426826-3DC3-BEB3-BA8C-3D66B85F8C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352049"/>
            <a:ext cx="82478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(Answers)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307974" y="1480231"/>
            <a:ext cx="845502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Enqueue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Dequeue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Peek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O(1) for both enqueue and dequeue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The operation fails, as the Queue is full.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Linked Lists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Enqueue and Dequeue</a:t>
            </a:r>
          </a:p>
          <a:p>
            <a:pPr marL="457200" indent="-457200" algn="just">
              <a:spcBef>
                <a:spcPts val="600"/>
              </a:spcBef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At the beginning of the array</a:t>
            </a:r>
          </a:p>
          <a:p>
            <a:pPr algn="just">
              <a:spcBef>
                <a:spcPts val="600"/>
              </a:spcBef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8741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1217" y="374787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Implementation of Linear Queues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1A6EA1-8C1D-B955-31AA-869301E7088F}"/>
              </a:ext>
            </a:extLst>
          </p:cNvPr>
          <p:cNvSpPr txBox="1"/>
          <p:nvPr/>
        </p:nvSpPr>
        <p:spPr>
          <a:xfrm>
            <a:off x="323528" y="1295896"/>
            <a:ext cx="8591872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can be implemented using: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9564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FD5A1-D727-3C1F-EF59-5EEBA5AFD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E97669-5E1C-6438-99B1-67B2DFAD4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AA3B089-8BFB-E504-0F1A-31AD86746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17" y="374787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Array based implementation of linear Queues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D6ACE5-B885-FACC-74B3-547B369C74A4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833C483-0E9D-D4B7-6D95-2629525FB8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8200F2-4230-1EDE-251B-B8DD7601758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18A1A-2229-FAD6-8108-40F464D8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38F3D6FF-C4EE-DF1D-E26A-38178F267F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8E862241-2DAF-345C-F8E6-142C19023E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5F6760-50F3-F0EF-4A22-1735D0F96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987" y="1899013"/>
            <a:ext cx="6753944" cy="2488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E528013-9318-902D-F5E0-258459B59426}"/>
              </a:ext>
            </a:extLst>
          </p:cNvPr>
          <p:cNvSpPr/>
          <p:nvPr/>
        </p:nvSpPr>
        <p:spPr>
          <a:xfrm>
            <a:off x="633131" y="4707325"/>
            <a:ext cx="7693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6"/>
              </a:rPr>
              <a:t>https://www.javatpoint.com/array-representation-of-queue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8979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3">
            <a:extLst>
              <a:ext uri="{FF2B5EF4-FFF2-40B4-BE49-F238E27FC236}">
                <a16:creationId xmlns:a16="http://schemas.microsoft.com/office/drawing/2014/main" id="{1D8D4D1F-7352-6C32-042C-7154AD2622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59532" y="315058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Enqueue Operations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12773" y="5562600"/>
            <a:ext cx="7693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https://www.geeksforgeeks.org/basic-operations-for-queue-in-data-structure/</a:t>
            </a: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359532" y="1253795"/>
            <a:ext cx="4572000" cy="40820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Enqueue (Insert): Algorithm</a:t>
            </a:r>
            <a:endParaRPr lang="en-US" sz="32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REAR = MAX - 1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OVERFLOW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step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 OF IF]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FRONT = -1 and REAR = -1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FRONT = REAR = 0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REAR = REAR + 1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 OF IF]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QUEUE[REAR] = NUM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EXIT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3" t="8852" r="12975"/>
          <a:stretch>
            <a:fillRect/>
          </a:stretch>
        </p:blipFill>
        <p:spPr bwMode="auto">
          <a:xfrm>
            <a:off x="4571999" y="1263374"/>
            <a:ext cx="4212469" cy="3841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49815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3">
            <a:extLst>
              <a:ext uri="{FF2B5EF4-FFF2-40B4-BE49-F238E27FC236}">
                <a16:creationId xmlns:a16="http://schemas.microsoft.com/office/drawing/2014/main" id="{D1E41451-839A-C539-06CD-F4BDA23CE8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51755" y="374568"/>
            <a:ext cx="81051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Dequeue Operation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3706688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12775" y="5334679"/>
            <a:ext cx="7693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https://www.geeksforgeeks.org/basic-operations-for-queue-in-data-structure/</a:t>
            </a: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351755" y="1498735"/>
            <a:ext cx="4264025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FRONT = -1 or FRONT &gt; REAR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UNDERFLOW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VAL = QUEUE[FRONT]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FRONT = FRONT + 1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 OF IF]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EXIT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995" y="2047191"/>
            <a:ext cx="5048250" cy="299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91424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07974" y="352049"/>
            <a:ext cx="81194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Implementation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995"/>
          <a:stretch>
            <a:fillRect/>
          </a:stretch>
        </p:blipFill>
        <p:spPr bwMode="auto">
          <a:xfrm>
            <a:off x="460375" y="1942828"/>
            <a:ext cx="8437819" cy="3145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668679" y="5003869"/>
            <a:ext cx="83517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https://hetalrachh.home.blog/2020/02/24/implementing-queue-using-array-in-java/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16513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A89ACBD6-3C88-A4DA-E1D2-20ABF6AA7B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  <a:prstGeom prst="rect">
            <a:avLst/>
          </a:prstGeom>
        </p:spPr>
      </p:pic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8" t="21027"/>
          <a:stretch>
            <a:fillRect/>
          </a:stretch>
        </p:blipFill>
        <p:spPr>
          <a:xfrm>
            <a:off x="685800" y="1447800"/>
            <a:ext cx="8458200" cy="54375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04800" y="352049"/>
            <a:ext cx="812259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Implementation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43"/>
          <a:stretch>
            <a:fillRect/>
          </a:stretch>
        </p:blipFill>
        <p:spPr bwMode="auto">
          <a:xfrm>
            <a:off x="304800" y="1837934"/>
            <a:ext cx="8437819" cy="3683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612774" y="5662989"/>
            <a:ext cx="83517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https://hetalrachh.home.blog/2020/02/24/implementing-queue-using-array-in-java/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9566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07974" y="476673"/>
            <a:ext cx="818896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Practice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349766" y="1103294"/>
            <a:ext cx="8105384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IN" sz="24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Question:</a:t>
            </a:r>
            <a:r>
              <a:rPr lang="en-IN" sz="2400" kern="1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set of numbers are given in Queue A. With the help of queue B, deque the elements in DESCENDING order.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4" r="36137" b="1"/>
          <a:stretch/>
        </p:blipFill>
        <p:spPr bwMode="auto">
          <a:xfrm>
            <a:off x="2195736" y="2448721"/>
            <a:ext cx="5256584" cy="3649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85291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0374" y="352049"/>
            <a:ext cx="85041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Code for Queue Operations Using Array (Python)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460375" y="1293834"/>
            <a:ext cx="4572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Queue implementation using array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= [0] * 100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100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= -1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 = -1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insert():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global front, rear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rear == n - 1: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print("Queue Overflow")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front == -1: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front = 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int(input("Insert the element in queue: "))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rear += 1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queue[rear]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A42FA9-A9F5-983F-ADC3-45B426122030}"/>
              </a:ext>
            </a:extLst>
          </p:cNvPr>
          <p:cNvSpPr txBox="1"/>
          <p:nvPr/>
        </p:nvSpPr>
        <p:spPr>
          <a:xfrm>
            <a:off x="4471058" y="1316257"/>
            <a:ext cx="461818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delete():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global front, rear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front == -1 or front &gt; rear: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print("Queue Underflow")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print("Element deleted from queue is:", queue[front])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front += 1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display():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front == -1 or front &gt; rear: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print("Queue is empty")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print("Queue elements are:", end=" ")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range(front, rear + 1):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print(queue[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end=" ")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print()</a:t>
            </a:r>
          </a:p>
        </p:txBody>
      </p:sp>
    </p:spTree>
    <p:extLst>
      <p:ext uri="{BB962C8B-B14F-4D97-AF65-F5344CB8AC3E}">
        <p14:creationId xmlns:p14="http://schemas.microsoft.com/office/powerpoint/2010/main" val="34431689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93FEB-B52A-AC09-E721-098E51BAC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CC3F1C-E93C-2485-71B8-CE7A9215B0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28B2B2F-83C5-587C-496F-9F58E17FE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4" y="352049"/>
            <a:ext cx="85280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Code for Queue Operations Using Array (Python)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C315B78-8C57-EA0E-A05A-DDBFCEE5D88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42C1B94-30A3-8B5B-C1F1-4AF3B964D7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BEC32C-55BC-2AB9-87D2-6F654AB05B39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E45B5C-3598-247B-D840-52354381A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5A8ECEB7-E614-1CE7-A5C9-2E85FF210B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994F7497-0D2E-78B3-A330-E74E32334A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C69792C8-1A02-BB8F-2CA8-DD677F8C02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DB36E4-7AC2-5AA5-6B46-FA6761D7C55E}"/>
              </a:ext>
            </a:extLst>
          </p:cNvPr>
          <p:cNvSpPr/>
          <p:nvPr/>
        </p:nvSpPr>
        <p:spPr>
          <a:xfrm>
            <a:off x="460375" y="1293834"/>
            <a:ext cx="4572000" cy="461664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 main():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 True: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print("\n1) Insert element to queue")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print("2) Delete element from queue")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print("3) Display all the elements of queue")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print("4) Exit")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int(input("Enter your choice: "))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2561B3-DAE2-1714-455A-75D233891359}"/>
              </a:ext>
            </a:extLst>
          </p:cNvPr>
          <p:cNvSpPr txBox="1"/>
          <p:nvPr/>
        </p:nvSpPr>
        <p:spPr>
          <a:xfrm>
            <a:off x="5215275" y="1434226"/>
            <a:ext cx="37444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1: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insert()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2: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delete()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3: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display()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4: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print("Exit")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break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print("Invalid choice")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__name__ == "__main__":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main()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379603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A2603-F0C9-BF97-EA4A-373E2A7F9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1F3C694-1EDA-AF22-72E6-78DD1BC6B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B25BB51-8DA4-B3B8-E2E3-9C8E2AD88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4" y="352049"/>
            <a:ext cx="79670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Code for Queue Operations Using Array (C++)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00E804-862C-7967-ADD1-D49A162F4E9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2C10C09-C70F-7C30-210B-7D880463C3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204067-A753-B703-D6C5-E687C4B20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35C0B6-2858-7AFA-D098-827783B77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1E423E8E-5334-F87C-F2E4-CE39B668CA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E74DBC9F-8CF8-E8EB-19E3-943F31475D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21F54E67-EB3A-C56B-43FB-8B8A162800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548BFD-F203-F8A7-A717-7FAB91A696B7}"/>
              </a:ext>
            </a:extLst>
          </p:cNvPr>
          <p:cNvSpPr/>
          <p:nvPr/>
        </p:nvSpPr>
        <p:spPr>
          <a:xfrm>
            <a:off x="460375" y="1293834"/>
            <a:ext cx="4572000" cy="43396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queue[100], n = 100, front = - 1, rear = - 1;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Insert() {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 (rear == n - 1)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&lt;&lt;"Queue Overflow"&lt;&lt;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else {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 (front == - 1)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front = 0;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&lt;&lt;"Insert the element in</a:t>
            </a:r>
          </a:p>
        </p:txBody>
      </p:sp>
    </p:spTree>
    <p:extLst>
      <p:ext uri="{BB962C8B-B14F-4D97-AF65-F5344CB8AC3E}">
        <p14:creationId xmlns:p14="http://schemas.microsoft.com/office/powerpoint/2010/main" val="7349752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460374" y="1293833"/>
            <a:ext cx="8360097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: 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rear++;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queue[rear] =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}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Delete()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   if (front == - 1 || front &gt; rear) {    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&lt;&lt;"Queue Underflow ";       return ;    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else {  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&lt;&lt;"Element deleted from queue is : "&lt;&lt; queue[front] 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front++;;    } }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65648DA-0CCC-0B62-051A-923FA4CF8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4" y="352049"/>
            <a:ext cx="79670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Code for Queue Operations Using Array (C++)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4023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612775" y="1093807"/>
            <a:ext cx="7461448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   if (front == - 1)    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&lt;&lt;"Queue is empty"&lt;&lt;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else {      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&lt;&lt;"Queue elements are : ";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for (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= front; i &lt;= rear; i++)  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&lt;&lt;queue[i]&lt;&lt;" ";      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} }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   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&lt;&lt;“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Insert element to queue"&lt;&lt;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&lt;&lt;“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Delete element from queue"&lt;&lt;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Display all the elements of queue"&lt;&lt;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&lt;&lt;“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Exit"&lt;&lt;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BFBD946-8B98-4EA7-CA6D-711803824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4" y="352049"/>
            <a:ext cx="79670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Code for Queue Operations Using Array (C++)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04327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458" y="352049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648728" y="1203245"/>
            <a:ext cx="7388225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{      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&lt;&lt;"Enter your choice : 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  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     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case 1: Insert();  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break;          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2: Delete();      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break;        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case 3: Display();        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break;          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4: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&lt;&lt;"Exit"&lt;&lt;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      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break;         </a:t>
            </a:r>
          </a:p>
          <a:p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default: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&lt;&lt;"Invalid choice"&lt;&lt;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      }    } while(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!=4);    return 0; }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BBF9317-E95F-121B-76FE-0FCAEBA59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4" y="352049"/>
            <a:ext cx="79670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Code for Queue Operations Using Array (C++) 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84526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5536" y="352049"/>
            <a:ext cx="803185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Output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460374" y="1061448"/>
            <a:ext cx="754062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element to queue </a:t>
            </a:r>
          </a:p>
          <a:p>
            <a:pPr marL="457200" indent="-45720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element from queue </a:t>
            </a:r>
          </a:p>
          <a:p>
            <a:pPr marL="457200" indent="-45720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 all the elements of queue </a:t>
            </a:r>
          </a:p>
          <a:p>
            <a:pPr marL="457200" indent="-457200">
              <a:buAutoNum type="arabicParenR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Exit Enter your choice : 1 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element in queue : 4 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your choice : 1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element in queue : 3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your choice : 1 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the element in queue : 5 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your choice : 2 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deleted from queue is : 4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your choice : 3 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elements are : 3 5</a:t>
            </a:r>
          </a:p>
          <a:p>
            <a:pPr lvl="2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your choice : 7 Invalid </a:t>
            </a:r>
          </a:p>
        </p:txBody>
      </p:sp>
    </p:spTree>
    <p:extLst>
      <p:ext uri="{BB962C8B-B14F-4D97-AF65-F5344CB8AC3E}">
        <p14:creationId xmlns:p14="http://schemas.microsoft.com/office/powerpoint/2010/main" val="32880541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79ACF-3422-78F0-94E1-CA024B3CF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CA614C-3160-9A17-174D-8A11E03ED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3E55C76-A191-0E7E-2211-DECCEE3FF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4" y="352049"/>
            <a:ext cx="81194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Drawback of array implementation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4EF7D0-7513-F7F0-B630-324D4F35128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5192A9B-55BA-C85E-DF00-D460D2A164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6283A0-E12A-3581-A6C6-77D7529E429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04B059-CD94-0331-5766-882CB3832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56F5E297-4E53-5602-1E1B-CDB8A5B108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225BCC81-3DD9-968A-33C8-2DDC88175F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D74F95A3-7E97-8D44-AF9C-6B479DB09E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39DC4B-FC83-DA9B-43A3-E3CAC045C08A}"/>
              </a:ext>
            </a:extLst>
          </p:cNvPr>
          <p:cNvSpPr/>
          <p:nvPr/>
        </p:nvSpPr>
        <p:spPr>
          <a:xfrm>
            <a:off x="403187" y="1547351"/>
            <a:ext cx="79289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wastage </a:t>
            </a:r>
          </a:p>
          <a:p>
            <a:pPr marL="457200" indent="-457200">
              <a:buFontTx/>
              <a:buAutoNum type="arabicParenR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Deciding the array size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rray representation of Queue">
            <a:extLst>
              <a:ext uri="{FF2B5EF4-FFF2-40B4-BE49-F238E27FC236}">
                <a16:creationId xmlns:a16="http://schemas.microsoft.com/office/drawing/2014/main" id="{D6ACA12C-DE92-51DD-0F4D-0D48159119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139"/>
          <a:stretch>
            <a:fillRect/>
          </a:stretch>
        </p:blipFill>
        <p:spPr bwMode="auto">
          <a:xfrm>
            <a:off x="1115616" y="3061173"/>
            <a:ext cx="6677025" cy="1191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16667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40D43-9C82-B3CF-A09F-92A59AF48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63C50A-1154-9E7C-D9FB-5C2A1B99D0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DA42D3F-7C55-9BD4-0B3D-8131A895F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4" y="352049"/>
            <a:ext cx="796701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Implementation of Queue using Linked List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299826-EBE1-EFA5-703E-4FF6FBE2D2D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336E8BD-4E08-30BA-6F77-8E46603F8D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3D948E-48FE-55C9-0DF2-BBA15863935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041058-46E6-A358-63E8-D10202799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F25CDF54-7B2B-871A-98B1-4D7E7B8973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0C446BA7-4625-9078-D43F-400FA297EB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0C2EA10E-5E04-7FEF-7C5D-B98B3D6883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0" name="Picture 2" descr="Linked List implementation of Queue">
            <a:extLst>
              <a:ext uri="{FF2B5EF4-FFF2-40B4-BE49-F238E27FC236}">
                <a16:creationId xmlns:a16="http://schemas.microsoft.com/office/drawing/2014/main" id="{FF805B3B-B8EC-66EE-0D14-626C7AD73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243" y="3633379"/>
            <a:ext cx="6296025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74E00A-EC3A-466B-BCFB-01D3FA2AF81C}"/>
              </a:ext>
            </a:extLst>
          </p:cNvPr>
          <p:cNvSpPr txBox="1"/>
          <p:nvPr/>
        </p:nvSpPr>
        <p:spPr>
          <a:xfrm>
            <a:off x="460374" y="1300210"/>
            <a:ext cx="8072066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 linked queue, each node of the queue consists of two parts i.e. data part and the link part. </a:t>
            </a:r>
          </a:p>
          <a:p>
            <a:pPr marL="34290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element of the queue points to its immediate next element in the memory.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8380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F4D66-641E-F5DD-B1CC-88C648399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308152-D4E9-8DB1-9F88-E0A07E6CBB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C549045-996D-39AD-E648-016D6F4CE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52049"/>
            <a:ext cx="80858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Operation on Linked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7E7B17-4367-156C-6BB3-14074B2612A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070E89D-F3E9-A67E-AEF6-C3012BD25C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921A70-C5F9-8DAD-F54B-489DB6CF754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6D8A5-877A-9599-C790-9DBC4892D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C378CB61-24EF-A992-F6EF-BF32CE8E1F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6F46E5E9-5176-AE97-F257-58C44C5E16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18CEBEAB-5829-7D5F-82C7-B0F2E35EF9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E10588-FB64-6C37-990E-8927BF306A9C}"/>
              </a:ext>
            </a:extLst>
          </p:cNvPr>
          <p:cNvSpPr txBox="1"/>
          <p:nvPr/>
        </p:nvSpPr>
        <p:spPr>
          <a:xfrm>
            <a:off x="341503" y="1219497"/>
            <a:ext cx="8406961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operation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 element will be the last element of the queue.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Firstly, allocate the memory for the new node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 (struct node *) malloc (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(struct node));  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can be two scenarios of inserting this new node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the linked queue.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Queues is empty</a:t>
            </a:r>
          </a:p>
          <a:p>
            <a:pPr marL="360363"/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-&gt; data = item;  </a:t>
            </a:r>
          </a:p>
          <a:p>
            <a:pPr marL="360363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(front == NULL)  </a:t>
            </a:r>
          </a:p>
          <a:p>
            <a:pPr marL="360363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{  </a:t>
            </a:r>
          </a:p>
          <a:p>
            <a:pPr marL="360363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front = 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  </a:t>
            </a:r>
          </a:p>
          <a:p>
            <a:pPr marL="360363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rear = 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    </a:t>
            </a:r>
          </a:p>
          <a:p>
            <a:pPr marL="360363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front -&gt; next = NULL;  </a:t>
            </a:r>
          </a:p>
          <a:p>
            <a:pPr marL="360363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rear -&gt; next = NULL;  </a:t>
            </a:r>
          </a:p>
          <a:p>
            <a:pPr marL="360363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}  </a:t>
            </a:r>
          </a:p>
        </p:txBody>
      </p:sp>
    </p:spTree>
    <p:extLst>
      <p:ext uri="{BB962C8B-B14F-4D97-AF65-F5344CB8AC3E}">
        <p14:creationId xmlns:p14="http://schemas.microsoft.com/office/powerpoint/2010/main" val="24076416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6FC08-3267-DFE0-035B-CE3A7EF87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E7615F-5A5B-40BB-BA9D-F7126385A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E86ED55-B237-2FCC-CD78-76C7E31C0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52049"/>
            <a:ext cx="80858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Operation on Linked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3D9EAA-8421-A8A2-6C8B-16FE58AA5F8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188C889-BCB3-F5CE-F8E1-1A0E39CCB1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B0A98B-65A9-7147-7433-F53BEB21D7D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B19C5C-CCD0-1E49-0073-04AD8FB18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EE9E026E-5D36-62B4-9DF8-ECCB10D61E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71B8E90D-FDB9-5B53-6C21-C3A0C65B59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D8C071B9-B71D-F49B-B5B5-6F1DA57354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09EBEA-62AA-6CF4-85E7-2107518B095B}"/>
              </a:ext>
            </a:extLst>
          </p:cNvPr>
          <p:cNvSpPr txBox="1"/>
          <p:nvPr/>
        </p:nvSpPr>
        <p:spPr>
          <a:xfrm>
            <a:off x="341503" y="1219497"/>
            <a:ext cx="883901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queue contains more than one element.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rear -&gt; next = 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  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rear = 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  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    rear-&gt;next = NULL; </a:t>
            </a:r>
            <a:r>
              <a:rPr lang="en-US" sz="2400" dirty="0"/>
              <a:t> 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503362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1418D-959E-F68A-82FD-D3D381F9C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6D6A413-9322-195A-CB7A-103A30B9E8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70DFDAD-BEBA-C557-9BB7-9D30DED1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67438"/>
            <a:ext cx="808589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E31E24"/>
                </a:solidFill>
                <a:cs typeface="Times New Roman" panose="02020603050405020304" pitchFamily="18" charset="0"/>
              </a:rPr>
              <a:t>Algorithm for insert Operation on Linked Queue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E6B0BB-FB25-78AE-3BFA-763880A67EF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F4548F7-E3D8-53DD-73B9-41E83FFB84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7A40A1-476A-8D9E-A2BE-20718EF175F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D6224-4C0D-8368-1F9C-0F8D1479C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256BB743-1801-34E9-B8AB-55BBADC3C5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FB1942C2-4D90-41F3-A3A7-86F4B5A71F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60F85FD1-3CAA-7F9C-37BF-234915D0DE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069CC3-8B9B-C6F6-C651-4C3CC443AD03}"/>
              </a:ext>
            </a:extLst>
          </p:cNvPr>
          <p:cNvSpPr txBox="1"/>
          <p:nvPr/>
        </p:nvSpPr>
        <p:spPr>
          <a:xfrm>
            <a:off x="341503" y="1219497"/>
            <a:ext cx="883901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Allocate the space for the new node PTR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PTR -&gt; DATA = VAL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FRONT = NULL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FRONT = REAR = PTR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FRONT -&gt; NEXT = REAR -&gt; NEXT = NULL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REAR -&gt; NEXT = PTR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REAR = PTR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REAR -&gt; NEXT = NULL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 OF IF]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END</a:t>
            </a:r>
          </a:p>
        </p:txBody>
      </p:sp>
    </p:spTree>
    <p:extLst>
      <p:ext uri="{BB962C8B-B14F-4D97-AF65-F5344CB8AC3E}">
        <p14:creationId xmlns:p14="http://schemas.microsoft.com/office/powerpoint/2010/main" val="22142620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C02CE-0DE7-6338-69CF-7CB3CEA7F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62D417-1DEF-3AC8-BC7B-F0D85168E9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B4BD3E5-54E5-BF6B-4276-ADBFA2F49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52049"/>
            <a:ext cx="80858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solidFill>
                  <a:srgbClr val="E31E24"/>
                </a:solidFill>
                <a:cs typeface="Times New Roman" panose="02020603050405020304" pitchFamily="18" charset="0"/>
              </a:rPr>
              <a:t>Delete Operation on Linked Queue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77EAEF-8B75-EFD2-3833-2D9E700D259C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7F8204E-B381-D3D5-4642-4F49811313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EACC9E-531D-B01F-B20E-934D41075EB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77DA36-496C-A0A5-0FD6-154A192B6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2B08F656-3FF2-FE3B-3C87-138B7DF3F0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D76C7945-DE36-375C-414B-67489C2E8F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2C8EA54A-6F4B-4BF0-E0B1-F26307FD3C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FEE5D3-2E70-9F24-3F5C-461BB1B875DA}"/>
              </a:ext>
            </a:extLst>
          </p:cNvPr>
          <p:cNvSpPr txBox="1"/>
          <p:nvPr/>
        </p:nvSpPr>
        <p:spPr>
          <a:xfrm>
            <a:off x="341503" y="1480231"/>
            <a:ext cx="808589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operation removes the element that is first inserted among all the queue elements.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 front;  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front = front -&gt; next;  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free(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  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599250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7615B-08FF-690C-C0D3-F11218466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9E3422-A79B-657C-2B4F-114876B94B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8B97B92-8B7F-7657-40E3-02D0E3278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67438"/>
            <a:ext cx="808589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E31E24"/>
                </a:solidFill>
                <a:cs typeface="Times New Roman" panose="02020603050405020304" pitchFamily="18" charset="0"/>
              </a:rPr>
              <a:t>Algorithm for Delete Operation on Linked Queue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B623DD-CFB1-F6A5-1F51-545CB4B40ED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C6DC8C3-FE39-B314-BA5A-4CEBE30ECA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CE3412-FCB8-ECB4-3139-37C226664FA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0B531D-05B2-9193-8A22-FFB7693C9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B30046F8-00AA-2B4E-F11F-86C83EBC73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9E8CEF80-FCCF-5F8C-C0B2-EAB0BA0F37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E60EE9D7-D629-53C0-3368-8DF72D755F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319794-E777-38E3-1284-2E1FF57B31C3}"/>
              </a:ext>
            </a:extLst>
          </p:cNvPr>
          <p:cNvSpPr txBox="1"/>
          <p:nvPr/>
        </p:nvSpPr>
        <p:spPr>
          <a:xfrm>
            <a:off x="432994" y="1195471"/>
            <a:ext cx="7902905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FRONT = NULL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" Underflow "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Step 5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[END OF IF]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PTR = FRONT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SET FRONT = FRONT -&gt; NEXT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FREE PTR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END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1517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60374" y="1293834"/>
            <a:ext cx="827132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Which operation adds an element to the end of a Queue?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Enqueue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Dequeue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Peek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Push</a:t>
            </a:r>
          </a:p>
          <a:p>
            <a:pPr lvl="1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Which operation removes an element from the front of a Queue?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Enqueue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Dequeue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Peek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Pus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CBDC89C-7E86-EA75-03AB-4BF9C0FEC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67438"/>
            <a:ext cx="808589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E31E24"/>
                </a:solidFill>
                <a:cs typeface="Times New Roman" panose="02020603050405020304" pitchFamily="18" charset="0"/>
              </a:rPr>
              <a:t>Check Your Understanding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67933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00C387D9-16D2-6037-7BCB-33B8D478B2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-36513" y="104371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60375" y="1043718"/>
            <a:ext cx="8072066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What happens when attempting to enqueue an element into a full Queue in an array-based implementation?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The element is added to the end of the Queue, expanding the size of the array.</a:t>
            </a:r>
          </a:p>
          <a:p>
            <a:pPr marL="0" lvl="1" algn="just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The element is added to the end of the Queue, and the front element is removed.</a:t>
            </a:r>
          </a:p>
          <a:p>
            <a:pPr marL="0" lvl="1" algn="just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The operation fails, as the Queue is full.</a:t>
            </a:r>
          </a:p>
          <a:p>
            <a:pPr marL="0" lvl="1" algn="just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The element is added to the beginning of the Queue, shifting all elements one position to the right.</a:t>
            </a:r>
          </a:p>
          <a:p>
            <a:pPr algn="just"/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Which of the following data structures is typically used for the underlying implementation of Queues?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Arrays</a:t>
            </a:r>
          </a:p>
          <a:p>
            <a:pPr marL="0" lvl="1" algn="just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Linked Lists</a:t>
            </a:r>
          </a:p>
          <a:p>
            <a:pPr marL="0" lvl="1" algn="just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Stacks</a:t>
            </a:r>
          </a:p>
          <a:p>
            <a:pPr marL="0" lvl="1" algn="just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Trees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8742F6-8F27-FA5B-03D1-ACF8633A5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67438"/>
            <a:ext cx="808589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E31E24"/>
                </a:solidFill>
                <a:cs typeface="Times New Roman" panose="02020603050405020304" pitchFamily="18" charset="0"/>
              </a:rPr>
              <a:t>Check Your Understanding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40141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72EBDEDD-36E5-9493-BBB8-EDE0CA7698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60375" y="1293834"/>
            <a:ext cx="814407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What are the two primary operations performed on a Queue?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Insertion and Deletion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Searching and Sorting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Push and Pop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Enqueue and Dequeue</a:t>
            </a:r>
          </a:p>
          <a:p>
            <a:pPr lvl="1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In an array-based implementation of a linear Queue, where is the front pointer initially positioned?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At the beginning of the array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At the end of the array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At a random position within the array</a:t>
            </a:r>
          </a:p>
          <a:p>
            <a:pPr marL="0" lvl="1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Not applicable, as arrays cannot be used to implement Queues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35FF8E-0A41-F674-25B2-85CD21244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67438"/>
            <a:ext cx="808589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E31E24"/>
                </a:solidFill>
                <a:cs typeface="Times New Roman" panose="02020603050405020304" pitchFamily="18" charset="0"/>
              </a:rPr>
              <a:t>Check Your Understanding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87914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3">
            <a:extLst>
              <a:ext uri="{FF2B5EF4-FFF2-40B4-BE49-F238E27FC236}">
                <a16:creationId xmlns:a16="http://schemas.microsoft.com/office/drawing/2014/main" id="{D12351B7-5425-A56D-8EE5-C68DB4DB55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  <a:endParaRPr lang="en-IN" dirty="0"/>
          </a:p>
        </p:txBody>
      </p:sp>
      <p:sp>
        <p:nvSpPr>
          <p:cNvPr id="8" name="AutoShape 2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60374" y="1480231"/>
            <a:ext cx="8302625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Enqueue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Dequeue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Peek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O(1) for both enqueue and dequeue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The operation fails, as the Queue is full.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Linked Lists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Enqueue and Dequeue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At the beginning of the array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78D16B0E-D2F1-275C-C0EF-6F35F4002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67438"/>
            <a:ext cx="808589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E31E24"/>
                </a:solidFill>
                <a:cs typeface="Times New Roman" panose="02020603050405020304" pitchFamily="18" charset="0"/>
              </a:rPr>
              <a:t>Check Your Understanding (Answers)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93025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544D2-9272-9620-CA58-44747DE25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3">
            <a:extLst>
              <a:ext uri="{FF2B5EF4-FFF2-40B4-BE49-F238E27FC236}">
                <a16:creationId xmlns:a16="http://schemas.microsoft.com/office/drawing/2014/main" id="{D10CE9F8-52EC-8866-3053-8F6A910F8F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21" y="-27384"/>
            <a:ext cx="9180512" cy="688538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464619-2DFF-49F7-19E3-1CE2946CBD86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EA2FD82-4A8F-D43F-FBB5-FF8F62781C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72C42-C2B6-E7C3-DF4F-8334D8F1D10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1A0882D-1AB0-27D6-51E2-6791738A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94153"/>
            <a:ext cx="8229600" cy="4525963"/>
          </a:xfrm>
        </p:spPr>
        <p:txBody>
          <a:bodyPr>
            <a:normAutofit/>
          </a:bodyPr>
          <a:lstStyle/>
          <a:p>
            <a:pPr marL="268288" lvl="0" indent="-268288" algn="just" eaLnBrk="0" fontAlgn="base" hangingPunct="0"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is a linear data structure based on FIFO (First In, First Out).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happens at rear; deletion happens from front.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operations: enqueue, dequeue, peek,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isFull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can be implemented using arrays or linked lists.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Array-based queue is simple but may cause memory wastage and fixed size issues.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 implementation allows dynamic size.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is widely used in CPU scheduling, networking, BFS, printer spooling, and more.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BE15C-BC39-D985-88E4-E9F7F7ED0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Data  Structure         Unit2  </a:t>
            </a:r>
            <a:endParaRPr lang="en-IN" dirty="0"/>
          </a:p>
        </p:txBody>
      </p:sp>
      <p:sp>
        <p:nvSpPr>
          <p:cNvPr id="8" name="AutoShape 2" descr="Types of Queues (Data Structures) - javatpoint">
            <a:extLst>
              <a:ext uri="{FF2B5EF4-FFF2-40B4-BE49-F238E27FC236}">
                <a16:creationId xmlns:a16="http://schemas.microsoft.com/office/drawing/2014/main" id="{A7EA496B-5852-0F1B-E05E-6601551F84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Types of Queues (Data Structures) - javatpoint">
            <a:extLst>
              <a:ext uri="{FF2B5EF4-FFF2-40B4-BE49-F238E27FC236}">
                <a16:creationId xmlns:a16="http://schemas.microsoft.com/office/drawing/2014/main" id="{729B76E2-6971-11F7-B979-E61E3FF19F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Implementing Queue using array in Java – Data structures and algorithms in  Java">
            <a:extLst>
              <a:ext uri="{FF2B5EF4-FFF2-40B4-BE49-F238E27FC236}">
                <a16:creationId xmlns:a16="http://schemas.microsoft.com/office/drawing/2014/main" id="{F7CAF768-1614-CC72-396E-6905349D53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AD7F174-4347-D31A-1F82-9E10C70AF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502" y="367438"/>
            <a:ext cx="808589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E31E24"/>
                </a:solidFill>
                <a:cs typeface="Times New Roman" panose="02020603050405020304" pitchFamily="18" charset="0"/>
              </a:rPr>
              <a:t>Key Takeaways</a:t>
            </a:r>
            <a:endParaRPr lang="en-IN" sz="30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75395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9C3D-3F30-A3F3-A545-26CB145F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DC34CE-387F-2349-2368-E7AB329920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ECC9169-F46C-9DFF-074B-9042CA367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3570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References</a:t>
            </a:r>
            <a:endParaRPr lang="en-US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D4E920-65A2-CCE7-FEA5-14D91F60AAAE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E0C2226-8947-177E-6706-83378DA8A4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741" y="6337479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818B84-F150-B1E2-D936-7FC20CE87C0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75B91-F517-A8A8-3443-03C2FD642B05}"/>
              </a:ext>
            </a:extLst>
          </p:cNvPr>
          <p:cNvSpPr txBox="1"/>
          <p:nvPr/>
        </p:nvSpPr>
        <p:spPr>
          <a:xfrm>
            <a:off x="216025" y="1144192"/>
            <a:ext cx="874846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H.,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E., Rivest, R. L., &amp; Stein, C.,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MIT Press.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Lipschutz,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Schaum’s Outline of Data Structures with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 Education.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Weiss, M. A.,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 Analysis in C++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5th Edition, Pearson Education.</a:t>
            </a:r>
          </a:p>
          <a:p>
            <a:pPr marL="285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Skiena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S.,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Design Manual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Edition, Springer.</a:t>
            </a:r>
          </a:p>
          <a:p>
            <a:pPr algn="just">
              <a:spcBef>
                <a:spcPts val="6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Resources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Queue in Data Structures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https://www.geeksforgeeks.org/queue-data-structure/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Scaler – Queue in Data Structures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https://www.scaler.com/topics/data-structures/queue-in-data-structure/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JavaTpoint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Queue Data Structure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https://www.javatpoint.com/data-structure-queue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Programiz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Queue in Python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https://www.programiz.com/dsa/queue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TutorialsPoint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Queue Operations</a:t>
            </a:r>
            <a:b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https://www.tutorialspoint.com/data_structures_algorithms/queue_algorithm.htm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399E0A-2CFF-1DD0-69C4-94E7F4E7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68787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724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23580</TotalTime>
  <Words>4169</Words>
  <Application>Microsoft Office PowerPoint</Application>
  <PresentationFormat>On-screen Show (4:3)</PresentationFormat>
  <Paragraphs>795</Paragraphs>
  <Slides>65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3" baseType="lpstr">
      <vt:lpstr>Arial</vt:lpstr>
      <vt:lpstr>Calibri</vt:lpstr>
      <vt:lpstr>Garamond</vt:lpstr>
      <vt:lpstr>Sylfaen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Jyoti Yadav</cp:lastModifiedBy>
  <cp:revision>1456</cp:revision>
  <cp:lastPrinted>2022-09-05T08:43:44Z</cp:lastPrinted>
  <dcterms:created xsi:type="dcterms:W3CDTF">2020-01-16T09:05:56Z</dcterms:created>
  <dcterms:modified xsi:type="dcterms:W3CDTF">2026-01-15T06:39:44Z</dcterms:modified>
</cp:coreProperties>
</file>