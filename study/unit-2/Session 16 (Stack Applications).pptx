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sldIdLst>
    <p:sldId id="1011" r:id="rId2"/>
    <p:sldId id="993" r:id="rId3"/>
    <p:sldId id="1012" r:id="rId4"/>
    <p:sldId id="691" r:id="rId5"/>
    <p:sldId id="1027" r:id="rId6"/>
    <p:sldId id="1070" r:id="rId7"/>
    <p:sldId id="930" r:id="rId8"/>
    <p:sldId id="1013" r:id="rId9"/>
    <p:sldId id="259" r:id="rId10"/>
    <p:sldId id="260" r:id="rId11"/>
    <p:sldId id="1069" r:id="rId12"/>
    <p:sldId id="282" r:id="rId13"/>
    <p:sldId id="262" r:id="rId14"/>
    <p:sldId id="1071" r:id="rId15"/>
    <p:sldId id="1072" r:id="rId16"/>
    <p:sldId id="290" r:id="rId17"/>
    <p:sldId id="263" r:id="rId18"/>
    <p:sldId id="310" r:id="rId19"/>
    <p:sldId id="286" r:id="rId20"/>
    <p:sldId id="314" r:id="rId21"/>
    <p:sldId id="313" r:id="rId22"/>
    <p:sldId id="316" r:id="rId23"/>
    <p:sldId id="287" r:id="rId24"/>
    <p:sldId id="315" r:id="rId25"/>
    <p:sldId id="288" r:id="rId26"/>
    <p:sldId id="317" r:id="rId27"/>
    <p:sldId id="318" r:id="rId28"/>
    <p:sldId id="289" r:id="rId29"/>
    <p:sldId id="1073" r:id="rId30"/>
    <p:sldId id="1074" r:id="rId31"/>
    <p:sldId id="284" r:id="rId32"/>
    <p:sldId id="292" r:id="rId33"/>
    <p:sldId id="1075" r:id="rId34"/>
    <p:sldId id="1076" r:id="rId35"/>
    <p:sldId id="285" r:id="rId36"/>
    <p:sldId id="293" r:id="rId37"/>
    <p:sldId id="320" r:id="rId38"/>
    <p:sldId id="319" r:id="rId39"/>
    <p:sldId id="294" r:id="rId40"/>
    <p:sldId id="321" r:id="rId41"/>
    <p:sldId id="295" r:id="rId42"/>
    <p:sldId id="1028" r:id="rId43"/>
    <p:sldId id="322" r:id="rId44"/>
    <p:sldId id="297" r:id="rId45"/>
    <p:sldId id="323" r:id="rId46"/>
    <p:sldId id="298" r:id="rId47"/>
    <p:sldId id="283" r:id="rId48"/>
    <p:sldId id="311" r:id="rId49"/>
    <p:sldId id="264" r:id="rId50"/>
    <p:sldId id="265" r:id="rId51"/>
    <p:sldId id="325" r:id="rId52"/>
    <p:sldId id="324" r:id="rId53"/>
    <p:sldId id="302" r:id="rId54"/>
    <p:sldId id="301" r:id="rId55"/>
    <p:sldId id="326" r:id="rId56"/>
    <p:sldId id="303" r:id="rId57"/>
    <p:sldId id="327" r:id="rId58"/>
    <p:sldId id="304" r:id="rId59"/>
    <p:sldId id="328" r:id="rId60"/>
    <p:sldId id="305" r:id="rId61"/>
    <p:sldId id="306" r:id="rId62"/>
    <p:sldId id="300" r:id="rId63"/>
    <p:sldId id="308" r:id="rId64"/>
    <p:sldId id="266" r:id="rId65"/>
    <p:sldId id="267" r:id="rId66"/>
    <p:sldId id="268" r:id="rId67"/>
    <p:sldId id="1029" r:id="rId68"/>
    <p:sldId id="270" r:id="rId69"/>
    <p:sldId id="271" r:id="rId70"/>
    <p:sldId id="277" r:id="rId71"/>
    <p:sldId id="278" r:id="rId72"/>
    <p:sldId id="279" r:id="rId73"/>
    <p:sldId id="1032" r:id="rId74"/>
    <p:sldId id="1033" r:id="rId75"/>
    <p:sldId id="1034" r:id="rId76"/>
    <p:sldId id="1035" r:id="rId77"/>
    <p:sldId id="1036" r:id="rId78"/>
    <p:sldId id="1037" r:id="rId79"/>
    <p:sldId id="1038" r:id="rId80"/>
    <p:sldId id="1039" r:id="rId81"/>
    <p:sldId id="1040" r:id="rId82"/>
    <p:sldId id="1041" r:id="rId83"/>
    <p:sldId id="1042" r:id="rId84"/>
    <p:sldId id="1043" r:id="rId85"/>
    <p:sldId id="1044" r:id="rId86"/>
    <p:sldId id="1045" r:id="rId87"/>
    <p:sldId id="272" r:id="rId88"/>
    <p:sldId id="1046" r:id="rId89"/>
    <p:sldId id="273" r:id="rId90"/>
    <p:sldId id="1047" r:id="rId91"/>
    <p:sldId id="274" r:id="rId92"/>
    <p:sldId id="275" r:id="rId93"/>
    <p:sldId id="276" r:id="rId94"/>
    <p:sldId id="1048" r:id="rId95"/>
    <p:sldId id="1050" r:id="rId96"/>
    <p:sldId id="1051" r:id="rId97"/>
    <p:sldId id="1052" r:id="rId98"/>
    <p:sldId id="1054" r:id="rId99"/>
    <p:sldId id="1055" r:id="rId100"/>
    <p:sldId id="1056" r:id="rId101"/>
    <p:sldId id="1057" r:id="rId102"/>
    <p:sldId id="1058" r:id="rId103"/>
    <p:sldId id="1059" r:id="rId104"/>
    <p:sldId id="1060" r:id="rId105"/>
    <p:sldId id="291" r:id="rId106"/>
    <p:sldId id="1061" r:id="rId107"/>
    <p:sldId id="1062" r:id="rId108"/>
    <p:sldId id="1063" r:id="rId109"/>
    <p:sldId id="1064" r:id="rId110"/>
    <p:sldId id="1068" r:id="rId111"/>
    <p:sldId id="1066" r:id="rId112"/>
    <p:sldId id="1014" r:id="rId113"/>
    <p:sldId id="269" r:id="rId11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3883" autoAdjust="0"/>
  </p:normalViewPr>
  <p:slideViewPr>
    <p:cSldViewPr>
      <p:cViewPr varScale="1">
        <p:scale>
          <a:sx n="88" d="100"/>
          <a:sy n="88" d="100"/>
        </p:scale>
        <p:origin x="885" y="6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ti Yadav" userId="8da2e7729ab2cedd" providerId="LiveId" clId="{741A7A88-242A-459A-A359-2627301AD1E9}"/>
    <pc:docChg chg="modSld sldOrd">
      <pc:chgData name="Jyoti Yadav" userId="8da2e7729ab2cedd" providerId="LiveId" clId="{741A7A88-242A-459A-A359-2627301AD1E9}" dt="2026-01-15T06:39:06.878" v="32"/>
      <pc:docMkLst>
        <pc:docMk/>
      </pc:docMkLst>
      <pc:sldChg chg="ord">
        <pc:chgData name="Jyoti Yadav" userId="8da2e7729ab2cedd" providerId="LiveId" clId="{741A7A88-242A-459A-A359-2627301AD1E9}" dt="2026-01-15T06:39:06.878" v="32"/>
        <pc:sldMkLst>
          <pc:docMk/>
          <pc:sldMk cId="1773646147" sldId="993"/>
        </pc:sldMkLst>
      </pc:sldChg>
      <pc:sldChg chg="modSp mod">
        <pc:chgData name="Jyoti Yadav" userId="8da2e7729ab2cedd" providerId="LiveId" clId="{741A7A88-242A-459A-A359-2627301AD1E9}" dt="2026-01-15T06:28:01.785" v="30" actId="207"/>
        <pc:sldMkLst>
          <pc:docMk/>
          <pc:sldMk cId="751646105" sldId="1011"/>
        </pc:sldMkLst>
        <pc:spChg chg="mod">
          <ac:chgData name="Jyoti Yadav" userId="8da2e7729ab2cedd" providerId="LiveId" clId="{741A7A88-242A-459A-A359-2627301AD1E9}" dt="2026-01-15T06:27:53.056" v="29" actId="20577"/>
          <ac:spMkLst>
            <pc:docMk/>
            <pc:sldMk cId="751646105" sldId="1011"/>
            <ac:spMk id="7" creationId="{707A6CE9-669B-DEE3-BF3E-8D5506EAE30B}"/>
          </ac:spMkLst>
        </pc:spChg>
        <pc:spChg chg="mod">
          <ac:chgData name="Jyoti Yadav" userId="8da2e7729ab2cedd" providerId="LiveId" clId="{741A7A88-242A-459A-A359-2627301AD1E9}" dt="2026-01-15T06:28:01.785" v="30" actId="207"/>
          <ac:spMkLst>
            <pc:docMk/>
            <pc:sldMk cId="751646105" sldId="1011"/>
            <ac:spMk id="9" creationId="{80A128E3-2186-5C09-4DCD-7BC6527248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15-01-2026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71104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D94AE-E6E6-0B0A-2868-CE7D479E1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5A051-A7CF-B1A7-6FFB-852D415F3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5D1CA-E682-A66A-1F3E-8C9E439ACBF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0DC462A-8061-0323-0E69-353194A6EFFD}"/>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2719096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992276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D918-99CE-8F32-CFC7-BBC87AC8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139C-BD2B-7CC1-6340-D7678824F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ADE21-0182-2CED-AAA9-49D1D61D8A6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0A642A3-A182-DB79-116C-58A273D38140}"/>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72AC7082-0F8B-BCEF-9747-43BE038DE55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9252D4C-031A-990E-9910-CF7CA21FA9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474723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325A0-9A99-677B-2A77-4C38A9D0D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CE120-961D-E807-2A9A-3D5933E92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99E089-5F88-AE9A-0BB5-880F93C5596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19792D3-ECC1-6469-41CF-F97520F2EF66}"/>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8BD71A04-B91C-A20B-289E-B14D024B621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E6DE358-24E7-7920-5FCF-D1593014111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7257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77E52-F631-23E9-5B19-CD26095500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CFDA1-AD56-AC62-1CF8-DBB6D71D4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1EEAB-96A4-A5C8-D882-9735BADC685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A9998A-3AA6-7976-7E24-A3C447A0C012}"/>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9C522220-8AC3-C35F-B0E9-1B181611C0B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C2DFE0-EC03-10B1-5648-B856531D727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0631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F924-E466-15C6-C342-7A1C1AA5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2A88-A828-8188-B777-3339A89FB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16E28-6C8C-9642-47F0-8400D85A952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257378C-9DF2-00D9-10FF-C3408218A3C1}"/>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a:extLst>
              <a:ext uri="{FF2B5EF4-FFF2-40B4-BE49-F238E27FC236}">
                <a16:creationId xmlns:a16="http://schemas.microsoft.com/office/drawing/2014/main" id="{E7A363B9-2A25-EA5F-20B3-5BAC135C366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02033D69-BB25-96FA-0FE5-E4051746DB7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388472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ED44B-E05D-2379-A7AE-55276513B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18651-D2B7-6B00-231B-8CAB8EFE7E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3FB9F-91CC-8AF8-98EC-CC55AF08A98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6F5BD2-3A68-DC33-FAFD-764DB2FC0B73}"/>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a:extLst>
              <a:ext uri="{FF2B5EF4-FFF2-40B4-BE49-F238E27FC236}">
                <a16:creationId xmlns:a16="http://schemas.microsoft.com/office/drawing/2014/main" id="{6160CCE4-7DFC-12C0-BDAE-2C8D132ED59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75213E7-4D4D-1F1A-5B9B-C0DF32E683D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1546609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2AD3A-E1C7-6944-E053-1A2CF74B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00EC0-1EC6-06FE-436B-1B5E391AD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EDEA32-1704-556E-8DAF-87FAB304682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1F3CC4F-8AE8-3C2B-BCB0-AE88864ED430}"/>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a:extLst>
              <a:ext uri="{FF2B5EF4-FFF2-40B4-BE49-F238E27FC236}">
                <a16:creationId xmlns:a16="http://schemas.microsoft.com/office/drawing/2014/main" id="{013D7661-3F90-999C-95CC-655B089DFB0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7F450D63-5F72-188C-D1CA-E2DB768493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56916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4CE45-CDD7-0B06-2829-B77883C2D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C083B-418F-B1DB-35C3-B124536DF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881D7-942D-AE90-19CF-0EAD3AED85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493F449-FA3C-6D37-F8C4-9B14A51E6AC5}"/>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a:extLst>
              <a:ext uri="{FF2B5EF4-FFF2-40B4-BE49-F238E27FC236}">
                <a16:creationId xmlns:a16="http://schemas.microsoft.com/office/drawing/2014/main" id="{C1CA6061-52EC-FA2E-78E8-65411F1B328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83414D-59A0-A92D-7326-39879A1D0A7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121293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59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860266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69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9432146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79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358476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2504119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25041192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455207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455207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6F3C-8AA2-5E45-90F5-8D82B71C1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C7CB-68D4-7D91-E5BE-5A86EF8E7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E7F0C-3F79-5DE8-FE54-0D66F206C2A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762E9CB-DD23-6AAD-CC8F-3BCD4B2B6B4F}"/>
              </a:ext>
            </a:extLst>
          </p:cNvPr>
          <p:cNvSpPr>
            <a:spLocks noGrp="1"/>
          </p:cNvSpPr>
          <p:nvPr>
            <p:ph type="sldNum" sz="quarter" idx="5"/>
          </p:nvPr>
        </p:nvSpPr>
        <p:spPr/>
        <p:txBody>
          <a:bodyPr/>
          <a:lstStyle/>
          <a:p>
            <a:fld id="{DAB949B3-C4AB-4FB2-8B24-B07A558BD59F}" type="slidenum">
              <a:rPr lang="en-IN" smtClean="0"/>
              <a:pPr/>
              <a:t>110</a:t>
            </a:fld>
            <a:endParaRPr lang="en-IN"/>
          </a:p>
        </p:txBody>
      </p:sp>
      <p:sp>
        <p:nvSpPr>
          <p:cNvPr id="5" name="Footer Placeholder 4">
            <a:extLst>
              <a:ext uri="{FF2B5EF4-FFF2-40B4-BE49-F238E27FC236}">
                <a16:creationId xmlns:a16="http://schemas.microsoft.com/office/drawing/2014/main" id="{60A3069B-EECA-2D30-3BAF-2C1409B96D5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53A5F8-22AC-5BCE-F6A5-43C0912F8F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8906325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111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1813058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112</a:t>
            </a:fld>
            <a:endParaRPr lang="en-IN"/>
          </a:p>
        </p:txBody>
      </p:sp>
    </p:spTree>
    <p:extLst>
      <p:ext uri="{BB962C8B-B14F-4D97-AF65-F5344CB8AC3E}">
        <p14:creationId xmlns:p14="http://schemas.microsoft.com/office/powerpoint/2010/main" val="3524539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15-01-2026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15-01-2026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15-01-2026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sarthaks.com/3456368/notations-for-arithmetic-expressions" TargetMode="External"/><Relationship Id="rId5" Type="http://schemas.openxmlformats.org/officeDocument/2006/relationships/image" Target="../media/image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infix-to-postfix-conversion-using-stack/"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0.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infix-to-postfix-conversion-using-stack/"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0.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1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3.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1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microsoft.com/office/2007/relationships/hdphoto" Target="../media/hdphoto7.wdp"/><Relationship Id="rId5" Type="http://schemas.openxmlformats.org/officeDocument/2006/relationships/image" Target="../media/image1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15.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15.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16.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microsoft.com/office/2007/relationships/hdphoto" Target="../media/hdphoto9.wdp"/><Relationship Id="rId5" Type="http://schemas.openxmlformats.org/officeDocument/2006/relationships/image" Target="../media/image16.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postfix-to-prefix-conversion/"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microsoft.com/office/2007/relationships/hdphoto" Target="../media/hdphoto10.wdp"/><Relationship Id="rId5" Type="http://schemas.openxmlformats.org/officeDocument/2006/relationships/image" Target="../media/image17.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microsoft.com/office/2007/relationships/hdphoto" Target="../media/hdphoto11.wdp"/><Relationship Id="rId5" Type="http://schemas.openxmlformats.org/officeDocument/2006/relationships/image" Target="../media/image19.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microsoft.com/office/2007/relationships/hdphoto" Target="../media/hdphoto12.wdp"/><Relationship Id="rId5" Type="http://schemas.openxmlformats.org/officeDocument/2006/relationships/image" Target="../media/image20.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1.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microsoft.com/office/2007/relationships/hdphoto" Target="../media/hdphoto13.wdp"/><Relationship Id="rId5" Type="http://schemas.openxmlformats.org/officeDocument/2006/relationships/image" Target="../media/image21.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microsoft.com/office/2007/relationships/hdphoto" Target="../media/hdphoto14.wdp"/><Relationship Id="rId5" Type="http://schemas.openxmlformats.org/officeDocument/2006/relationships/image" Target="../media/image22.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microsoft.com/office/2007/relationships/hdphoto" Target="../media/hdphoto14.wdp"/><Relationship Id="rId5" Type="http://schemas.openxmlformats.org/officeDocument/2006/relationships/image" Target="../media/image22.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3.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microsoft.com/office/2007/relationships/hdphoto" Target="../media/hdphoto15.wdp"/><Relationship Id="rId5" Type="http://schemas.openxmlformats.org/officeDocument/2006/relationships/image" Target="../media/image23.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repbytes.com/blog/stacks/conversion-of-prefix-expression-to-infix-expression/"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microsoft.com/office/2007/relationships/hdphoto" Target="../media/hdphoto16.wdp"/><Relationship Id="rId5" Type="http://schemas.openxmlformats.org/officeDocument/2006/relationships/image" Target="../media/image2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microsoft.com/office/2007/relationships/hdphoto" Target="../media/hdphoto17.wdp"/><Relationship Id="rId5" Type="http://schemas.openxmlformats.org/officeDocument/2006/relationships/image" Target="../media/image25.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hyperlink" Target="https://www.geeksforgeeks.org/function-call-stack-in-c/" TargetMode="External"/><Relationship Id="rId5" Type="http://schemas.openxmlformats.org/officeDocument/2006/relationships/image" Target="../media/image28.pn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hyperlink" Target="https://www.geeksforgeeks.org/c-program-for-tower-of-hanoi/" TargetMode="Externa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hyperlink" Target="https://onlinegdb.com/V5UvyfPlh" TargetMode="External"/><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3.png"/></Relationships>
</file>

<file path=ppt/slides/_rels/slide9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3.png"/></Relationships>
</file>

<file path=ppt/slides/_rels/slide10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hyperlink" Target="https://gateoverflow.in/115691/stack-underflow" TargetMode="External"/><Relationship Id="rId4" Type="http://schemas.openxmlformats.org/officeDocument/2006/relationships/image" Target="../media/image3.png"/></Relationships>
</file>

<file path=ppt/slides/_rels/slide10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2.xml.rels><?xml version="1.0" encoding="UTF-8" standalone="yes"?>
<Relationships xmlns="http://schemas.openxmlformats.org/package/2006/relationships"><Relationship Id="rId8" Type="http://schemas.openxmlformats.org/officeDocument/2006/relationships/hyperlink" Target="https://www.fullstack.cafe/interview-questions/stacks" TargetMode="External"/><Relationship Id="rId3" Type="http://schemas.openxmlformats.org/officeDocument/2006/relationships/image" Target="../media/image1.png"/><Relationship Id="rId7" Type="http://schemas.openxmlformats.org/officeDocument/2006/relationships/hyperlink" Target="https://www.javatpoint.com/data-structure-stack" TargetMode="External"/><Relationship Id="rId12" Type="http://schemas.openxmlformats.org/officeDocument/2006/relationships/hyperlink" Target="https://www.udemy.com/topic/data-structures/" TargetMode="External"/><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hyperlink" Target="https://www.geeksforgeeks.org/introduction-to-stack-data-structure-and-algorithm-tutorials/?ref=lbp" TargetMode="External"/><Relationship Id="rId11" Type="http://schemas.openxmlformats.org/officeDocument/2006/relationships/hyperlink" Target="https://www.youtube.com/watch?v=Ci9jZSRn3os" TargetMode="External"/><Relationship Id="rId5" Type="http://schemas.openxmlformats.org/officeDocument/2006/relationships/hyperlink" Target="https://practicepaper.in/gate-cse/stack" TargetMode="External"/><Relationship Id="rId10" Type="http://schemas.openxmlformats.org/officeDocument/2006/relationships/hyperlink" Target="https://www.youtube.com/watch?v=HRDHgKrYHgU" TargetMode="External"/><Relationship Id="rId4" Type="http://schemas.openxmlformats.org/officeDocument/2006/relationships/image" Target="../media/image3.png"/><Relationship Id="rId9" Type="http://schemas.openxmlformats.org/officeDocument/2006/relationships/hyperlink" Target="https://www.interviewkickstart.com/learn/stack-data-structure" TargetMode="External"/></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ETCCBD201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Ms. Jyoti Yadav</a:t>
            </a:r>
            <a:endParaRPr lang="en-IN" sz="2400" b="1" dirty="0">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892280" y="1320786"/>
            <a:ext cx="6588732" cy="5016758"/>
          </a:xfrm>
          <a:prstGeom prst="rect">
            <a:avLst/>
          </a:prstGeom>
          <a:noFill/>
        </p:spPr>
        <p:txBody>
          <a:bodyPr wrap="square">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Introduction to Stack Applications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Why Stack is Suitable for Problem Solving (LIFO)</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Applications of Stack – Overview</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Evaluation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Expression Conversion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Algorithms for Expression Conversion</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Evaluation of Prefix &amp; Postfix Expressions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Reversing Data Using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Function Calls &amp; Call Stack</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Backtracking – Tower of Hanoi</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Delimiter / Parenthesis Checking</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Worked Examples &amp; Practice Problems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Common Errors &amp; Edge Cases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Key Takeaways</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Quick Quiz</a:t>
            </a:r>
          </a:p>
          <a:p>
            <a:pPr marL="285750" lvl="0" indent="-28575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References</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latin typeface="Times New Roman" panose="02020603050405020304" pitchFamily="18" charset="0"/>
                <a:cs typeface="Times New Roman" panose="02020603050405020304" pitchFamily="18" charset="0"/>
              </a:rPr>
              <a:t>Session 16</a:t>
            </a:r>
            <a:endParaRPr lang="en-US" sz="2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Stack Applications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Stack ADT and Operations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4" y="1065209"/>
            <a:ext cx="8580969" cy="5232202"/>
          </a:xfrm>
          <a:prstGeom prst="rect">
            <a:avLst/>
          </a:prstGeom>
          <a:noFill/>
        </p:spPr>
        <p:txBody>
          <a:bodyPr wrap="square" rtlCol="0">
            <a:spAutoFit/>
          </a:bodyPr>
          <a:lstStyle/>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 stack is a linear data structure that follows the LIFO (Last In, First Out) principle.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All insertions and deletions occur only at one end called the TOP.</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Basic stack operations are: push, pop, peek/top, </a:t>
            </a:r>
            <a:r>
              <a:rPr lang="en-US" altLang="en-US" sz="2400" dirty="0" err="1">
                <a:latin typeface="Times New Roman" panose="02020603050405020304" pitchFamily="18" charset="0"/>
                <a:cs typeface="Times New Roman" panose="02020603050405020304" pitchFamily="18" charset="0"/>
              </a:rPr>
              <a:t>isEmpty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isFull</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overflow occurs when pushing into a full stack.</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underflow occurs when popping from an empty stack.</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 can be implemented using arrays (fixed size) or linked lists (dynamic size).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Push and pop operations take O(1) time in most cases.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Stacks are used in expression evaluation, recursion, undo/redo operations, parsing, and memory management.</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4</a:t>
            </a:fld>
            <a:endParaRPr lang="en-IN"/>
          </a:p>
        </p:txBody>
      </p:sp>
    </p:spTree>
    <p:extLst>
      <p:ext uri="{BB962C8B-B14F-4D97-AF65-F5344CB8AC3E}">
        <p14:creationId xmlns:p14="http://schemas.microsoft.com/office/powerpoint/2010/main" val="750881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E8009213-D4D2-E2C9-27C9-02B227D89D1F}"/>
              </a:ext>
            </a:extLst>
          </p:cNvPr>
          <p:cNvSpPr txBox="1"/>
          <p:nvPr/>
        </p:nvSpPr>
        <p:spPr>
          <a:xfrm>
            <a:off x="270971" y="1182869"/>
            <a:ext cx="8415829" cy="4457952"/>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Fill in the Blanks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follows the __________ principle.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end of the stack where insertion and deletion occur is called the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operation used to insert an element into a stack is called __________.</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 underflow occurs when we try to __________ from an empty stack.</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26180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4B6C-CE16-BDCE-ACBC-9E8FBEC0045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3A7EB-989C-BCA7-7782-ACBF0BCB70B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18C9A65-EA61-2663-0605-36E6874A9311}"/>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45569FB-64E0-AF45-0DE9-F7786AB733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7414FC6E-87B7-A055-2111-2D1D0657020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70DC8B8-F652-5296-DCAF-B89A2F879FBD}"/>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a:t>
            </a:r>
          </a:p>
        </p:txBody>
      </p:sp>
      <p:sp>
        <p:nvSpPr>
          <p:cNvPr id="3" name="TextBox 2">
            <a:extLst>
              <a:ext uri="{FF2B5EF4-FFF2-40B4-BE49-F238E27FC236}">
                <a16:creationId xmlns:a16="http://schemas.microsoft.com/office/drawing/2014/main" id="{06B67D51-728E-C169-DD9C-D7C174DBB77B}"/>
              </a:ext>
            </a:extLst>
          </p:cNvPr>
          <p:cNvSpPr txBox="1"/>
          <p:nvPr/>
        </p:nvSpPr>
        <p:spPr>
          <a:xfrm>
            <a:off x="311511" y="1112914"/>
            <a:ext cx="8580969" cy="5011949"/>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One-Word / Short Answer Questions</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Name the operation that removes the top element of the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data structure is used to implement a dynamic stack?</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What is the time complexity of the push operation?</a:t>
            </a:r>
          </a:p>
          <a:p>
            <a:pPr marL="457200" indent="-457200">
              <a:lnSpc>
                <a:spcPct val="150000"/>
              </a:lnSpc>
              <a:buFont typeface="+mj-lt"/>
              <a:buAutoNum type="arabicPeriod" startAt="5"/>
            </a:pPr>
            <a:r>
              <a:rPr lang="en-US" sz="2400" dirty="0">
                <a:latin typeface="Times New Roman" panose="02020603050405020304" pitchFamily="18" charset="0"/>
                <a:cs typeface="Times New Roman" panose="02020603050405020304" pitchFamily="18" charset="0"/>
              </a:rPr>
              <a:t>Which pointer/index indicates the top of the stack?</a:t>
            </a:r>
          </a:p>
          <a:p>
            <a:pPr>
              <a:lnSpc>
                <a:spcPct val="150000"/>
              </a:lnSpc>
            </a:pP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Application-Based Questions</a:t>
            </a:r>
          </a:p>
          <a:p>
            <a:pPr marL="457200" indent="-457200">
              <a:lnSpc>
                <a:spcPct val="150000"/>
              </a:lnSpc>
              <a:buFont typeface="+mj-lt"/>
              <a:buAutoNum type="arabicPeriod" startAt="9"/>
            </a:pPr>
            <a:r>
              <a:rPr lang="en-US" sz="2400" dirty="0">
                <a:latin typeface="Times New Roman" panose="02020603050405020304" pitchFamily="18" charset="0"/>
                <a:cs typeface="Times New Roman" panose="02020603050405020304" pitchFamily="18" charset="0"/>
              </a:rPr>
              <a:t>Why is stack suitable for </a:t>
            </a:r>
            <a:r>
              <a:rPr lang="en-US" sz="2400" b="1" dirty="0">
                <a:latin typeface="Times New Roman" panose="02020603050405020304" pitchFamily="18" charset="0"/>
                <a:cs typeface="Times New Roman" panose="02020603050405020304" pitchFamily="18" charset="0"/>
              </a:rPr>
              <a:t>undo/redo</a:t>
            </a:r>
            <a:r>
              <a:rPr lang="en-US" sz="2400" dirty="0">
                <a:latin typeface="Times New Roman" panose="02020603050405020304" pitchFamily="18" charset="0"/>
                <a:cs typeface="Times New Roman" panose="02020603050405020304" pitchFamily="18" charset="0"/>
              </a:rPr>
              <a:t> operations?</a:t>
            </a:r>
          </a:p>
          <a:p>
            <a:pPr marL="457200" indent="-457200">
              <a:lnSpc>
                <a:spcPct val="150000"/>
              </a:lnSpc>
              <a:buFont typeface="+mj-lt"/>
              <a:buAutoNum type="arabicPeriod" startAt="9"/>
            </a:pPr>
            <a:r>
              <a:rPr lang="en-US" sz="2400" dirty="0">
                <a:latin typeface="Times New Roman" panose="02020603050405020304" pitchFamily="18" charset="0"/>
                <a:cs typeface="Times New Roman" panose="02020603050405020304" pitchFamily="18" charset="0"/>
              </a:rPr>
              <a:t>Which stack principle is used in </a:t>
            </a:r>
            <a:r>
              <a:rPr lang="en-US" sz="2400" b="1" dirty="0">
                <a:latin typeface="Times New Roman" panose="02020603050405020304" pitchFamily="18" charset="0"/>
                <a:cs typeface="Times New Roman" panose="02020603050405020304" pitchFamily="18" charset="0"/>
              </a:rPr>
              <a:t>expression evaluation</a:t>
            </a:r>
            <a:r>
              <a:rPr lang="en-US" sz="2400" dirty="0">
                <a:latin typeface="Times New Roman" panose="02020603050405020304" pitchFamily="18" charset="0"/>
                <a:cs typeface="Times New Roman" panose="02020603050405020304" pitchFamily="18" charset="0"/>
              </a:rPr>
              <a:t>?</a:t>
            </a:r>
          </a:p>
        </p:txBody>
      </p:sp>
      <p:sp>
        <p:nvSpPr>
          <p:cNvPr id="5" name="Rectangle 4">
            <a:extLst>
              <a:ext uri="{FF2B5EF4-FFF2-40B4-BE49-F238E27FC236}">
                <a16:creationId xmlns:a16="http://schemas.microsoft.com/office/drawing/2014/main" id="{6074188C-A14E-D2CB-7015-6332D248C5CF}"/>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FDE7980-15AF-7D5B-A0D4-77F1B1F708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C73FE47-9AC1-3F03-F2A8-B23E7D22E0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012D545-CE58-0A65-09E2-7B71CED7E31A}"/>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107043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8259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Quick Quiz (Answers)</a:t>
            </a:r>
          </a:p>
        </p:txBody>
      </p:sp>
      <p:sp>
        <p:nvSpPr>
          <p:cNvPr id="3" name="TextBox 2"/>
          <p:cNvSpPr txBox="1"/>
          <p:nvPr/>
        </p:nvSpPr>
        <p:spPr>
          <a:xfrm>
            <a:off x="323530" y="972965"/>
            <a:ext cx="8640958" cy="5565947"/>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Push</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Linked 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Top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Because the last action is undone first (LIFO).</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LIFO</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127797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508927"/>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List major applications of stack in data structures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Explain how LIFO helps in solving computational problems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Differentiate between infix, prefix, and postfix expressions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Convert expressions between different notations using stack</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Evaluate prefix and postfix expressions using stack algorithms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stack to reverse data, handle function calls, and solve backtracking problems</a:t>
            </a:r>
          </a:p>
          <a:p>
            <a:pPr marL="342900" indent="-342900"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the time and space complexity of stack-based algorithms</a:t>
            </a:r>
          </a:p>
        </p:txBody>
      </p:sp>
    </p:spTree>
    <p:extLst>
      <p:ext uri="{BB962C8B-B14F-4D97-AF65-F5344CB8AC3E}">
        <p14:creationId xmlns:p14="http://schemas.microsoft.com/office/powerpoint/2010/main" val="327407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298973"/>
            <a:ext cx="792088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Application of Stack in Data Structure are :</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8" name="Rectangle 7"/>
          <p:cNvSpPr/>
          <p:nvPr/>
        </p:nvSpPr>
        <p:spPr>
          <a:xfrm>
            <a:off x="539552" y="1443841"/>
            <a:ext cx="8223448" cy="3139321"/>
          </a:xfrm>
          <a:prstGeom prst="rect">
            <a:avLst/>
          </a:prstGeom>
        </p:spPr>
        <p:txBody>
          <a:bodyPr wrap="square">
            <a:spAutoFit/>
          </a:bodyPr>
          <a:lstStyle/>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Evaluation of Arithmetic Expressions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Reverse a Data</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Processing Function Calls</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Backtracking (Tower of Hanoi Problem)</a:t>
            </a:r>
          </a:p>
          <a:p>
            <a:pPr marL="360363" indent="-360363">
              <a:lnSpc>
                <a:spcPct val="150000"/>
              </a:lnSpc>
              <a:buFont typeface="Wingdings" pitchFamily="2" charset="2"/>
              <a:buChar char="Ø"/>
            </a:pPr>
            <a:r>
              <a:rPr lang="en-US" sz="2400" dirty="0">
                <a:latin typeface="Times New Roman" panose="02020603050405020304" pitchFamily="18" charset="0"/>
                <a:cs typeface="Times New Roman" panose="02020603050405020304" pitchFamily="18" charset="0"/>
              </a:rPr>
              <a:t>Delimiter Checking</a:t>
            </a:r>
          </a:p>
          <a:p>
            <a:pPr algn="just"/>
            <a:endParaRPr lang="en-US"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636068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0537" y="322240"/>
            <a:ext cx="8219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40537" y="1376191"/>
            <a:ext cx="8748463" cy="3585597"/>
          </a:xfrm>
          <a:prstGeom prst="rect">
            <a:avLst/>
          </a:prstGeom>
          <a:noFill/>
        </p:spPr>
        <p:txBody>
          <a:bodyPr wrap="square" rtlCol="0">
            <a:spAutoFit/>
          </a:bodyPr>
          <a:lstStyle/>
          <a:p>
            <a:pPr algn="just">
              <a:spcBef>
                <a:spcPts val="600"/>
              </a:spcBef>
              <a:buNone/>
            </a:pPr>
            <a:r>
              <a:rPr lang="en-US" sz="2400" dirty="0">
                <a:latin typeface="Times New Roman" panose="02020603050405020304" pitchFamily="18" charset="0"/>
                <a:cs typeface="Times New Roman" panose="02020603050405020304" pitchFamily="18" charset="0"/>
              </a:rPr>
              <a:t>An arithmetic expression can be represented as a </a:t>
            </a:r>
            <a:r>
              <a:rPr lang="en-US" sz="2400" b="1" dirty="0">
                <a:latin typeface="Times New Roman" panose="02020603050405020304" pitchFamily="18" charset="0"/>
                <a:cs typeface="Times New Roman" panose="02020603050405020304" pitchFamily="18" charset="0"/>
              </a:rPr>
              <a:t>string</a:t>
            </a:r>
            <a:r>
              <a:rPr lang="en-US" sz="2400" dirty="0">
                <a:latin typeface="Times New Roman" panose="02020603050405020304" pitchFamily="18" charset="0"/>
                <a:cs typeface="Times New Roman" panose="02020603050405020304" pitchFamily="18" charset="0"/>
              </a:rPr>
              <a:t> consisting of:</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Operands (numbers or variables)</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Operators (+ , − , * , /)</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Parentheses ( )</a:t>
            </a:r>
          </a:p>
          <a:p>
            <a:pPr algn="just">
              <a:spcBef>
                <a:spcPts val="600"/>
              </a:spcBef>
              <a:buNone/>
            </a:pPr>
            <a:endParaRPr lang="en-US" sz="2400" dirty="0">
              <a:latin typeface="Times New Roman" panose="02020603050405020304" pitchFamily="18" charset="0"/>
              <a:cs typeface="Times New Roman" panose="02020603050405020304" pitchFamily="18" charset="0"/>
            </a:endParaRPr>
          </a:p>
          <a:p>
            <a:pPr algn="just">
              <a:spcBef>
                <a:spcPts val="600"/>
              </a:spcBef>
              <a:buNone/>
            </a:pPr>
            <a:r>
              <a:rPr lang="en-US" sz="2400" dirty="0">
                <a:latin typeface="Times New Roman" panose="02020603050405020304" pitchFamily="18" charset="0"/>
                <a:cs typeface="Times New Roman" panose="02020603050405020304" pitchFamily="18" charset="0"/>
              </a:rPr>
              <a:t>You may assume that:</a:t>
            </a: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All parentheses are </a:t>
            </a:r>
            <a:r>
              <a:rPr lang="en-US" sz="2400" b="1" dirty="0">
                <a:latin typeface="Times New Roman" panose="02020603050405020304" pitchFamily="18" charset="0"/>
                <a:cs typeface="Times New Roman" panose="02020603050405020304" pitchFamily="18" charset="0"/>
              </a:rPr>
              <a:t>well-matched</a:t>
            </a:r>
            <a:endParaRPr lang="en-US" sz="2400" dirty="0">
              <a:latin typeface="Times New Roman" panose="02020603050405020304" pitchFamily="18" charset="0"/>
              <a:cs typeface="Times New Roman" panose="02020603050405020304" pitchFamily="18" charset="0"/>
            </a:endParaRPr>
          </a:p>
          <a:p>
            <a:pPr marL="268288" indent="-268288" algn="just">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Only </a:t>
            </a:r>
            <a:r>
              <a:rPr lang="en-US" sz="2400" b="1" dirty="0">
                <a:latin typeface="Times New Roman" panose="02020603050405020304" pitchFamily="18" charset="0"/>
                <a:cs typeface="Times New Roman" panose="02020603050405020304" pitchFamily="18" charset="0"/>
              </a:rPr>
              <a:t>binary operators</a:t>
            </a:r>
            <a:r>
              <a:rPr lang="en-US" sz="2400" dirty="0">
                <a:latin typeface="Times New Roman" panose="02020603050405020304" pitchFamily="18" charset="0"/>
                <a:cs typeface="Times New Roman" panose="02020603050405020304" pitchFamily="18" charset="0"/>
              </a:rPr>
              <a:t> (+ , − , * , /) are used</a:t>
            </a:r>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54605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5A550-898D-6F9D-C017-F217B2B750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255A6B-33B3-335E-D92F-38AE76E27DF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DDB18FF-D018-9DB8-6DC1-0AC68D186833}"/>
              </a:ext>
            </a:extLst>
          </p:cNvPr>
          <p:cNvSpPr>
            <a:spLocks noChangeArrowheads="1"/>
          </p:cNvSpPr>
          <p:nvPr/>
        </p:nvSpPr>
        <p:spPr bwMode="auto">
          <a:xfrm>
            <a:off x="365843" y="334971"/>
            <a:ext cx="80648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Expression Evaluation Using Stack</a:t>
            </a:r>
          </a:p>
        </p:txBody>
      </p:sp>
      <p:cxnSp>
        <p:nvCxnSpPr>
          <p:cNvPr id="7" name="Straight Connector 6">
            <a:extLst>
              <a:ext uri="{FF2B5EF4-FFF2-40B4-BE49-F238E27FC236}">
                <a16:creationId xmlns:a16="http://schemas.microsoft.com/office/drawing/2014/main" id="{7DD8361B-55D3-504A-85C1-D87AF5DA91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E91C73E-A165-9926-236E-76F4AAFE8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A57C6FD-ECA8-8D35-C7BF-E0277105E82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18A870C-AE6D-B0F1-02C8-613432A773D3}"/>
              </a:ext>
            </a:extLst>
          </p:cNvPr>
          <p:cNvSpPr txBox="1"/>
          <p:nvPr/>
        </p:nvSpPr>
        <p:spPr>
          <a:xfrm>
            <a:off x="395536" y="1376191"/>
            <a:ext cx="8424936" cy="4524315"/>
          </a:xfrm>
          <a:prstGeom prst="rect">
            <a:avLst/>
          </a:prstGeom>
          <a:noFill/>
        </p:spPr>
        <p:txBody>
          <a:bodyPr wrap="square" rtlCol="0">
            <a:spAutoFit/>
          </a:bodyPr>
          <a:lstStyle/>
          <a:p>
            <a:pPr algn="just">
              <a:buNone/>
            </a:pPr>
            <a:r>
              <a:rPr lang="en-US" sz="2400" dirty="0">
                <a:latin typeface="Times New Roman" panose="02020603050405020304" pitchFamily="18" charset="0"/>
                <a:cs typeface="Times New Roman" panose="02020603050405020304" pitchFamily="18" charset="0"/>
              </a:rPr>
              <a:t>Arithmetic expressions can be written in </a:t>
            </a:r>
            <a:r>
              <a:rPr lang="en-US" sz="2400" b="1" dirty="0">
                <a:latin typeface="Times New Roman" panose="02020603050405020304" pitchFamily="18" charset="0"/>
                <a:cs typeface="Times New Roman" panose="02020603050405020304" pitchFamily="18" charset="0"/>
              </a:rPr>
              <a:t>three different notations</a:t>
            </a:r>
            <a:r>
              <a:rPr lang="en-US" sz="2400" dirty="0">
                <a:latin typeface="Times New Roman" panose="02020603050405020304" pitchFamily="18" charset="0"/>
                <a:cs typeface="Times New Roman" panose="02020603050405020304" pitchFamily="18" charset="0"/>
              </a:rPr>
              <a:t>:</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Infix Notation</a:t>
            </a:r>
            <a:r>
              <a:rPr lang="en-US" sz="2400" dirty="0">
                <a:latin typeface="Times New Roman" panose="02020603050405020304" pitchFamily="18" charset="0"/>
                <a:cs typeface="Times New Roman" panose="02020603050405020304" pitchFamily="18" charset="0"/>
              </a:rPr>
              <a:t> – Operator is placed between operands</a:t>
            </a:r>
          </a:p>
          <a:p>
            <a:pPr lvl="1" algn="ctr"/>
            <a:r>
              <a:rPr lang="en-US" sz="2400" dirty="0">
                <a:latin typeface="Times New Roman" panose="02020603050405020304" pitchFamily="18" charset="0"/>
                <a:cs typeface="Times New Roman" panose="02020603050405020304" pitchFamily="18" charset="0"/>
              </a:rPr>
              <a:t>A + B</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Prefix Notation (Polish Notation)</a:t>
            </a:r>
            <a:r>
              <a:rPr lang="en-US" sz="2400" dirty="0">
                <a:latin typeface="Times New Roman" panose="02020603050405020304" pitchFamily="18" charset="0"/>
                <a:cs typeface="Times New Roman" panose="02020603050405020304" pitchFamily="18" charset="0"/>
              </a:rPr>
              <a:t> – Operator is placed before operands</a:t>
            </a:r>
          </a:p>
          <a:p>
            <a:pPr lvl="1" algn="ctr"/>
            <a:r>
              <a:rPr lang="en-US" sz="2400" dirty="0">
                <a:latin typeface="Times New Roman" panose="02020603050405020304" pitchFamily="18" charset="0"/>
                <a:cs typeface="Times New Roman" panose="02020603050405020304" pitchFamily="18" charset="0"/>
              </a:rPr>
              <a:t>+ A B</a:t>
            </a:r>
          </a:p>
          <a:p>
            <a:pPr algn="just">
              <a:buFont typeface="+mj-lt"/>
              <a:buAutoNum type="arabicPeriod"/>
            </a:pPr>
            <a:r>
              <a:rPr lang="en-US" sz="2400" b="1" dirty="0">
                <a:latin typeface="Times New Roman" panose="02020603050405020304" pitchFamily="18" charset="0"/>
                <a:cs typeface="Times New Roman" panose="02020603050405020304" pitchFamily="18" charset="0"/>
              </a:rPr>
              <a:t> Postfix Notation (Reverse Polish Notation)</a:t>
            </a:r>
            <a:r>
              <a:rPr lang="en-US" sz="2400" dirty="0">
                <a:latin typeface="Times New Roman" panose="02020603050405020304" pitchFamily="18" charset="0"/>
                <a:cs typeface="Times New Roman" panose="02020603050405020304" pitchFamily="18" charset="0"/>
              </a:rPr>
              <a:t> – Operator is placed after operands</a:t>
            </a:r>
          </a:p>
          <a:p>
            <a:pPr lvl="1" algn="ctr"/>
            <a:r>
              <a:rPr lang="en-US" sz="2400" dirty="0">
                <a:latin typeface="Times New Roman" panose="02020603050405020304" pitchFamily="18" charset="0"/>
                <a:cs typeface="Times New Roman" panose="02020603050405020304" pitchFamily="18" charset="0"/>
              </a:rPr>
              <a:t>A B +</a:t>
            </a:r>
          </a:p>
          <a:p>
            <a:pPr algn="just"/>
            <a:r>
              <a:rPr lang="en-US" sz="2400" dirty="0">
                <a:latin typeface="Times New Roman" panose="02020603050405020304" pitchFamily="18" charset="0"/>
                <a:cs typeface="Times New Roman" panose="02020603050405020304" pitchFamily="18" charset="0"/>
              </a:rPr>
              <a:t>Stacks are commonly used to </a:t>
            </a:r>
            <a:r>
              <a:rPr lang="en-US" sz="2400" b="1" dirty="0">
                <a:latin typeface="Times New Roman" panose="02020603050405020304" pitchFamily="18" charset="0"/>
                <a:cs typeface="Times New Roman" panose="02020603050405020304" pitchFamily="18" charset="0"/>
              </a:rPr>
              <a:t>convert between these notations</a:t>
            </a:r>
            <a:r>
              <a:rPr lang="en-US" sz="2400" dirty="0">
                <a:latin typeface="Times New Roman" panose="02020603050405020304" pitchFamily="18" charset="0"/>
                <a:cs typeface="Times New Roman" panose="02020603050405020304" pitchFamily="18" charset="0"/>
              </a:rPr>
              <a:t> and to </a:t>
            </a:r>
            <a:r>
              <a:rPr lang="en-US" sz="2400" b="1" dirty="0">
                <a:latin typeface="Times New Roman" panose="02020603050405020304" pitchFamily="18" charset="0"/>
                <a:cs typeface="Times New Roman" panose="02020603050405020304" pitchFamily="18" charset="0"/>
              </a:rPr>
              <a:t>evaluate prefix and postfix expressions efficiently</a:t>
            </a:r>
            <a:r>
              <a:rPr lang="en-US" sz="2400" dirty="0">
                <a:latin typeface="Times New Roman" panose="02020603050405020304" pitchFamily="18" charset="0"/>
                <a:cs typeface="Times New Roman" panose="02020603050405020304" pitchFamily="18" charset="0"/>
              </a:rPr>
              <a:t>.</a:t>
            </a:r>
            <a:endParaRPr lang="en-IN" sz="2400" dirty="0"/>
          </a:p>
        </p:txBody>
      </p:sp>
      <p:sp>
        <p:nvSpPr>
          <p:cNvPr id="3" name="AutoShape 2" descr="Notations For Arithmetic Expressions. - Sarthaks eConnect | Largest Online  Education Community">
            <a:extLst>
              <a:ext uri="{FF2B5EF4-FFF2-40B4-BE49-F238E27FC236}">
                <a16:creationId xmlns:a16="http://schemas.microsoft.com/office/drawing/2014/main" id="{E7E8BE0B-DCC6-50D0-13B6-76927DA9A3D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a:extLst>
              <a:ext uri="{FF2B5EF4-FFF2-40B4-BE49-F238E27FC236}">
                <a16:creationId xmlns:a16="http://schemas.microsoft.com/office/drawing/2014/main" id="{C6A9E2C8-B60B-F3F4-7A0C-C911C7325148}"/>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218238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4" y="298973"/>
            <a:ext cx="8064897"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Notations for Arithmetic Expression</a:t>
            </a:r>
          </a:p>
          <a:p>
            <a:pPr>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1496511"/>
            <a:ext cx="7632848" cy="3496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60374" y="5334000"/>
            <a:ext cx="8223249" cy="646331"/>
          </a:xfrm>
          <a:prstGeom prst="rect">
            <a:avLst/>
          </a:prstGeom>
        </p:spPr>
        <p:txBody>
          <a:bodyPr wrap="square">
            <a:spAutoFit/>
          </a:bodyPr>
          <a:lstStyle/>
          <a:p>
            <a:r>
              <a:rPr lang="en-IN" dirty="0">
                <a:hlinkClick r:id="rId6"/>
              </a:rPr>
              <a:t>https://www.sarthaks.com/3456368/notations-for-arithmetic-expressions</a:t>
            </a:r>
            <a:endParaRPr lang="en-IN" dirty="0"/>
          </a:p>
          <a:p>
            <a:endParaRPr lang="en-IN" dirty="0"/>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65783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The standard precedence rules for arithmetic expression</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graphicFrame>
        <p:nvGraphicFramePr>
          <p:cNvPr id="8" name="Table 7"/>
          <p:cNvGraphicFramePr>
            <a:graphicFrameLocks noGrp="1"/>
          </p:cNvGraphicFramePr>
          <p:nvPr>
            <p:extLst>
              <p:ext uri="{D42A27DB-BD31-4B8C-83A1-F6EECF244321}">
                <p14:modId xmlns:p14="http://schemas.microsoft.com/office/powerpoint/2010/main" val="779472429"/>
              </p:ext>
            </p:extLst>
          </p:nvPr>
        </p:nvGraphicFramePr>
        <p:xfrm>
          <a:off x="381000" y="1638341"/>
          <a:ext cx="8229600" cy="4022390"/>
        </p:xfrm>
        <a:graphic>
          <a:graphicData uri="http://schemas.openxmlformats.org/drawingml/2006/table">
            <a:tbl>
              <a:tblPr>
                <a:tableStyleId>{616DA210-FB5B-4158-B5E0-FEB733F419BA}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24934">
                <a:tc>
                  <a:txBody>
                    <a:bodyPr/>
                    <a:lstStyle/>
                    <a:p>
                      <a:pPr algn="l" fontAlgn="t"/>
                      <a:r>
                        <a:rPr lang="en-IN" sz="2400" b="1" dirty="0">
                          <a:effectLst/>
                          <a:latin typeface="Times New Roman" panose="02020603050405020304" pitchFamily="18" charset="0"/>
                          <a:cs typeface="Times New Roman" panose="02020603050405020304" pitchFamily="18" charset="0"/>
                        </a:rPr>
                        <a:t>Operators</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400" b="1" dirty="0">
                          <a:effectLst/>
                          <a:latin typeface="Times New Roman" panose="02020603050405020304" pitchFamily="18" charset="0"/>
                          <a:cs typeface="Times New Roman" panose="02020603050405020304" pitchFamily="18" charset="0"/>
                        </a:rPr>
                        <a:t>Associativity</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tc>
                  <a:txBody>
                    <a:bodyPr/>
                    <a:lstStyle/>
                    <a:p>
                      <a:pPr algn="l" fontAlgn="t"/>
                      <a:r>
                        <a:rPr lang="en-IN" sz="2400" b="1" dirty="0">
                          <a:effectLst/>
                          <a:latin typeface="Times New Roman" panose="02020603050405020304" pitchFamily="18" charset="0"/>
                          <a:cs typeface="Times New Roman" panose="02020603050405020304" pitchFamily="18" charset="0"/>
                        </a:rPr>
                        <a:t>Precedence</a:t>
                      </a:r>
                      <a:endParaRPr lang="en-IN" sz="2400" b="1" dirty="0">
                        <a:solidFill>
                          <a:srgbClr val="000000"/>
                        </a:solidFill>
                        <a:effectLst/>
                        <a:latin typeface="Times New Roman" panose="02020603050405020304" pitchFamily="18" charset="0"/>
                        <a:cs typeface="Times New Roman" panose="02020603050405020304" pitchFamily="18" charset="0"/>
                      </a:endParaRPr>
                    </a:p>
                  </a:txBody>
                  <a:tcPr marL="92844" marR="92844" marT="92844" marB="92844"/>
                </a:tc>
                <a:extLst>
                  <a:ext uri="{0D108BD9-81ED-4DB2-BD59-A6C34878D82A}">
                    <a16:rowId xmlns:a16="http://schemas.microsoft.com/office/drawing/2014/main" val="10000"/>
                  </a:ext>
                </a:extLst>
              </a:tr>
              <a:tr h="1016637">
                <a:tc>
                  <a:txBody>
                    <a:bodyPr/>
                    <a:lstStyle/>
                    <a:p>
                      <a:pPr algn="just" fontAlgn="t"/>
                      <a:r>
                        <a:rPr lang="en-IN" sz="2400" dirty="0">
                          <a:effectLst/>
                          <a:latin typeface="Times New Roman" panose="02020603050405020304" pitchFamily="18" charset="0"/>
                          <a:cs typeface="Times New Roman" panose="02020603050405020304" pitchFamily="18" charset="0"/>
                        </a:rPr>
                        <a:t>^ exponentiation</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Right to left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400">
                          <a:effectLst/>
                          <a:latin typeface="Times New Roman" panose="02020603050405020304" pitchFamily="18" charset="0"/>
                          <a:cs typeface="Times New Roman" panose="02020603050405020304" pitchFamily="18" charset="0"/>
                        </a:rPr>
                        <a:t>Highest followed by *Multiplication and /division</a:t>
                      </a:r>
                      <a:endParaRPr lang="en-US"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1"/>
                  </a:ext>
                </a:extLst>
              </a:tr>
              <a:tr h="1016637">
                <a:tc>
                  <a:txBody>
                    <a:bodyPr/>
                    <a:lstStyle/>
                    <a:p>
                      <a:pPr algn="just" fontAlgn="t"/>
                      <a:r>
                        <a:rPr lang="en-IN" sz="2400">
                          <a:effectLst/>
                          <a:latin typeface="Times New Roman" panose="02020603050405020304" pitchFamily="18" charset="0"/>
                          <a:cs typeface="Times New Roman" panose="02020603050405020304" pitchFamily="18" charset="0"/>
                        </a:rPr>
                        <a:t>*Multiplication, /division</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Left to right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US" sz="2400" dirty="0">
                          <a:effectLst/>
                          <a:latin typeface="Times New Roman" panose="02020603050405020304" pitchFamily="18" charset="0"/>
                          <a:cs typeface="Times New Roman" panose="02020603050405020304" pitchFamily="18" charset="0"/>
                        </a:rPr>
                        <a:t>Highest followed by + addition and - subtraction</a:t>
                      </a:r>
                      <a:endParaRPr lang="en-US"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2"/>
                  </a:ext>
                </a:extLst>
              </a:tr>
              <a:tr h="616626">
                <a:tc>
                  <a:txBody>
                    <a:bodyPr/>
                    <a:lstStyle/>
                    <a:p>
                      <a:pPr algn="just" fontAlgn="t"/>
                      <a:r>
                        <a:rPr lang="en-IN" sz="2400">
                          <a:effectLst/>
                          <a:latin typeface="Times New Roman" panose="02020603050405020304" pitchFamily="18" charset="0"/>
                          <a:cs typeface="Times New Roman" panose="02020603050405020304" pitchFamily="18" charset="0"/>
                        </a:rPr>
                        <a:t>+ addition, - subtraction</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a:effectLst/>
                          <a:latin typeface="Times New Roman" panose="02020603050405020304" pitchFamily="18" charset="0"/>
                          <a:cs typeface="Times New Roman" panose="02020603050405020304" pitchFamily="18" charset="0"/>
                        </a:rPr>
                        <a:t>Left to right</a:t>
                      </a:r>
                      <a:endParaRPr lang="en-IN" sz="240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tc>
                  <a:txBody>
                    <a:bodyPr/>
                    <a:lstStyle/>
                    <a:p>
                      <a:pPr algn="just" fontAlgn="t"/>
                      <a:r>
                        <a:rPr lang="en-IN" sz="2400" dirty="0">
                          <a:effectLst/>
                          <a:latin typeface="Times New Roman" panose="02020603050405020304" pitchFamily="18" charset="0"/>
                          <a:cs typeface="Times New Roman" panose="02020603050405020304" pitchFamily="18" charset="0"/>
                        </a:rPr>
                        <a:t>lowest</a:t>
                      </a:r>
                      <a:endParaRPr lang="en-IN" sz="2400" dirty="0">
                        <a:solidFill>
                          <a:srgbClr val="333333"/>
                        </a:solidFill>
                        <a:effectLst/>
                        <a:latin typeface="Times New Roman" panose="02020603050405020304" pitchFamily="18" charset="0"/>
                        <a:cs typeface="Times New Roman" panose="02020603050405020304" pitchFamily="18" charset="0"/>
                      </a:endParaRPr>
                    </a:p>
                  </a:txBody>
                  <a:tcPr marL="61896" marR="61896" marT="61896" marB="61896"/>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2685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DD66E-DD23-22AD-C63B-44B4409C26E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43D0515-8645-EBA3-FE1A-DBC774309C9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DC0F243-3A86-12F3-FC54-A7C622CC9088}"/>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Check for Understanding</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A59FEE-3FF9-A20E-E869-D0BBE7CA20D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7620437-DA30-B228-CADC-5176B7A6B6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64EDB72-035A-01A2-D1BA-106D739113C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0EA54190-4685-E28C-E215-EB86E8356132}"/>
              </a:ext>
            </a:extLst>
          </p:cNvPr>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a:extLst>
              <a:ext uri="{FF2B5EF4-FFF2-40B4-BE49-F238E27FC236}">
                <a16:creationId xmlns:a16="http://schemas.microsoft.com/office/drawing/2014/main" id="{7790037F-023E-5CEA-3330-31047C4354B1}"/>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F1D8CA74-6C22-BC23-9750-5DBF05ABA1A0}"/>
              </a:ext>
            </a:extLst>
          </p:cNvPr>
          <p:cNvSpPr txBox="1"/>
          <p:nvPr/>
        </p:nvSpPr>
        <p:spPr>
          <a:xfrm>
            <a:off x="347324" y="1321799"/>
            <a:ext cx="8064896" cy="2795958"/>
          </a:xfrm>
          <a:prstGeom prst="rect">
            <a:avLst/>
          </a:prstGeom>
          <a:noFill/>
        </p:spPr>
        <p:txBody>
          <a:bodyPr wrap="square">
            <a:spAutoFit/>
          </a:bodyPr>
          <a:lstStyle/>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notation is easiest for a computer to evaluate?</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data structure is used to store operators during infix to postfix conversion?</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What is the time complexity of postfix evaluation using stack?</a:t>
            </a:r>
          </a:p>
          <a:p>
            <a:pPr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Which element is removed first during evaluation?</a:t>
            </a:r>
          </a:p>
        </p:txBody>
      </p:sp>
    </p:spTree>
    <p:extLst>
      <p:ext uri="{BB962C8B-B14F-4D97-AF65-F5344CB8AC3E}">
        <p14:creationId xmlns:p14="http://schemas.microsoft.com/office/powerpoint/2010/main" val="183005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B38E-7C5B-1B85-AA7E-22DA66DF34F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6DE6B53-5716-8D13-E740-1F2FF56CB13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C11B8F27-0D87-D187-7C83-79FD95380ECC}"/>
              </a:ext>
            </a:extLst>
          </p:cNvPr>
          <p:cNvSpPr>
            <a:spLocks noChangeArrowheads="1"/>
          </p:cNvSpPr>
          <p:nvPr/>
        </p:nvSpPr>
        <p:spPr bwMode="auto">
          <a:xfrm>
            <a:off x="173275" y="333791"/>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Check for Understanding (Answers)</a:t>
            </a:r>
            <a:endParaRPr lang="en-IN" sz="28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B30336C-669F-02EF-06D5-2E88637E092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D2C1C44-CDAC-A28D-F7C3-87AF68E37B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D30B7F6-744E-CD30-668C-6BA7CBC7FD0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D4CAE1A8-7897-75FC-EE06-8F8DF0536614}"/>
              </a:ext>
            </a:extLst>
          </p:cNvPr>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3" name="Footer Placeholder 2">
            <a:extLst>
              <a:ext uri="{FF2B5EF4-FFF2-40B4-BE49-F238E27FC236}">
                <a16:creationId xmlns:a16="http://schemas.microsoft.com/office/drawing/2014/main" id="{92A43A67-A4A0-3328-BC3C-AF4C060AF382}"/>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809AC484-6AC7-8DF6-AFC6-AC3B92AEEA73}"/>
              </a:ext>
            </a:extLst>
          </p:cNvPr>
          <p:cNvSpPr txBox="1"/>
          <p:nvPr/>
        </p:nvSpPr>
        <p:spPr>
          <a:xfrm>
            <a:off x="347324" y="1321799"/>
            <a:ext cx="8064896" cy="2241960"/>
          </a:xfrm>
          <a:prstGeom prst="rect">
            <a:avLst/>
          </a:prstGeom>
          <a:noFill/>
        </p:spPr>
        <p:txBody>
          <a:bodyPr wrap="square">
            <a:spAutoFit/>
          </a:bodyPr>
          <a:lstStyle/>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Postfix</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Stack</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O(n)</a:t>
            </a:r>
          </a:p>
          <a:p>
            <a:pPr marL="457200" indent="-457200" algn="just">
              <a:lnSpc>
                <a:spcPct val="150000"/>
              </a:lnSpc>
              <a:buAutoNum type="arabicPeriod"/>
            </a:pPr>
            <a:r>
              <a:rPr lang="en-US" sz="2400" dirty="0">
                <a:latin typeface="Times New Roman" panose="02020603050405020304" pitchFamily="18" charset="0"/>
                <a:cs typeface="Times New Roman" panose="02020603050405020304" pitchFamily="18" charset="0"/>
              </a:rPr>
              <a:t>Top element</a:t>
            </a:r>
          </a:p>
        </p:txBody>
      </p:sp>
    </p:spTree>
    <p:extLst>
      <p:ext uri="{BB962C8B-B14F-4D97-AF65-F5344CB8AC3E}">
        <p14:creationId xmlns:p14="http://schemas.microsoft.com/office/powerpoint/2010/main" val="2791397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Conversion</a:t>
            </a:r>
            <a:br>
              <a:rPr lang="en-US" sz="3200" b="1" dirty="0">
                <a:solidFill>
                  <a:srgbClr val="E31E24"/>
                </a:solidFill>
                <a:cs typeface="Times New Roman" panose="02020603050405020304" pitchFamily="18" charset="0"/>
                <a:sym typeface="Arial"/>
              </a:rPr>
            </a:b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1" name="Content Placeholder 2"/>
          <p:cNvSpPr txBox="1">
            <a:spLocks/>
          </p:cNvSpPr>
          <p:nvPr/>
        </p:nvSpPr>
        <p:spPr>
          <a:xfrm>
            <a:off x="381000" y="1295400"/>
            <a:ext cx="7498080" cy="4800600"/>
          </a:xfrm>
          <a:prstGeom prst="rect">
            <a:avLst/>
          </a:prstGeom>
        </p:spPr>
        <p:txBody>
          <a:bodyPr vert="horz" lIns="91440" tIns="45720" rIns="91440" bIns="45720" rtlCol="0">
            <a:normAutofit/>
          </a:bodyPr>
          <a:lstStyle/>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Infix to </a:t>
            </a:r>
            <a:r>
              <a:rPr lang="en-US" sz="2400" noProof="0" dirty="0">
                <a:latin typeface="Times New Roman" pitchFamily="18" charset="0"/>
                <a:cs typeface="Times New Roman" pitchFamily="18" charset="0"/>
              </a:rPr>
              <a:t>P</a:t>
            </a: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ostfix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Infix to Prefix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u="none" strike="noStrike" kern="1200" cap="none" spc="0" normalizeH="0" baseline="0" noProof="0" dirty="0">
                <a:ln>
                  <a:noFill/>
                </a:ln>
                <a:solidFill>
                  <a:schemeClr val="tx1"/>
                </a:solidFill>
                <a:effectLst/>
                <a:uLnTx/>
                <a:uFillTx/>
                <a:latin typeface="Times New Roman" pitchFamily="18" charset="0"/>
                <a:cs typeface="Times New Roman" pitchFamily="18" charset="0"/>
              </a:rPr>
              <a:t>Postfix to Prefix</a:t>
            </a:r>
          </a:p>
          <a:p>
            <a:pPr marL="342900" indent="-342900" algn="just">
              <a:lnSpc>
                <a:spcPct val="150000"/>
              </a:lnSpc>
              <a:spcBef>
                <a:spcPct val="20000"/>
              </a:spcBef>
              <a:buFont typeface="Wingdings" pitchFamily="2" charset="2"/>
              <a:buChar char="Ø"/>
              <a:defRPr/>
            </a:pPr>
            <a:r>
              <a:rPr lang="en-US" sz="2400" dirty="0">
                <a:latin typeface="Times New Roman" pitchFamily="18" charset="0"/>
                <a:cs typeface="Times New Roman" pitchFamily="18" charset="0"/>
              </a:rPr>
              <a:t>Postfix to In fix</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Infix</a:t>
            </a:r>
          </a:p>
          <a:p>
            <a:pPr marL="342900" marR="0" lvl="0" indent="-342900" algn="just" defTabSz="914400" rtl="0" eaLnBrk="1" fontAlgn="auto" latinLnBrk="0" hangingPunct="1">
              <a:lnSpc>
                <a:spcPct val="150000"/>
              </a:lnSpc>
              <a:spcBef>
                <a:spcPct val="20000"/>
              </a:spcBef>
              <a:spcAft>
                <a:spcPts val="0"/>
              </a:spcAft>
              <a:buClrTx/>
              <a:buSzTx/>
              <a:buFont typeface="Wingdings" pitchFamily="2" charset="2"/>
              <a:buChar char="Ø"/>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Pre fix to postfix</a:t>
            </a:r>
          </a:p>
          <a:p>
            <a:pPr marL="342900" marR="0" lvl="0" indent="-342900" algn="just"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pic>
        <p:nvPicPr>
          <p:cNvPr id="12" name="Picture 2"/>
          <p:cNvPicPr>
            <a:picLocks noChangeAspect="1" noChangeArrowheads="1"/>
          </p:cNvPicPr>
          <p:nvPr/>
        </p:nvPicPr>
        <p:blipFill>
          <a:blip r:embed="rId5"/>
          <a:srcRect l="33968" t="23958" r="33821" b="56250"/>
          <a:stretch>
            <a:fillRect/>
          </a:stretch>
        </p:blipFill>
        <p:spPr bwMode="auto">
          <a:xfrm>
            <a:off x="3872408" y="1999891"/>
            <a:ext cx="4876056" cy="1981200"/>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856232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96944" cy="4401205"/>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all the symbols one by one from left to right in the given Infix Expression.</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operand, then immediately append it to the Postfix Expression.</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left parenthesis ‘( ‘, then Push it onto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right parenthesis ‘)’, then Pop all the contents of the stack until the respective left parenthesis is popped and append each popped symbol to Postfix Expression.</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12062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3" y="1196752"/>
            <a:ext cx="8424936" cy="3354765"/>
          </a:xfrm>
          <a:prstGeom prst="rect">
            <a:avLst/>
          </a:prstGeom>
          <a:noFill/>
        </p:spPr>
        <p:txBody>
          <a:bodyPr wrap="square" rtlCol="0">
            <a:spAutoFit/>
          </a:bodyPr>
          <a:lstStyle/>
          <a:p>
            <a:pPr>
              <a:spcBef>
                <a:spcPts val="600"/>
              </a:spcBef>
              <a:spcAft>
                <a:spcPts val="600"/>
              </a:spcAft>
            </a:pPr>
            <a:r>
              <a:rPr lang="en-US" sz="2400" b="1" dirty="0">
                <a:latin typeface="Times New Roman" panose="02020603050405020304" pitchFamily="18" charset="0"/>
                <a:cs typeface="Times New Roman" panose="02020603050405020304" pitchFamily="18" charset="0"/>
              </a:rPr>
              <a:t>Algorithm for Conversion of Infix to Postfix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operator (+, –, *, /), then Push it onto the Stack. However, first, pop the operators that are already on the stack that have higher or equal precedence than the current operator and append them to the postfix. If an open parenthesis is there on top of the stack, then push the operator into the stack.</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input is over, pop all the remaining symbols from the stack and append them to the postfix.</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204251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4307"/>
          <a:stretch>
            <a:fillRect/>
          </a:stretch>
        </p:blipFill>
        <p:spPr bwMode="auto">
          <a:xfrm>
            <a:off x="827584" y="1644113"/>
            <a:ext cx="7729667" cy="38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3503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6879" b="31099"/>
          <a:stretch>
            <a:fillRect/>
          </a:stretch>
        </p:blipFill>
        <p:spPr bwMode="auto">
          <a:xfrm>
            <a:off x="971600" y="1823925"/>
            <a:ext cx="7452320" cy="3350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12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2051" name="Picture 3"/>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465" t="70538"/>
          <a:stretch>
            <a:fillRect/>
          </a:stretch>
        </p:blipFill>
        <p:spPr bwMode="auto">
          <a:xfrm>
            <a:off x="899592" y="1661506"/>
            <a:ext cx="7651576" cy="3563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764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6702"/>
          <a:stretch>
            <a:fillRect/>
          </a:stretch>
        </p:blipFill>
        <p:spPr bwMode="auto">
          <a:xfrm>
            <a:off x="737828" y="1701414"/>
            <a:ext cx="7704856" cy="372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487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29868" b="30679"/>
          <a:stretch>
            <a:fillRect/>
          </a:stretch>
        </p:blipFill>
        <p:spPr bwMode="auto">
          <a:xfrm>
            <a:off x="809836" y="1788615"/>
            <a:ext cx="7560840" cy="3761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6125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307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7605"/>
          <a:stretch>
            <a:fillRect/>
          </a:stretch>
        </p:blipFill>
        <p:spPr bwMode="auto">
          <a:xfrm>
            <a:off x="935596" y="1631813"/>
            <a:ext cx="7272808" cy="367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2100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4098"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3797" r="7330" b="33374"/>
          <a:stretch>
            <a:fillRect/>
          </a:stretch>
        </p:blipFill>
        <p:spPr bwMode="auto">
          <a:xfrm>
            <a:off x="962726" y="1293834"/>
            <a:ext cx="7218548" cy="465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417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409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4972"/>
          <a:stretch>
            <a:fillRect/>
          </a:stretch>
        </p:blipFill>
        <p:spPr bwMode="auto">
          <a:xfrm>
            <a:off x="1259632" y="1666628"/>
            <a:ext cx="6624736" cy="3647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9074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47526"/>
          <a:stretch>
            <a:fillRect/>
          </a:stretch>
        </p:blipFill>
        <p:spPr bwMode="auto">
          <a:xfrm>
            <a:off x="838029" y="1570376"/>
            <a:ext cx="7504454" cy="36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47664" y="5519766"/>
            <a:ext cx="7128792" cy="923330"/>
          </a:xfrm>
          <a:prstGeom prst="rect">
            <a:avLst/>
          </a:prstGeom>
        </p:spPr>
        <p:txBody>
          <a:bodyPr wrap="square">
            <a:spAutoFit/>
          </a:bodyPr>
          <a:lstStyle/>
          <a:p>
            <a:r>
              <a:rPr lang="en-IN" dirty="0">
                <a:hlinkClick r:id="rId7"/>
              </a:rPr>
              <a:t>https://www.prepbytes.com/blog/stacks/infix-to-postfix-conversion-using-stack/</a:t>
            </a:r>
            <a:endParaRPr lang="en-IN" dirty="0"/>
          </a:p>
          <a:p>
            <a:endParaRPr lang="en-IN" dirty="0"/>
          </a:p>
        </p:txBody>
      </p:sp>
    </p:spTree>
    <p:extLst>
      <p:ext uri="{BB962C8B-B14F-4D97-AF65-F5344CB8AC3E}">
        <p14:creationId xmlns:p14="http://schemas.microsoft.com/office/powerpoint/2010/main" val="2722294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Postfix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512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56069"/>
          <a:stretch>
            <a:fillRect/>
          </a:stretch>
        </p:blipFill>
        <p:spPr bwMode="auto">
          <a:xfrm>
            <a:off x="1115616" y="1459469"/>
            <a:ext cx="7128792" cy="378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47664" y="5519766"/>
            <a:ext cx="7128792" cy="923330"/>
          </a:xfrm>
          <a:prstGeom prst="rect">
            <a:avLst/>
          </a:prstGeom>
        </p:spPr>
        <p:txBody>
          <a:bodyPr wrap="square">
            <a:spAutoFit/>
          </a:bodyPr>
          <a:lstStyle/>
          <a:p>
            <a:r>
              <a:rPr lang="en-IN" dirty="0">
                <a:hlinkClick r:id="rId7"/>
              </a:rPr>
              <a:t>https://www.prepbytes.com/blog/stacks/infix-to-postfix-conversion-using-stack/</a:t>
            </a:r>
            <a:endParaRPr lang="en-IN" dirty="0"/>
          </a:p>
          <a:p>
            <a:endParaRPr lang="en-IN" dirty="0"/>
          </a:p>
        </p:txBody>
      </p:sp>
    </p:spTree>
    <p:extLst>
      <p:ext uri="{BB962C8B-B14F-4D97-AF65-F5344CB8AC3E}">
        <p14:creationId xmlns:p14="http://schemas.microsoft.com/office/powerpoint/2010/main" val="1507822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FDF1A-B39D-C4A9-B497-E2E5B1D5AC4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B9F6B7-EC32-3991-9422-A2B5A087C25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D5C9379-E105-16BD-3717-66B4B9FD01EA}"/>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083CD9B-4CC6-9A8E-BFFE-7292B178EFC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D74EEB7-8A94-CD3D-9754-2EB751E4FE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FFB60AC-6669-3193-7E24-67EABDEE488E}"/>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DD8B20-5FE4-B89A-F249-9AB84999D4BC}"/>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C8C774A1-DE4B-DA62-2A0D-5E11035E89E6}"/>
              </a:ext>
            </a:extLst>
          </p:cNvPr>
          <p:cNvSpPr txBox="1"/>
          <p:nvPr/>
        </p:nvSpPr>
        <p:spPr>
          <a:xfrm>
            <a:off x="395536" y="1480231"/>
            <a:ext cx="7920880" cy="3416320"/>
          </a:xfrm>
          <a:prstGeom prst="rect">
            <a:avLst/>
          </a:prstGeom>
          <a:noFill/>
        </p:spPr>
        <p:txBody>
          <a:bodyPr wrap="square">
            <a:spAutoFit/>
          </a:bodyPr>
          <a:lstStyle/>
          <a:p>
            <a:pPr algn="just"/>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d) 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785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5191-963B-858C-81EE-7DE7DA03A90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6D2E7D-E4EC-7944-A9B2-7CB10F6B544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25FFD3B1-D91F-3E21-79B7-E862DFB53CDD}"/>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 (Answer)</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F14DF28-6728-75E0-C54E-36BCE9FA0AB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410E26A-B7A9-E216-593E-05BDB5C9C8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5E678B1-173B-2BCF-3811-D52E80C687A7}"/>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8C5796B3-A5CD-3FF0-9A6A-F2F101D1D0F9}"/>
              </a:ext>
            </a:extLst>
          </p:cNvPr>
          <p:cNvSpPr>
            <a:spLocks noGrp="1"/>
          </p:cNvSpPr>
          <p:nvPr>
            <p:ph type="ftr" sz="quarter" idx="11"/>
          </p:nvPr>
        </p:nvSpPr>
        <p:spPr/>
        <p:txBody>
          <a:bodyPr/>
          <a:lstStyle/>
          <a:p>
            <a:r>
              <a:rPr lang="en-IN"/>
              <a:t>Data  Structure         Unit2  </a:t>
            </a:r>
          </a:p>
        </p:txBody>
      </p:sp>
      <p:sp>
        <p:nvSpPr>
          <p:cNvPr id="10" name="TextBox 9">
            <a:extLst>
              <a:ext uri="{FF2B5EF4-FFF2-40B4-BE49-F238E27FC236}">
                <a16:creationId xmlns:a16="http://schemas.microsoft.com/office/drawing/2014/main" id="{9B068FA7-12BE-BD22-92B2-95031C30FD6A}"/>
              </a:ext>
            </a:extLst>
          </p:cNvPr>
          <p:cNvSpPr txBox="1"/>
          <p:nvPr/>
        </p:nvSpPr>
        <p:spPr>
          <a:xfrm>
            <a:off x="395536" y="1480231"/>
            <a:ext cx="7920880" cy="3416320"/>
          </a:xfrm>
          <a:prstGeom prst="rect">
            <a:avLst/>
          </a:prstGeom>
          <a:noFill/>
        </p:spPr>
        <p:txBody>
          <a:bodyPr wrap="square">
            <a:spAutoFit/>
          </a:bodyPr>
          <a:lstStyle/>
          <a:p>
            <a:pPr algn="just"/>
            <a:r>
              <a:rPr lang="en-US" sz="2400" b="0" i="0" dirty="0">
                <a:solidFill>
                  <a:srgbClr val="3A3A3A"/>
                </a:solidFill>
                <a:effectLst/>
                <a:latin typeface="Times New Roman" panose="02020603050405020304" pitchFamily="18" charset="0"/>
                <a:cs typeface="Times New Roman" panose="02020603050405020304" pitchFamily="18" charset="0"/>
              </a:rPr>
              <a:t>Here is an infix expression: 4 + 3*(6*3-12). Suppose that we are using the usual stack algorithm to convert the expression from infix to postfix notation. The maximum number of symbols that will appear on the stack AT ONE TIME during the conversion of this expression?</a:t>
            </a:r>
          </a:p>
          <a:p>
            <a:r>
              <a:rPr lang="en-US" sz="2400" b="0" i="0" dirty="0">
                <a:solidFill>
                  <a:srgbClr val="3A3A3A"/>
                </a:solidFill>
                <a:effectLst/>
                <a:latin typeface="Times New Roman" panose="02020603050405020304" pitchFamily="18" charset="0"/>
                <a:cs typeface="Times New Roman" panose="02020603050405020304" pitchFamily="18" charset="0"/>
              </a:rPr>
              <a:t>a) 1</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b) 2</a:t>
            </a:r>
            <a:br>
              <a:rPr lang="en-US" sz="2400" dirty="0">
                <a:latin typeface="Times New Roman" panose="02020603050405020304" pitchFamily="18" charset="0"/>
                <a:cs typeface="Times New Roman" panose="02020603050405020304" pitchFamily="18" charset="0"/>
              </a:rPr>
            </a:br>
            <a:r>
              <a:rPr lang="en-US" sz="2400" b="0" i="0" dirty="0">
                <a:solidFill>
                  <a:srgbClr val="3A3A3A"/>
                </a:solidFill>
                <a:effectLst/>
                <a:latin typeface="Times New Roman" panose="02020603050405020304" pitchFamily="18" charset="0"/>
                <a:cs typeface="Times New Roman" panose="02020603050405020304" pitchFamily="18" charset="0"/>
              </a:rPr>
              <a:t>c) 3</a:t>
            </a:r>
            <a:br>
              <a:rPr lang="en-US" sz="2400" dirty="0">
                <a:latin typeface="Times New Roman" panose="02020603050405020304" pitchFamily="18" charset="0"/>
                <a:cs typeface="Times New Roman" panose="02020603050405020304" pitchFamily="18" charset="0"/>
              </a:rPr>
            </a:br>
            <a:r>
              <a:rPr lang="en-US" sz="2400" b="1" i="0" dirty="0">
                <a:solidFill>
                  <a:srgbClr val="3A3A3A"/>
                </a:solidFill>
                <a:effectLst/>
                <a:latin typeface="Times New Roman" panose="02020603050405020304" pitchFamily="18" charset="0"/>
                <a:cs typeface="Times New Roman" panose="02020603050405020304" pitchFamily="18" charset="0"/>
              </a:rPr>
              <a:t>d) 4</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1826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0077"/>
            <a:ext cx="8405911" cy="4924425"/>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Converting Infix Expression to Prefix Expression:</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First, flip the infix expression. Keep in mind that when reversed, each "(" will become a ")" and each ")" a "(".</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The second step is to "nearly" postfix the reversed infix expression.</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Instead of performing the pop operation to remove operators with greater than or equal precedence during the conversion to a postfix expression, we will only remove the operators from the stack that have a higher precedence in this case.</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Reverse the postfix expression in step three.</a:t>
            </a:r>
          </a:p>
          <a:p>
            <a:pPr marL="342900" indent="-342900" algn="just">
              <a:spcBef>
                <a:spcPts val="600"/>
              </a:spcBef>
              <a:spcAft>
                <a:spcPts val="600"/>
              </a:spcAft>
              <a:buFont typeface="Wingdings" pitchFamily="2" charset="2"/>
              <a:buChar char="Ø"/>
            </a:pPr>
            <a:r>
              <a:rPr lang="en-US" sz="2400" b="0" i="0" dirty="0">
                <a:effectLst/>
                <a:latin typeface="Times New Roman" panose="02020603050405020304" pitchFamily="18" charset="0"/>
                <a:cs typeface="Times New Roman" panose="02020603050405020304" pitchFamily="18" charset="0"/>
              </a:rPr>
              <a:t>Infix expressions are converted to postfix forms using the stack</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021503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Infix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836" y="1385674"/>
            <a:ext cx="7560840" cy="411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1564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26296-804B-5C4D-2817-682DBDA2031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5F1D983-7989-0DF7-E18A-917AE6C1E74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8F3E3BC9-7D73-AD26-15CD-8643B9F62158}"/>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A888CD3-B002-D96B-3E67-97CD6D5AACC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4DAC71F-E624-EB22-7A4E-BE1CBB6C06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BDF8261-1717-4221-D235-34902B9E487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5F0ED799-5440-09FD-61BD-FDF0B46A01A6}"/>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6F3264DF-796C-7D7B-FA17-B48ECEFE4431}"/>
              </a:ext>
            </a:extLst>
          </p:cNvPr>
          <p:cNvSpPr txBox="1"/>
          <p:nvPr/>
        </p:nvSpPr>
        <p:spPr>
          <a:xfrm>
            <a:off x="367471" y="1293834"/>
            <a:ext cx="8208912" cy="4950073"/>
          </a:xfrm>
          <a:prstGeom prst="rect">
            <a:avLst/>
          </a:prstGeom>
          <a:noFill/>
        </p:spPr>
        <p:txBody>
          <a:bodyPr wrap="square">
            <a:spAutoFit/>
          </a:bodyPr>
          <a:lstStyle/>
          <a:p>
            <a:pPr algn="just">
              <a:buNone/>
            </a:pPr>
            <a:r>
              <a:rPr lang="en-US" sz="2400" b="1" dirty="0">
                <a:solidFill>
                  <a:srgbClr val="3A3A3A"/>
                </a:solidFill>
                <a:latin typeface="Times New Roman" panose="02020603050405020304" pitchFamily="18" charset="0"/>
                <a:cs typeface="Times New Roman" panose="02020603050405020304" pitchFamily="18" charset="0"/>
              </a:rPr>
              <a:t>1. </a:t>
            </a:r>
            <a:r>
              <a:rPr lang="en-US" sz="2400" b="1" i="0" dirty="0">
                <a:solidFill>
                  <a:srgbClr val="3A3A3A"/>
                </a:solidFill>
                <a:effectLst/>
                <a:latin typeface="Times New Roman" panose="02020603050405020304" pitchFamily="18" charset="0"/>
                <a:cs typeface="Times New Roman" panose="02020603050405020304" pitchFamily="18" charset="0"/>
              </a:rPr>
              <a:t>What would be the Prefix notation for the given equation?</a:t>
            </a:r>
          </a:p>
          <a:p>
            <a:pPr algn="ctr">
              <a:lnSpc>
                <a:spcPts val="1500"/>
              </a:lnSpc>
              <a:spcBef>
                <a:spcPts val="750"/>
              </a:spcBef>
              <a:spcAft>
                <a:spcPts val="750"/>
              </a:spcAft>
              <a:buNone/>
            </a:pPr>
            <a:r>
              <a:rPr lang="en-US" sz="2400" b="0" i="0" dirty="0">
                <a:solidFill>
                  <a:srgbClr val="3A3A3A"/>
                </a:solidFill>
                <a:effectLst/>
                <a:latin typeface="Times New Roman" panose="02020603050405020304" pitchFamily="18" charset="0"/>
                <a:cs typeface="Times New Roman" panose="02020603050405020304" pitchFamily="18" charset="0"/>
              </a:rPr>
              <a:t>A</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B</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C</a:t>
            </a:r>
            <a:r>
              <a:rPr lang="en-US" sz="2400" b="0" i="0" dirty="0">
                <a:solidFill>
                  <a:srgbClr val="339933"/>
                </a:solidFill>
                <a:effectLst/>
                <a:latin typeface="Times New Roman" panose="02020603050405020304" pitchFamily="18" charset="0"/>
                <a:cs typeface="Times New Roman" panose="02020603050405020304" pitchFamily="18" charset="0"/>
              </a:rPr>
              <a:t>^</a:t>
            </a:r>
            <a:r>
              <a:rPr lang="en-US" sz="2400" b="0" i="0" dirty="0">
                <a:solidFill>
                  <a:srgbClr val="3A3A3A"/>
                </a:solidFill>
                <a:effectLst/>
                <a:latin typeface="Times New Roman" panose="02020603050405020304" pitchFamily="18" charset="0"/>
                <a:cs typeface="Times New Roman" panose="02020603050405020304" pitchFamily="18" charset="0"/>
              </a:rPr>
              <a:t>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p>
          <a:p>
            <a:pPr marL="457200" indent="-457200">
              <a:buAutoNum type="alphaLcParenR"/>
            </a:pPr>
            <a:r>
              <a:rPr lang="en-US" sz="2400" b="0" i="0" dirty="0">
                <a:solidFill>
                  <a:srgbClr val="3A3A3A"/>
                </a:solidFill>
                <a:effectLst/>
                <a:latin typeface="Times New Roman" panose="02020603050405020304" pitchFamily="18" charset="0"/>
                <a:cs typeface="Times New Roman" panose="02020603050405020304" pitchFamily="18" charset="0"/>
              </a:rPr>
              <a:t>AB^C^D</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endParaRPr lang="en-US" sz="2400" b="0" i="0" dirty="0">
              <a:solidFill>
                <a:srgbClr val="3A3A3A"/>
              </a:solidFill>
              <a:effectLst/>
              <a:latin typeface="Times New Roman" panose="02020603050405020304" pitchFamily="18" charset="0"/>
              <a:cs typeface="Times New Roman" panose="02020603050405020304" pitchFamily="18" charset="0"/>
            </a:endParaRPr>
          </a:p>
          <a:p>
            <a:pPr algn="just"/>
            <a:r>
              <a:rPr lang="en-US" sz="2400" b="1" dirty="0">
                <a:solidFill>
                  <a:srgbClr val="3A3A3A"/>
                </a:solidFill>
                <a:latin typeface="Times New Roman" panose="02020603050405020304" pitchFamily="18" charset="0"/>
                <a:cs typeface="Times New Roman" panose="02020603050405020304" pitchFamily="18" charset="0"/>
              </a:rPr>
              <a:t>2. What would be the Prefix notation for the given equation?</a:t>
            </a:r>
          </a:p>
          <a:p>
            <a:pPr algn="ctr">
              <a:lnSpc>
                <a:spcPts val="1500"/>
              </a:lnSpc>
              <a:spcBef>
                <a:spcPts val="750"/>
              </a:spcBef>
              <a:spcAft>
                <a:spcPts val="750"/>
              </a:spcAft>
            </a:pPr>
            <a:r>
              <a:rPr lang="en-US" sz="2400" dirty="0" err="1">
                <a:solidFill>
                  <a:srgbClr val="3A3A3A"/>
                </a:solidFill>
                <a:latin typeface="Times New Roman" panose="02020603050405020304" pitchFamily="18" charset="0"/>
                <a:cs typeface="Times New Roman" panose="02020603050405020304" pitchFamily="18" charset="0"/>
              </a:rPr>
              <a:t>a</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b</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c</a:t>
            </a:r>
            <a:r>
              <a:rPr lang="en-US" sz="2400" dirty="0">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d</a:t>
            </a:r>
            <a:r>
              <a:rPr lang="en-US" sz="2400" dirty="0" err="1">
                <a:solidFill>
                  <a:srgbClr val="339933"/>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e</a:t>
            </a:r>
            <a:r>
              <a:rPr lang="en-US" sz="2400" dirty="0" err="1">
                <a:solidFill>
                  <a:srgbClr val="339933"/>
                </a:solidFill>
                <a:latin typeface="Times New Roman" panose="02020603050405020304" pitchFamily="18" charset="0"/>
                <a:cs typeface="Times New Roman" panose="02020603050405020304" pitchFamily="18" charset="0"/>
              </a:rPr>
              <a:t>|</a:t>
            </a:r>
            <a:r>
              <a:rPr lang="en-US" sz="2400" dirty="0" err="1">
                <a:solidFill>
                  <a:srgbClr val="3A3A3A"/>
                </a:solidFill>
                <a:latin typeface="Times New Roman" panose="02020603050405020304" pitchFamily="18" charset="0"/>
                <a:cs typeface="Times New Roman" panose="02020603050405020304" pitchFamily="18" charset="0"/>
              </a:rPr>
              <a:t>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|&amp;-ab+/</a:t>
            </a:r>
            <a:r>
              <a:rPr lang="en-US" sz="2400" dirty="0" err="1">
                <a:solidFill>
                  <a:srgbClr val="3A3A3A"/>
                </a:solidFill>
                <a:latin typeface="Times New Roman" panose="02020603050405020304" pitchFamily="18" charset="0"/>
                <a:cs typeface="Times New Roman" panose="02020603050405020304" pitchFamily="18" charset="0"/>
              </a:rPr>
              <a:t>cdef</a:t>
            </a:r>
            <a:endParaRPr lang="en-US" sz="2400" dirty="0">
              <a:solidFill>
                <a:srgbClr val="3A3A3A"/>
              </a:solidFill>
              <a:latin typeface="Times New Roman" panose="02020603050405020304" pitchFamily="18" charset="0"/>
              <a:cs typeface="Times New Roman" panose="02020603050405020304" pitchFamily="18" charset="0"/>
            </a:endParaRPr>
          </a:p>
          <a:p>
            <a:pPr marL="457200" indent="-457200">
              <a:buAutoNum type="alphaLcParenR"/>
            </a:pPr>
            <a:r>
              <a:rPr lang="en-US" sz="2400" dirty="0">
                <a:solidFill>
                  <a:srgbClr val="3A3A3A"/>
                </a:solidFill>
                <a:latin typeface="Times New Roman" panose="02020603050405020304" pitchFamily="18" charset="0"/>
                <a:cs typeface="Times New Roman" panose="02020603050405020304" pitchFamily="18" charset="0"/>
              </a:rPr>
              <a:t>|&amp;-+/</a:t>
            </a:r>
            <a:r>
              <a:rPr lang="en-US" sz="2400" dirty="0" err="1">
                <a:solidFill>
                  <a:srgbClr val="3A3A3A"/>
                </a:solidFill>
                <a:latin typeface="Times New Roman" panose="02020603050405020304" pitchFamily="18" charset="0"/>
                <a:cs typeface="Times New Roman" panose="02020603050405020304" pitchFamily="18" charset="0"/>
              </a:rPr>
              <a:t>abcdef</a:t>
            </a:r>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0878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C800-7DCA-692D-8FB9-7693C837750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E0F2438-BFE3-8A02-0B48-0CF3C1162E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97CD0EE-1ECD-74FE-F0B7-3DE1CF5ECBF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D13CDE4-657A-02E6-7F4F-DF7C073970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4C549AA-9DF7-C954-CB0F-4F9E71C41D9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819DD95-517E-CC6C-1A87-86A0D460B27E}"/>
              </a:ext>
            </a:extLst>
          </p:cNvPr>
          <p:cNvSpPr>
            <a:spLocks noGrp="1"/>
          </p:cNvSpPr>
          <p:nvPr>
            <p:ph type="ftr" sz="quarter" idx="11"/>
          </p:nvPr>
        </p:nvSpPr>
        <p:spPr/>
        <p:txBody>
          <a:bodyPr/>
          <a:lstStyle/>
          <a:p>
            <a:r>
              <a:rPr lang="en-IN"/>
              <a:t>Data  Structure         Unit2  </a:t>
            </a:r>
          </a:p>
        </p:txBody>
      </p:sp>
      <p:sp>
        <p:nvSpPr>
          <p:cNvPr id="8" name="TextBox 7">
            <a:extLst>
              <a:ext uri="{FF2B5EF4-FFF2-40B4-BE49-F238E27FC236}">
                <a16:creationId xmlns:a16="http://schemas.microsoft.com/office/drawing/2014/main" id="{0B425959-1929-2722-AEBF-17F017E5D19D}"/>
              </a:ext>
            </a:extLst>
          </p:cNvPr>
          <p:cNvSpPr txBox="1"/>
          <p:nvPr/>
        </p:nvSpPr>
        <p:spPr>
          <a:xfrm>
            <a:off x="367471" y="1293834"/>
            <a:ext cx="8208912" cy="4093428"/>
          </a:xfrm>
          <a:prstGeom prst="rect">
            <a:avLst/>
          </a:prstGeom>
          <a:noFill/>
        </p:spPr>
        <p:txBody>
          <a:bodyPr wrap="square">
            <a:spAutoFit/>
          </a:bodyPr>
          <a:lstStyle/>
          <a:p>
            <a:pPr marL="268288" indent="-268288" algn="just">
              <a:spcBef>
                <a:spcPts val="600"/>
              </a:spcBef>
              <a:buAutoNum type="arabicPeriod"/>
            </a:pPr>
            <a:r>
              <a:rPr lang="en-US" sz="2400" b="1" dirty="0">
                <a:solidFill>
                  <a:srgbClr val="3A3A3A"/>
                </a:solidFill>
                <a:latin typeface="Times New Roman" panose="02020603050405020304" pitchFamily="18" charset="0"/>
                <a:cs typeface="Times New Roman" panose="02020603050405020304" pitchFamily="18" charset="0"/>
              </a:rPr>
              <a:t>Answer: b</a:t>
            </a:r>
          </a:p>
          <a:p>
            <a:pPr algn="just">
              <a:spcBef>
                <a:spcPts val="600"/>
              </a:spcBef>
            </a:pPr>
            <a:r>
              <a:rPr lang="en-US" sz="2400" b="1" i="1" dirty="0">
                <a:solidFill>
                  <a:srgbClr val="3A3A3A"/>
                </a:solidFill>
                <a:latin typeface="Times New Roman" panose="02020603050405020304" pitchFamily="18" charset="0"/>
                <a:cs typeface="Times New Roman" panose="02020603050405020304" pitchFamily="18" charset="0"/>
              </a:rPr>
              <a:t>Explanation: </a:t>
            </a:r>
            <a:r>
              <a:rPr lang="en-US" sz="2400" dirty="0">
                <a:solidFill>
                  <a:srgbClr val="3A3A3A"/>
                </a:solidFill>
                <a:latin typeface="Times New Roman" panose="02020603050405020304" pitchFamily="18" charset="0"/>
                <a:cs typeface="Times New Roman" panose="02020603050405020304" pitchFamily="18" charset="0"/>
              </a:rPr>
              <a:t>Reverse the equation or scan the equation from right to left. Apply the infix-prefix algorithm. Here we have to remember that the exponentiation has order of associativity from right to left. Therefore, the final answer will be ^A^B^CD.</a:t>
            </a:r>
          </a:p>
          <a:p>
            <a:pPr algn="just">
              <a:spcBef>
                <a:spcPts val="600"/>
              </a:spcBef>
            </a:pPr>
            <a:endParaRPr lang="en-US" sz="2400" b="1" dirty="0">
              <a:solidFill>
                <a:srgbClr val="3A3A3A"/>
              </a:solidFill>
              <a:latin typeface="Times New Roman" panose="02020603050405020304" pitchFamily="18" charset="0"/>
              <a:cs typeface="Times New Roman" panose="02020603050405020304" pitchFamily="18" charset="0"/>
            </a:endParaRPr>
          </a:p>
          <a:p>
            <a:pPr algn="just">
              <a:spcBef>
                <a:spcPts val="600"/>
              </a:spcBef>
            </a:pPr>
            <a:r>
              <a:rPr lang="en-US" sz="2400" b="1" dirty="0">
                <a:solidFill>
                  <a:srgbClr val="3A3A3A"/>
                </a:solidFill>
                <a:latin typeface="Times New Roman" panose="02020603050405020304" pitchFamily="18" charset="0"/>
                <a:cs typeface="Times New Roman" panose="02020603050405020304" pitchFamily="18" charset="0"/>
              </a:rPr>
              <a:t>2. Answer: a</a:t>
            </a:r>
          </a:p>
          <a:p>
            <a:pPr algn="just">
              <a:spcBef>
                <a:spcPts val="600"/>
              </a:spcBef>
            </a:pPr>
            <a:r>
              <a:rPr lang="en-US" sz="2400" b="1" i="1" dirty="0">
                <a:solidFill>
                  <a:srgbClr val="3A3A3A"/>
                </a:solidFill>
                <a:latin typeface="Times New Roman" panose="02020603050405020304" pitchFamily="18" charset="0"/>
                <a:cs typeface="Times New Roman" panose="02020603050405020304" pitchFamily="18" charset="0"/>
              </a:rPr>
              <a:t>Explanation: </a:t>
            </a:r>
            <a:r>
              <a:rPr lang="en-US" sz="2400" dirty="0">
                <a:solidFill>
                  <a:srgbClr val="3A3A3A"/>
                </a:solidFill>
                <a:latin typeface="Times New Roman" panose="02020603050405020304" pitchFamily="18" charset="0"/>
                <a:cs typeface="Times New Roman" panose="02020603050405020304" pitchFamily="18" charset="0"/>
              </a:rPr>
              <a:t>Reverse the equation or scan the equation from right to left. Apply the infix-prefix algorithm. The preference order in ascending order are as follows |&amp;+*/.</a:t>
            </a:r>
          </a:p>
        </p:txBody>
      </p:sp>
      <p:sp>
        <p:nvSpPr>
          <p:cNvPr id="2" name="Rectangle 1">
            <a:extLst>
              <a:ext uri="{FF2B5EF4-FFF2-40B4-BE49-F238E27FC236}">
                <a16:creationId xmlns:a16="http://schemas.microsoft.com/office/drawing/2014/main" id="{DB14649C-A150-0E77-99E3-D1EF6951E3CE}"/>
              </a:ext>
            </a:extLst>
          </p:cNvPr>
          <p:cNvSpPr>
            <a:spLocks noChangeArrowheads="1"/>
          </p:cNvSpPr>
          <p:nvPr/>
        </p:nvSpPr>
        <p:spPr bwMode="auto">
          <a:xfrm>
            <a:off x="367470" y="298972"/>
            <a:ext cx="83809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Quick Check (Answers)</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4049803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79511" y="1316201"/>
            <a:ext cx="8568953" cy="4401205"/>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Conversion of Postfix to Prefix expression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Scan all symbols one by one from left to right in the given prefix expression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operand , push it into the stack .</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 reading symbol is an operator , then a. Pop two expression from the stack , operand1 and operand2 , which is operand for the current operator b. Push operator + operand2 + operand1 into the stack</a:t>
            </a:r>
          </a:p>
          <a:p>
            <a:pPr marL="342900" indent="-34290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If there is no symbol left then stop the process . Top of the stack will have the required infix expression .</a:t>
            </a:r>
            <a:endParaRPr lang="en-IN" sz="24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68291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5962"/>
          <a:stretch>
            <a:fillRect/>
          </a:stretch>
        </p:blipFill>
        <p:spPr bwMode="auto">
          <a:xfrm>
            <a:off x="1187624" y="2064889"/>
            <a:ext cx="6696744" cy="349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B85D369-8EA0-C81A-DE3C-ED12725AB82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202187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1082" b="33439"/>
          <a:stretch>
            <a:fillRect/>
          </a:stretch>
        </p:blipFill>
        <p:spPr bwMode="auto">
          <a:xfrm>
            <a:off x="1547664" y="1941556"/>
            <a:ext cx="6408712" cy="3622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478DE2C-9D90-4DB8-3756-1D20D42B3552}"/>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839934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819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3604"/>
          <a:stretch>
            <a:fillRect/>
          </a:stretch>
        </p:blipFill>
        <p:spPr bwMode="auto">
          <a:xfrm>
            <a:off x="1277888" y="1790993"/>
            <a:ext cx="6912768" cy="3710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0A9AB0DB-2617-445A-0EA8-9F9E9DB86F6E}"/>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674499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921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43608" y="1514983"/>
            <a:ext cx="7272808" cy="467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388A71A6-19FB-A51D-C6B5-31248538FF45}"/>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159391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34061"/>
          <a:stretch>
            <a:fillRect/>
          </a:stretch>
        </p:blipFill>
        <p:spPr bwMode="auto">
          <a:xfrm>
            <a:off x="720080" y="1605414"/>
            <a:ext cx="8028384" cy="4433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BD8EDCDE-5009-A880-E88D-C81F3866267B}"/>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347644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024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4256"/>
          <a:stretch>
            <a:fillRect/>
          </a:stretch>
        </p:blipFill>
        <p:spPr bwMode="auto">
          <a:xfrm>
            <a:off x="1063988" y="1634649"/>
            <a:ext cx="7684476" cy="362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3B28431E-3462-B60E-98E7-90E14ACD45A8}"/>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620856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1266"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876" b="74914"/>
          <a:stretch>
            <a:fillRect/>
          </a:stretch>
        </p:blipFill>
        <p:spPr bwMode="auto">
          <a:xfrm>
            <a:off x="1562944" y="2204864"/>
            <a:ext cx="5760640" cy="323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2DFEA5C3-7CDF-BA21-AEAA-84A7953DD9E3}"/>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5642356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126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23616"/>
          <a:stretch>
            <a:fillRect/>
          </a:stretch>
        </p:blipFill>
        <p:spPr bwMode="auto">
          <a:xfrm>
            <a:off x="611560" y="1421440"/>
            <a:ext cx="7920880" cy="4717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72E174EA-FC49-8790-E5A5-7D06C2906CA6}"/>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710304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1580"/>
          <a:stretch>
            <a:fillRect/>
          </a:stretch>
        </p:blipFill>
        <p:spPr bwMode="auto">
          <a:xfrm>
            <a:off x="1331640" y="1977981"/>
            <a:ext cx="7039849" cy="372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5EDE605D-F067-B1ED-F7AE-764389522654}"/>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85123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pic>
        <p:nvPicPr>
          <p:cNvPr id="1229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4931"/>
          <a:stretch>
            <a:fillRect/>
          </a:stretch>
        </p:blipFill>
        <p:spPr bwMode="auto">
          <a:xfrm>
            <a:off x="395536" y="1219200"/>
            <a:ext cx="8352927" cy="444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0B9424A7-47B9-4CFC-12F8-D7E19BA7C6C8}"/>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35482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Footer Placeholder 2"/>
          <p:cNvSpPr>
            <a:spLocks noGrp="1"/>
          </p:cNvSpPr>
          <p:nvPr>
            <p:ph type="ftr" sz="quarter" idx="11"/>
          </p:nvPr>
        </p:nvSpPr>
        <p:spPr/>
        <p:txBody>
          <a:bodyPr/>
          <a:lstStyle/>
          <a:p>
            <a:r>
              <a:rPr lang="en-IN"/>
              <a:t>Data  Structure         Unit2  </a:t>
            </a:r>
          </a:p>
        </p:txBody>
      </p:sp>
      <p:pic>
        <p:nvPicPr>
          <p:cNvPr id="1331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95166" y="1445792"/>
            <a:ext cx="7641699" cy="3626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67544" y="5301208"/>
            <a:ext cx="8496944" cy="800219"/>
          </a:xfrm>
          <a:prstGeom prst="rect">
            <a:avLst/>
          </a:prstGeom>
        </p:spPr>
        <p:txBody>
          <a:bodyPr wrap="square">
            <a:spAutoFit/>
          </a:bodyPr>
          <a:lstStyle/>
          <a:p>
            <a:r>
              <a:rPr lang="en-IN" sz="1400" dirty="0">
                <a:hlinkClick r:id="rId7"/>
              </a:rPr>
              <a:t>https://www.prepbytes.com/blog/stacks/postfix-to-prefix conversion/#:~:text=For%20converting%20Postfix%20to%20Prefix,will%20be%20our%20prefix%20expression%20</a:t>
            </a:r>
            <a:r>
              <a:rPr lang="en-IN" sz="1400" dirty="0"/>
              <a:t>.</a:t>
            </a:r>
          </a:p>
          <a:p>
            <a:endParaRPr lang="en-IN" dirty="0"/>
          </a:p>
        </p:txBody>
      </p:sp>
      <p:sp>
        <p:nvSpPr>
          <p:cNvPr id="8" name="Rectangle 1">
            <a:extLst>
              <a:ext uri="{FF2B5EF4-FFF2-40B4-BE49-F238E27FC236}">
                <a16:creationId xmlns:a16="http://schemas.microsoft.com/office/drawing/2014/main" id="{AE631905-EEFC-A447-375B-4E0126E3050D}"/>
              </a:ext>
            </a:extLst>
          </p:cNvPr>
          <p:cNvSpPr>
            <a:spLocks noChangeArrowheads="1"/>
          </p:cNvSpPr>
          <p:nvPr/>
        </p:nvSpPr>
        <p:spPr bwMode="auto">
          <a:xfrm>
            <a:off x="103414" y="298972"/>
            <a:ext cx="86450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 </a:t>
            </a:r>
            <a:r>
              <a:rPr lang="en-US" sz="3200" b="1" dirty="0">
                <a:solidFill>
                  <a:srgbClr val="FF0000"/>
                </a:solidFill>
                <a:cs typeface="Times New Roman" pitchFamily="18" charset="0"/>
              </a:rPr>
              <a:t>Postfix to Prefix</a:t>
            </a:r>
          </a:p>
          <a:p>
            <a:pPr lvl="0">
              <a:buSzPct val="25000"/>
            </a:pP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145281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61930" y="399403"/>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228600" y="1371600"/>
            <a:ext cx="8255159" cy="4031873"/>
          </a:xfrm>
          <a:prstGeom prst="rect">
            <a:avLst/>
          </a:prstGeom>
        </p:spPr>
        <p:txBody>
          <a:bodyPr wrap="square">
            <a:spAutoFit/>
          </a:bodyPr>
          <a:lstStyle/>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Scan the given postfix expression from </a:t>
            </a:r>
            <a:r>
              <a:rPr lang="en-IN" sz="2400" b="1" dirty="0">
                <a:latin typeface="Times New Roman" panose="02020603050405020304" pitchFamily="18" charset="0"/>
                <a:cs typeface="Times New Roman" panose="02020603050405020304" pitchFamily="18" charset="0"/>
              </a:rPr>
              <a:t>left to right</a:t>
            </a:r>
            <a:r>
              <a:rPr lang="en-IN" sz="2400" dirty="0">
                <a:latin typeface="Times New Roman" panose="02020603050405020304" pitchFamily="18" charset="0"/>
                <a:cs typeface="Times New Roman" panose="02020603050405020304" pitchFamily="18" charset="0"/>
              </a:rPr>
              <a:t> character by character.</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If the character is an operand, push it into the stack.</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But if the character is an operator, pop the top two values from stack. Concatenate this operator with these two values (</a:t>
            </a:r>
            <a:r>
              <a:rPr lang="en-IN" sz="2400" b="1" dirty="0">
                <a:latin typeface="Times New Roman" panose="02020603050405020304" pitchFamily="18" charset="0"/>
                <a:cs typeface="Times New Roman" panose="02020603050405020304" pitchFamily="18" charset="0"/>
              </a:rPr>
              <a:t>2</a:t>
            </a:r>
            <a:r>
              <a:rPr lang="en-IN" sz="2400" b="1" baseline="30000" dirty="0">
                <a:latin typeface="Times New Roman" panose="02020603050405020304" pitchFamily="18" charset="0"/>
                <a:cs typeface="Times New Roman" panose="02020603050405020304" pitchFamily="18" charset="0"/>
              </a:rPr>
              <a:t>nd</a:t>
            </a:r>
            <a:r>
              <a:rPr lang="en-IN" sz="2400" b="1" dirty="0">
                <a:latin typeface="Times New Roman" panose="02020603050405020304" pitchFamily="18" charset="0"/>
                <a:cs typeface="Times New Roman" panose="02020603050405020304" pitchFamily="18" charset="0"/>
              </a:rPr>
              <a:t> top value+operator+1</a:t>
            </a:r>
            <a:r>
              <a:rPr lang="en-IN" sz="2400" b="1" baseline="30000" dirty="0">
                <a:latin typeface="Times New Roman" panose="02020603050405020304" pitchFamily="18" charset="0"/>
                <a:cs typeface="Times New Roman" panose="02020603050405020304" pitchFamily="18" charset="0"/>
              </a:rPr>
              <a:t>st</a:t>
            </a:r>
            <a:r>
              <a:rPr lang="en-IN" sz="2400" b="1" dirty="0">
                <a:latin typeface="Times New Roman" panose="02020603050405020304" pitchFamily="18" charset="0"/>
                <a:cs typeface="Times New Roman" panose="02020603050405020304" pitchFamily="18" charset="0"/>
              </a:rPr>
              <a:t> top value</a:t>
            </a:r>
            <a:r>
              <a:rPr lang="en-IN" sz="2400" dirty="0">
                <a:latin typeface="Times New Roman" panose="02020603050405020304" pitchFamily="18" charset="0"/>
                <a:cs typeface="Times New Roman" panose="02020603050405020304" pitchFamily="18" charset="0"/>
              </a:rPr>
              <a:t>) to get a new string.</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Now push this resulting string back into the stack.</a:t>
            </a:r>
          </a:p>
          <a:p>
            <a:pPr marL="342900" indent="-3429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Repeat this process until the end of postfix expression. Now the value in the stack is the infix expression.</a:t>
            </a:r>
          </a:p>
        </p:txBody>
      </p:sp>
    </p:spTree>
    <p:extLst>
      <p:ext uri="{BB962C8B-B14F-4D97-AF65-F5344CB8AC3E}">
        <p14:creationId xmlns:p14="http://schemas.microsoft.com/office/powerpoint/2010/main" val="963783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4" y="360480"/>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 Postfix to Infix</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8564" t="13113" b="4936"/>
          <a:stretch>
            <a:fillRect/>
          </a:stretch>
        </p:blipFill>
        <p:spPr bwMode="auto">
          <a:xfrm>
            <a:off x="1295635" y="2250813"/>
            <a:ext cx="6552729" cy="27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98814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3437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0"/>
          <p:cNvSpPr/>
          <p:nvPr/>
        </p:nvSpPr>
        <p:spPr>
          <a:xfrm>
            <a:off x="141463" y="1334376"/>
            <a:ext cx="8568952" cy="4770537"/>
          </a:xfrm>
          <a:prstGeom prst="rect">
            <a:avLst/>
          </a:prstGeom>
        </p:spPr>
        <p:txBody>
          <a:bodyPr wrap="square">
            <a:spAutoFit/>
          </a:bodyPr>
          <a:lstStyle/>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Start scanning the prefix expression from right to left.</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If the current character is an operand (a number or a variable), push it onto a stack.</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If the current character is an operator (+, -, *, /, ^), pop two operands from the stack and concatenates them with the operator in between to form an infix sub-expression. Then push the infix sub-expression onto the stack.</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Repeat steps 2 and 3 until the entire prefix expression has been scanned.</a:t>
            </a:r>
          </a:p>
          <a:p>
            <a:pPr marL="342900" indent="-342900" algn="just">
              <a:spcBef>
                <a:spcPts val="600"/>
              </a:spcBef>
              <a:spcAft>
                <a:spcPts val="600"/>
              </a:spcAft>
              <a:buFont typeface="+mj-lt"/>
              <a:buAutoNum type="arabicPeriod"/>
            </a:pPr>
            <a:r>
              <a:rPr lang="en-US" sz="2400" dirty="0">
                <a:solidFill>
                  <a:srgbClr val="141414"/>
                </a:solidFill>
                <a:latin typeface="Times New Roman" panose="02020603050405020304" pitchFamily="18" charset="0"/>
                <a:cs typeface="Times New Roman" panose="02020603050405020304" pitchFamily="18" charset="0"/>
              </a:rPr>
              <a:t>The final infix expression will be the only item remaining on the stack.</a:t>
            </a:r>
            <a:endParaRPr lang="en-IN" sz="2400" b="0" i="0" dirty="0">
              <a:solidFill>
                <a:srgbClr val="14141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1432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72008" y="37704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8806"/>
          <a:stretch>
            <a:fillRect/>
          </a:stretch>
        </p:blipFill>
        <p:spPr bwMode="auto">
          <a:xfrm>
            <a:off x="1285776" y="2007728"/>
            <a:ext cx="5832648" cy="339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851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06649"/>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1194" b="31936"/>
          <a:stretch>
            <a:fillRect/>
          </a:stretch>
        </p:blipFill>
        <p:spPr bwMode="auto">
          <a:xfrm>
            <a:off x="1097614" y="1814699"/>
            <a:ext cx="6948772" cy="3921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0846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8876" y="368508"/>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6373"/>
          <a:stretch>
            <a:fillRect/>
          </a:stretch>
        </p:blipFill>
        <p:spPr bwMode="auto">
          <a:xfrm>
            <a:off x="971600" y="1796655"/>
            <a:ext cx="6930380" cy="3566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4539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5362"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96301" y="1446129"/>
            <a:ext cx="8152163" cy="4525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7368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30522"/>
          <a:stretch>
            <a:fillRect/>
          </a:stretch>
        </p:blipFill>
        <p:spPr bwMode="auto">
          <a:xfrm>
            <a:off x="444947" y="1264219"/>
            <a:ext cx="8460432" cy="4979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4B5A22FE-5226-B6F1-70F1-4B1DEDFE7C70}"/>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33533569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6386"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66543"/>
          <a:stretch>
            <a:fillRect/>
          </a:stretch>
        </p:blipFill>
        <p:spPr bwMode="auto">
          <a:xfrm>
            <a:off x="863588" y="1675163"/>
            <a:ext cx="7416824" cy="3820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0FF1966-F340-6E00-2DB8-F0E3F9252665}"/>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3266757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741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1117"/>
          <a:stretch>
            <a:fillRect/>
          </a:stretch>
        </p:blipFill>
        <p:spPr bwMode="auto">
          <a:xfrm>
            <a:off x="755576" y="1829758"/>
            <a:ext cx="7632848" cy="3839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BD45C25-0B01-2D75-859F-5FA91A6AF80C}"/>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5895901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54519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7410"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40572"/>
          <a:stretch>
            <a:fillRect/>
          </a:stretch>
        </p:blipFill>
        <p:spPr bwMode="auto">
          <a:xfrm>
            <a:off x="609600" y="1752600"/>
            <a:ext cx="8534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0279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b="63735"/>
          <a:stretch>
            <a:fillRect/>
          </a:stretch>
        </p:blipFill>
        <p:spPr bwMode="auto">
          <a:xfrm>
            <a:off x="971600" y="1976656"/>
            <a:ext cx="7416824" cy="340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91E01B09-4469-45B8-40C6-109F18DDBB39}"/>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6913146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8434"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t="34647"/>
          <a:stretch>
            <a:fillRect/>
          </a:stretch>
        </p:blipFill>
        <p:spPr bwMode="auto">
          <a:xfrm>
            <a:off x="403132" y="1174573"/>
            <a:ext cx="8604448" cy="4905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
            <a:extLst>
              <a:ext uri="{FF2B5EF4-FFF2-40B4-BE49-F238E27FC236}">
                <a16:creationId xmlns:a16="http://schemas.microsoft.com/office/drawing/2014/main" id="{F94F7A8A-AD48-BD1D-0111-DC25D90B8E7B}"/>
              </a:ext>
            </a:extLst>
          </p:cNvPr>
          <p:cNvSpPr>
            <a:spLocks noChangeArrowheads="1"/>
          </p:cNvSpPr>
          <p:nvPr/>
        </p:nvSpPr>
        <p:spPr bwMode="auto">
          <a:xfrm>
            <a:off x="249475" y="408647"/>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spTree>
    <p:extLst>
      <p:ext uri="{BB962C8B-B14F-4D97-AF65-F5344CB8AC3E}">
        <p14:creationId xmlns:p14="http://schemas.microsoft.com/office/powerpoint/2010/main" val="1946155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545194"/>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Infix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pic>
        <p:nvPicPr>
          <p:cNvPr id="1945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16024" y="1347808"/>
            <a:ext cx="8748464" cy="4573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79167" y="6019800"/>
            <a:ext cx="8664833" cy="584775"/>
          </a:xfrm>
          <a:prstGeom prst="rect">
            <a:avLst/>
          </a:prstGeom>
        </p:spPr>
        <p:txBody>
          <a:bodyPr wrap="square">
            <a:spAutoFit/>
          </a:bodyPr>
          <a:lstStyle/>
          <a:p>
            <a:r>
              <a:rPr lang="en-IN" sz="1600" dirty="0">
                <a:hlinkClick r:id="rId7"/>
              </a:rPr>
              <a:t>https://www.prepbytes.com/blog/stacks/conversion-of-prefix-expression-to-infix-expression/</a:t>
            </a:r>
            <a:endParaRPr lang="en-IN" sz="1600" dirty="0"/>
          </a:p>
          <a:p>
            <a:endParaRPr lang="en-IN" sz="1600" dirty="0"/>
          </a:p>
        </p:txBody>
      </p:sp>
    </p:spTree>
    <p:extLst>
      <p:ext uri="{BB962C8B-B14F-4D97-AF65-F5344CB8AC3E}">
        <p14:creationId xmlns:p14="http://schemas.microsoft.com/office/powerpoint/2010/main" val="2899444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31219" y="368865"/>
            <a:ext cx="86450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Prefix to Postfix converter step by step</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99655" y="1480231"/>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TextBox 9"/>
          <p:cNvSpPr txBox="1"/>
          <p:nvPr/>
        </p:nvSpPr>
        <p:spPr>
          <a:xfrm>
            <a:off x="179512" y="1340768"/>
            <a:ext cx="8568952" cy="4539704"/>
          </a:xfrm>
          <a:prstGeom prst="rect">
            <a:avLst/>
          </a:prstGeom>
          <a:noFill/>
        </p:spPr>
        <p:txBody>
          <a:bodyPr wrap="square" rtlCol="0">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1</a:t>
            </a:r>
            <a:r>
              <a:rPr lang="en-US" sz="2400" dirty="0">
                <a:latin typeface="Times New Roman" panose="02020603050405020304" pitchFamily="18" charset="0"/>
                <a:cs typeface="Times New Roman" panose="02020603050405020304" pitchFamily="18" charset="0"/>
              </a:rPr>
              <a:t>: Scan all symbols one by one from right to left in the given prefix expression.</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If the reading symbol is an operand, push it into the stack.</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If the reading symbol is an operator, then</a:t>
            </a:r>
          </a:p>
          <a:p>
            <a:pPr lvl="1" algn="just">
              <a:spcBef>
                <a:spcPts val="600"/>
              </a:spcBef>
              <a:spcAft>
                <a:spcPts val="600"/>
              </a:spcAft>
            </a:pP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Pop two expressions from the stack, operand1, and operand2, which is the operand for the current operator</a:t>
            </a:r>
          </a:p>
          <a:p>
            <a:pPr lvl="1" algn="just">
              <a:spcBef>
                <a:spcPts val="600"/>
              </a:spcBef>
              <a:spcAft>
                <a:spcPts val="600"/>
              </a:spcAft>
            </a:pP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Push operand1 + operand2 + operator into the stack</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If there is no symbol left then stop the process. The top of the stack will have the required postfix expression.</a:t>
            </a:r>
          </a:p>
          <a:p>
            <a:endParaRPr lang="en-IN" dirty="0"/>
          </a:p>
        </p:txBody>
      </p:sp>
    </p:spTree>
    <p:extLst>
      <p:ext uri="{BB962C8B-B14F-4D97-AF65-F5344CB8AC3E}">
        <p14:creationId xmlns:p14="http://schemas.microsoft.com/office/powerpoint/2010/main" val="326107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8879" y="381198"/>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Postfix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14338" name="Picture 2"/>
          <p:cNvPicPr>
            <a:picLocks noChangeAspect="1" noChangeArrowheads="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60376" y="1295400"/>
            <a:ext cx="8074024"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87746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4"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92235" y="34199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Prefix Evaluation Example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5" y="1484784"/>
            <a:ext cx="8748463" cy="646331"/>
          </a:xfrm>
          <a:prstGeom prst="rect">
            <a:avLst/>
          </a:prstGeom>
          <a:noFill/>
        </p:spPr>
        <p:txBody>
          <a:bodyPr wrap="square" rtlCol="0">
            <a:spAutoFit/>
          </a:bodyPr>
          <a:lstStyle/>
          <a:p>
            <a:r>
              <a:rPr lang="en-US" dirty="0"/>
              <a:t> </a:t>
            </a:r>
          </a:p>
          <a:p>
            <a:endParaRPr lang="en-IN" dirty="0"/>
          </a:p>
        </p:txBody>
      </p:sp>
      <p:sp>
        <p:nvSpPr>
          <p:cNvPr id="3" name="AutoShape 2" descr="Notations For Arithmetic Expressions. - Sarthaks eConnect | Largest Online  Education Communit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1335427"/>
            <a:ext cx="7759119" cy="4587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3554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10116" y="307875"/>
            <a:ext cx="890589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E31E24"/>
                </a:solidFill>
                <a:cs typeface="Times New Roman" panose="02020603050405020304" pitchFamily="18" charset="0"/>
                <a:sym typeface="Arial"/>
              </a:rPr>
              <a:t>Infix Expression to  Postfix Expression</a:t>
            </a:r>
            <a:br>
              <a:rPr lang="en-US" sz="2400" b="1" dirty="0">
                <a:solidFill>
                  <a:srgbClr val="E31E24"/>
                </a:solidFill>
                <a:cs typeface="Times New Roman" panose="02020603050405020304" pitchFamily="18" charset="0"/>
                <a:sym typeface="Arial"/>
              </a:rPr>
            </a:br>
            <a:endParaRPr lang="en-IN" sz="24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22331"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10" name="Rectangle 9"/>
          <p:cNvSpPr/>
          <p:nvPr/>
        </p:nvSpPr>
        <p:spPr>
          <a:xfrm>
            <a:off x="310116" y="1263110"/>
            <a:ext cx="8148084"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Question:</a:t>
            </a:r>
            <a:r>
              <a:rPr lang="en-IN" dirty="0">
                <a:latin typeface="Times New Roman" panose="02020603050405020304" pitchFamily="18" charset="0"/>
                <a:cs typeface="Times New Roman" panose="02020603050405020304" pitchFamily="18" charset="0"/>
              </a:rPr>
              <a:t> Validate the given expression: 69 ^ 87 - 67 / 29 + 77 * 44</a:t>
            </a:r>
          </a:p>
        </p:txBody>
      </p:sp>
      <p:sp>
        <p:nvSpPr>
          <p:cNvPr id="12" name="TextBox 11"/>
          <p:cNvSpPr txBox="1"/>
          <p:nvPr/>
        </p:nvSpPr>
        <p:spPr>
          <a:xfrm>
            <a:off x="381000" y="1799167"/>
            <a:ext cx="8382000" cy="4170372"/>
          </a:xfrm>
          <a:prstGeom prst="rect">
            <a:avLst/>
          </a:prstGeom>
          <a:noFill/>
        </p:spPr>
        <p:txBody>
          <a:bodyPr wrap="square" rtlCol="0">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1:</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69 ^ 87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- 67 / 29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Note: Since ^ has highest priority it is parenthesized first.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2:</a:t>
            </a:r>
            <a:r>
              <a:rPr lang="en-IN" sz="2000" dirty="0">
                <a:latin typeface="Times New Roman" panose="02020603050405020304" pitchFamily="18" charset="0"/>
                <a:cs typeface="Times New Roman" panose="02020603050405020304" pitchFamily="18" charset="0"/>
              </a:rPr>
              <a:t> ( 69 ^ 87 )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67 / 29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+ 77 * 44</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first because they follow left associativity.</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Step 3:</a:t>
            </a:r>
            <a:r>
              <a:rPr lang="en-IN" sz="2000" dirty="0">
                <a:latin typeface="Times New Roman" panose="02020603050405020304" pitchFamily="18" charset="0"/>
                <a:cs typeface="Times New Roman" panose="02020603050405020304" pitchFamily="18" charset="0"/>
              </a:rPr>
              <a:t> ( 69 ^ 87 ) - ( 67 / 29 ) +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77 * 44 </a:t>
            </a:r>
            <a:r>
              <a:rPr lang="en-IN" sz="2000" b="1" dirty="0">
                <a:latin typeface="Times New Roman" panose="02020603050405020304" pitchFamily="18" charset="0"/>
                <a:cs typeface="Times New Roman" panose="02020603050405020304" pitchFamily="18" charset="0"/>
              </a:rPr>
              <a:t>)</a:t>
            </a:r>
            <a:br>
              <a:rPr lang="en-IN" sz="2000" dirty="0">
                <a:latin typeface="Times New Roman" panose="02020603050405020304" pitchFamily="18" charset="0"/>
                <a:cs typeface="Times New Roman" panose="02020603050405020304" pitchFamily="18" charset="0"/>
              </a:rPr>
            </a:br>
            <a:r>
              <a:rPr lang="en-IN" sz="2000" dirty="0">
                <a:solidFill>
                  <a:srgbClr val="FF0000"/>
                </a:solidFill>
                <a:latin typeface="Times New Roman" panose="02020603050405020304" pitchFamily="18" charset="0"/>
                <a:cs typeface="Times New Roman" panose="02020603050405020304" pitchFamily="18" charset="0"/>
              </a:rPr>
              <a:t>/ and * have the next priority but * is parenthesized second because they follow left associativity.</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4: ( ( 69 ^ 87 ) - ( 67 / 29 ) ) + ( 77 * 44 )</a:t>
            </a:r>
          </a:p>
          <a:p>
            <a:pPr>
              <a:spcBef>
                <a:spcPts val="600"/>
              </a:spcBef>
              <a:spcAft>
                <a:spcPts val="600"/>
              </a:spcAft>
            </a:pPr>
            <a:r>
              <a:rPr lang="en-IN" sz="2000" dirty="0">
                <a:latin typeface="Times New Roman" panose="02020603050405020304" pitchFamily="18" charset="0"/>
                <a:cs typeface="Times New Roman" panose="02020603050405020304" pitchFamily="18" charset="0"/>
              </a:rPr>
              <a:t>Step 5: ( ( ( 69 ^ 87 ) - ( 67 / 29 ) ) + ( 77 * 44 ) )</a:t>
            </a:r>
          </a:p>
          <a:p>
            <a:endParaRPr lang="en-IN" sz="2000" b="1" dirty="0">
              <a:solidFill>
                <a:srgbClr val="FF0000"/>
              </a:solidFill>
            </a:endParaRPr>
          </a:p>
        </p:txBody>
      </p:sp>
    </p:spTree>
    <p:extLst>
      <p:ext uri="{BB962C8B-B14F-4D97-AF65-F5344CB8AC3E}">
        <p14:creationId xmlns:p14="http://schemas.microsoft.com/office/powerpoint/2010/main" val="1920348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Infix Expressions into Postfix Expressions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8305800" cy="4629985"/>
          </a:xfrm>
          <a:prstGeom prst="rect">
            <a:avLst/>
          </a:prstGeom>
        </p:spPr>
        <p:txBody>
          <a:bodyPr wrap="square">
            <a:spAutoFit/>
          </a:bodyPr>
          <a:lstStyle/>
          <a:p>
            <a:r>
              <a:rPr lang="en-US" sz="2300" b="1" dirty="0">
                <a:latin typeface="Times New Roman" pitchFamily="18" charset="0"/>
                <a:cs typeface="Times New Roman" pitchFamily="18" charset="0"/>
              </a:rPr>
              <a:t>Solution:</a:t>
            </a:r>
          </a:p>
          <a:p>
            <a:pPr>
              <a:lnSpc>
                <a:spcPct val="150000"/>
              </a:lnSpc>
            </a:pPr>
            <a:r>
              <a:rPr lang="en-US" sz="2300" dirty="0">
                <a:latin typeface="Times New Roman" pitchFamily="18" charset="0"/>
                <a:cs typeface="Times New Roman" pitchFamily="18" charset="0"/>
              </a:rPr>
              <a:t> (a) (A–B) * (C+D)</a:t>
            </a:r>
          </a:p>
          <a:p>
            <a:pPr>
              <a:lnSpc>
                <a:spcPct val="150000"/>
              </a:lnSpc>
              <a:buNone/>
            </a:pPr>
            <a:r>
              <a:rPr lang="en-US" sz="2300" dirty="0">
                <a:latin typeface="Times New Roman" pitchFamily="18" charset="0"/>
                <a:cs typeface="Times New Roman" pitchFamily="18" charset="0"/>
              </a:rPr>
              <a:t> [AB–] * [CD+]</a:t>
            </a:r>
          </a:p>
          <a:p>
            <a:pPr>
              <a:lnSpc>
                <a:spcPct val="150000"/>
              </a:lnSpc>
              <a:buNone/>
            </a:pPr>
            <a:r>
              <a:rPr lang="en-US" sz="2300" dirty="0">
                <a:latin typeface="Times New Roman" pitchFamily="18" charset="0"/>
                <a:cs typeface="Times New Roman" pitchFamily="18" charset="0"/>
              </a:rPr>
              <a:t> AB–CD+* </a:t>
            </a:r>
          </a:p>
          <a:p>
            <a:pPr>
              <a:lnSpc>
                <a:spcPct val="150000"/>
              </a:lnSpc>
              <a:buNone/>
            </a:pPr>
            <a:endParaRPr lang="en-US" sz="2300" dirty="0">
              <a:latin typeface="Times New Roman" pitchFamily="18" charset="0"/>
              <a:cs typeface="Times New Roman" pitchFamily="18" charset="0"/>
            </a:endParaRPr>
          </a:p>
          <a:p>
            <a:pPr>
              <a:lnSpc>
                <a:spcPct val="150000"/>
              </a:lnSpc>
            </a:pPr>
            <a:r>
              <a:rPr lang="en-US" sz="2300" dirty="0">
                <a:latin typeface="Times New Roman" pitchFamily="18" charset="0"/>
                <a:cs typeface="Times New Roman" pitchFamily="18" charset="0"/>
              </a:rPr>
              <a:t>(b) (A + B) / (C + D) – (D * E)</a:t>
            </a:r>
          </a:p>
          <a:p>
            <a:pPr>
              <a:lnSpc>
                <a:spcPct val="150000"/>
              </a:lnSpc>
              <a:buNone/>
            </a:pPr>
            <a:r>
              <a:rPr lang="en-US" sz="2300" dirty="0">
                <a:latin typeface="Times New Roman" pitchFamily="18" charset="0"/>
                <a:cs typeface="Times New Roman" pitchFamily="18" charset="0"/>
              </a:rPr>
              <a:t> [AB+] / [CD+] – [DE*] </a:t>
            </a:r>
          </a:p>
          <a:p>
            <a:pPr>
              <a:lnSpc>
                <a:spcPct val="150000"/>
              </a:lnSpc>
              <a:buNone/>
            </a:pPr>
            <a:r>
              <a:rPr lang="en-US" sz="2300" dirty="0">
                <a:latin typeface="Times New Roman" pitchFamily="18" charset="0"/>
                <a:cs typeface="Times New Roman" pitchFamily="18" charset="0"/>
              </a:rPr>
              <a:t>[AB+CD+/] – [DE*]</a:t>
            </a:r>
          </a:p>
          <a:p>
            <a:pPr>
              <a:lnSpc>
                <a:spcPct val="150000"/>
              </a:lnSpc>
              <a:buNone/>
            </a:pPr>
            <a:r>
              <a:rPr lang="en-US" sz="2300" dirty="0">
                <a:latin typeface="Times New Roman" pitchFamily="18" charset="0"/>
                <a:cs typeface="Times New Roman" pitchFamily="18" charset="0"/>
              </a:rPr>
              <a:t> AB+CD+/DE*–</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113704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Postfix Expressions into Infix Expressions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5306888" cy="1995739"/>
          </a:xfrm>
          <a:prstGeom prst="rect">
            <a:avLst/>
          </a:prstGeom>
        </p:spPr>
        <p:txBody>
          <a:bodyPr wrap="square">
            <a:spAutoFit/>
          </a:bodyPr>
          <a:lstStyle/>
          <a:p>
            <a:r>
              <a:rPr lang="en-US" sz="2300" b="1" dirty="0">
                <a:latin typeface="Times New Roman" pitchFamily="18" charset="0"/>
                <a:cs typeface="Times New Roman" pitchFamily="18" charset="0"/>
              </a:rPr>
              <a:t>Solution:</a:t>
            </a:r>
          </a:p>
          <a:p>
            <a:pPr>
              <a:lnSpc>
                <a:spcPct val="150000"/>
              </a:lnSpc>
            </a:pPr>
            <a:r>
              <a:rPr lang="en-US" sz="2300" dirty="0">
                <a:latin typeface="Times New Roman" panose="02020603050405020304" pitchFamily="18" charset="0"/>
                <a:cs typeface="Times New Roman" pitchFamily="18" charset="0"/>
              </a:rPr>
              <a:t>Postfix: (</a:t>
            </a:r>
            <a:r>
              <a:rPr lang="en-IN" sz="2300" b="1" dirty="0">
                <a:latin typeface="Times New Roman" panose="02020603050405020304" pitchFamily="18" charset="0"/>
                <a:cs typeface="Times New Roman" panose="02020603050405020304" pitchFamily="18" charset="0"/>
              </a:rPr>
              <a:t>ABC/-AK/L-*</a:t>
            </a:r>
          </a:p>
          <a:p>
            <a:pPr>
              <a:lnSpc>
                <a:spcPct val="150000"/>
              </a:lnSpc>
            </a:pPr>
            <a:r>
              <a:rPr lang="en-IN" sz="2300" dirty="0">
                <a:latin typeface="Times New Roman" panose="02020603050405020304" pitchFamily="18" charset="0"/>
                <a:cs typeface="Times New Roman" panose="02020603050405020304" pitchFamily="18" charset="0"/>
              </a:rPr>
              <a:t>Infix expression: </a:t>
            </a:r>
            <a:r>
              <a:rPr lang="en-IN" sz="2300" b="1" dirty="0">
                <a:latin typeface="Times New Roman" panose="02020603050405020304" pitchFamily="18" charset="0"/>
                <a:cs typeface="Times New Roman" panose="02020603050405020304" pitchFamily="18" charset="0"/>
              </a:rPr>
              <a:t>((A-(B/C))*((A/K)-L))</a:t>
            </a:r>
            <a:endParaRPr lang="en-US" sz="2300" dirty="0">
              <a:latin typeface="Times New Roman" pitchFamily="18" charset="0"/>
              <a:cs typeface="Times New Roman" pitchFamily="18" charset="0"/>
            </a:endParaRPr>
          </a:p>
          <a:p>
            <a:pPr>
              <a:lnSpc>
                <a:spcPct val="150000"/>
              </a:lnSpc>
            </a:pP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455332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429495" y="1257821"/>
            <a:ext cx="8390977" cy="5109091"/>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1. Why is there a need to convert from infix to postfix and then evaluate, instead of directly evaluating the infix?</a:t>
            </a:r>
          </a:p>
          <a:p>
            <a:pPr algn="just">
              <a:spcBef>
                <a:spcPts val="600"/>
              </a:spcBef>
            </a:pPr>
            <a:r>
              <a:rPr lang="en-IN" sz="2200" dirty="0">
                <a:latin typeface="Times New Roman" panose="02020603050405020304" pitchFamily="18" charset="0"/>
                <a:cs typeface="Times New Roman" panose="02020603050405020304" pitchFamily="18" charset="0"/>
              </a:rPr>
              <a:t> a: It is easier to read for humans</a:t>
            </a:r>
          </a:p>
          <a:p>
            <a:pPr algn="just">
              <a:spcBef>
                <a:spcPts val="600"/>
              </a:spcBef>
            </a:pPr>
            <a:r>
              <a:rPr lang="en-IN" sz="2200" dirty="0">
                <a:latin typeface="Times New Roman" panose="02020603050405020304" pitchFamily="18" charset="0"/>
                <a:cs typeface="Times New Roman" panose="02020603050405020304" pitchFamily="18" charset="0"/>
              </a:rPr>
              <a:t> b: It is easier to parse (be read by a computer).</a:t>
            </a:r>
          </a:p>
          <a:p>
            <a:pPr algn="just">
              <a:spcBef>
                <a:spcPts val="600"/>
              </a:spcBef>
            </a:pPr>
            <a:r>
              <a:rPr lang="en-IN" sz="2200" dirty="0">
                <a:latin typeface="Times New Roman" panose="02020603050405020304" pitchFamily="18" charset="0"/>
                <a:cs typeface="Times New Roman" panose="02020603050405020304" pitchFamily="18" charset="0"/>
              </a:rPr>
              <a:t> c: Both a and b</a:t>
            </a:r>
          </a:p>
          <a:p>
            <a:pPr algn="just">
              <a:spcBef>
                <a:spcPts val="600"/>
              </a:spcBef>
            </a:pPr>
            <a:r>
              <a:rPr lang="en-IN" sz="2200" dirty="0">
                <a:latin typeface="Times New Roman" panose="02020603050405020304" pitchFamily="18" charset="0"/>
                <a:cs typeface="Times New Roman" panose="02020603050405020304" pitchFamily="18" charset="0"/>
              </a:rPr>
              <a:t> d: None of these.</a:t>
            </a:r>
          </a:p>
          <a:p>
            <a:pPr algn="just">
              <a:spcBef>
                <a:spcPts val="600"/>
              </a:spcBef>
            </a:pPr>
            <a:endParaRPr lang="en-IN" sz="2200" dirty="0">
              <a:latin typeface="Times New Roman" panose="02020603050405020304" pitchFamily="18" charset="0"/>
              <a:cs typeface="Times New Roman" panose="02020603050405020304" pitchFamily="18" charset="0"/>
            </a:endParaRPr>
          </a:p>
          <a:p>
            <a:pPr algn="just">
              <a:spcBef>
                <a:spcPts val="600"/>
              </a:spcBef>
            </a:pPr>
            <a:r>
              <a:rPr lang="en-IN" sz="2200" b="1" dirty="0">
                <a:latin typeface="Times New Roman" panose="02020603050405020304" pitchFamily="18" charset="0"/>
                <a:cs typeface="Times New Roman" panose="02020603050405020304" pitchFamily="18" charset="0"/>
              </a:rPr>
              <a:t>2. Postfix evaluation of 1 2 + 3 9 - + 4 + is _______.</a:t>
            </a:r>
          </a:p>
          <a:p>
            <a:pPr algn="just">
              <a:spcBef>
                <a:spcPts val="600"/>
              </a:spcBef>
            </a:pPr>
            <a:r>
              <a:rPr lang="en-IN" sz="2200" dirty="0">
                <a:latin typeface="Times New Roman" panose="02020603050405020304" pitchFamily="18" charset="0"/>
                <a:cs typeface="Times New Roman" panose="02020603050405020304" pitchFamily="18" charset="0"/>
              </a:rPr>
              <a:t> a: 3</a:t>
            </a:r>
          </a:p>
          <a:p>
            <a:pPr algn="just">
              <a:spcBef>
                <a:spcPts val="600"/>
              </a:spcBef>
            </a:pPr>
            <a:r>
              <a:rPr lang="en-IN" sz="2200" dirty="0">
                <a:latin typeface="Times New Roman" panose="02020603050405020304" pitchFamily="18" charset="0"/>
                <a:cs typeface="Times New Roman" panose="02020603050405020304" pitchFamily="18" charset="0"/>
              </a:rPr>
              <a:t> b: 2</a:t>
            </a:r>
          </a:p>
          <a:p>
            <a:pPr algn="just">
              <a:spcBef>
                <a:spcPts val="600"/>
              </a:spcBef>
            </a:pPr>
            <a:r>
              <a:rPr lang="en-IN" sz="2200" dirty="0">
                <a:latin typeface="Times New Roman" panose="02020603050405020304" pitchFamily="18" charset="0"/>
                <a:cs typeface="Times New Roman" panose="02020603050405020304" pitchFamily="18" charset="0"/>
              </a:rPr>
              <a:t> c: 1</a:t>
            </a:r>
          </a:p>
          <a:p>
            <a:pPr algn="just">
              <a:spcBef>
                <a:spcPts val="600"/>
              </a:spcBef>
            </a:pPr>
            <a:r>
              <a:rPr lang="en-IN" sz="2200" dirty="0">
                <a:latin typeface="Times New Roman" panose="02020603050405020304" pitchFamily="18" charset="0"/>
                <a:cs typeface="Times New Roman" panose="02020603050405020304" pitchFamily="18" charset="0"/>
              </a:rPr>
              <a:t> d: 4</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9167198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01966" y="1080664"/>
            <a:ext cx="8280920" cy="5710025"/>
          </a:xfrm>
          <a:prstGeom prst="rect">
            <a:avLst/>
          </a:prstGeom>
        </p:spPr>
        <p:txBody>
          <a:bodyPr wrap="square">
            <a:spAutoFit/>
          </a:bodyPr>
          <a:lstStyle/>
          <a:p>
            <a:pPr>
              <a:spcBef>
                <a:spcPts val="600"/>
              </a:spcBef>
            </a:pPr>
            <a:r>
              <a:rPr lang="en-IN" sz="2200" b="1" dirty="0">
                <a:latin typeface="Times New Roman" panose="02020603050405020304" pitchFamily="18" charset="0"/>
                <a:cs typeface="Times New Roman" panose="02020603050405020304" pitchFamily="18" charset="0"/>
              </a:rPr>
              <a:t>3. Convert the expression from infix to postfix 1 + 1 - 3 * 4 / 2 + 3 - 8?</a:t>
            </a:r>
          </a:p>
          <a:p>
            <a:pPr>
              <a:spcBef>
                <a:spcPts val="600"/>
              </a:spcBef>
            </a:pPr>
            <a:r>
              <a:rPr lang="en-IN" sz="2200" dirty="0">
                <a:latin typeface="Times New Roman" panose="02020603050405020304" pitchFamily="18" charset="0"/>
                <a:cs typeface="Times New Roman" panose="02020603050405020304" pitchFamily="18" charset="0"/>
              </a:rPr>
              <a:t> a: 1 1 + 3 - 4 * 2 / + 3 8 -</a:t>
            </a:r>
          </a:p>
          <a:p>
            <a:pPr>
              <a:spcBef>
                <a:spcPts val="600"/>
              </a:spcBef>
            </a:pPr>
            <a:r>
              <a:rPr lang="en-IN" sz="2200" dirty="0">
                <a:latin typeface="Times New Roman" panose="02020603050405020304" pitchFamily="18" charset="0"/>
                <a:cs typeface="Times New Roman" panose="02020603050405020304" pitchFamily="18" charset="0"/>
              </a:rPr>
              <a:t> b: 1 1 + 3 - 4 / 2 * 3 + 8 -</a:t>
            </a:r>
          </a:p>
          <a:p>
            <a:pPr>
              <a:spcBef>
                <a:spcPts val="600"/>
              </a:spcBef>
            </a:pPr>
            <a:r>
              <a:rPr lang="en-IN" sz="2200" dirty="0">
                <a:latin typeface="Times New Roman" panose="02020603050405020304" pitchFamily="18" charset="0"/>
                <a:cs typeface="Times New Roman" panose="02020603050405020304" pitchFamily="18" charset="0"/>
              </a:rPr>
              <a:t> c: 1 1 + 3 4 * 2 / - 3 + 8 -</a:t>
            </a:r>
          </a:p>
          <a:p>
            <a:pPr>
              <a:spcBef>
                <a:spcPts val="600"/>
              </a:spcBef>
            </a:pPr>
            <a:r>
              <a:rPr lang="en-IN" sz="2200" dirty="0">
                <a:latin typeface="Times New Roman" panose="02020603050405020304" pitchFamily="18" charset="0"/>
                <a:cs typeface="Times New Roman" panose="02020603050405020304" pitchFamily="18" charset="0"/>
              </a:rPr>
              <a:t> d: 1 1 * 3 + 4 - 2 + 3 / 8 –</a:t>
            </a:r>
          </a:p>
          <a:p>
            <a:pPr>
              <a:spcBef>
                <a:spcPts val="600"/>
              </a:spcBef>
            </a:pPr>
            <a:endParaRPr lang="en-IN" sz="2200" dirty="0">
              <a:latin typeface="Times New Roman" panose="02020603050405020304" pitchFamily="18" charset="0"/>
              <a:cs typeface="Times New Roman" panose="02020603050405020304" pitchFamily="18" charset="0"/>
            </a:endParaRPr>
          </a:p>
          <a:p>
            <a:pPr>
              <a:spcBef>
                <a:spcPts val="600"/>
              </a:spcBef>
            </a:pPr>
            <a:r>
              <a:rPr lang="en-IN" sz="2200" b="1" dirty="0">
                <a:latin typeface="Times New Roman" panose="02020603050405020304" pitchFamily="18" charset="0"/>
                <a:cs typeface="Times New Roman" panose="02020603050405020304" pitchFamily="18" charset="0"/>
              </a:rPr>
              <a:t>4. Convert the expression from Infix to Postfix a + b * (c ^ d - e) ^ (f + g * h) - i?</a:t>
            </a:r>
          </a:p>
          <a:p>
            <a:pPr>
              <a:spcBef>
                <a:spcPts val="600"/>
              </a:spcBef>
            </a:pP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ab^cd-ef+d</a:t>
            </a:r>
            <a:r>
              <a:rPr lang="en-IN" sz="2200" dirty="0">
                <a:latin typeface="Times New Roman" panose="02020603050405020304" pitchFamily="18" charset="0"/>
                <a:cs typeface="Times New Roman" panose="02020603050405020304" pitchFamily="18" charset="0"/>
              </a:rPr>
              <a:t>*h^*-i+</a:t>
            </a:r>
          </a:p>
          <a:p>
            <a:pPr>
              <a:spcBef>
                <a:spcPts val="600"/>
              </a:spcBef>
            </a:pPr>
            <a:r>
              <a:rPr lang="en-IN" sz="2200" dirty="0">
                <a:latin typeface="Times New Roman" panose="02020603050405020304" pitchFamily="18" charset="0"/>
                <a:cs typeface="Times New Roman" panose="02020603050405020304" pitchFamily="18" charset="0"/>
              </a:rPr>
              <a:t> b: </a:t>
            </a:r>
            <a:r>
              <a:rPr lang="en-IN" sz="2200" dirty="0" err="1">
                <a:latin typeface="Times New Roman" panose="02020603050405020304" pitchFamily="18" charset="0"/>
                <a:cs typeface="Times New Roman" panose="02020603050405020304" pitchFamily="18" charset="0"/>
              </a:rPr>
              <a:t>ab^cd-ef+d</a:t>
            </a:r>
            <a:r>
              <a:rPr lang="en-IN" sz="2200" dirty="0">
                <a:latin typeface="Times New Roman" panose="02020603050405020304" pitchFamily="18" charset="0"/>
                <a:cs typeface="Times New Roman" panose="02020603050405020304" pitchFamily="18" charset="0"/>
              </a:rPr>
              <a:t>*h*^-i+</a:t>
            </a:r>
          </a:p>
          <a:p>
            <a:pPr>
              <a:spcBef>
                <a:spcPts val="600"/>
              </a:spcBef>
            </a:pPr>
            <a:r>
              <a:rPr lang="en-IN" sz="2200" dirty="0">
                <a:latin typeface="Times New Roman" panose="02020603050405020304" pitchFamily="18" charset="0"/>
                <a:cs typeface="Times New Roman" panose="02020603050405020304" pitchFamily="18" charset="0"/>
              </a:rPr>
              <a:t> c: </a:t>
            </a:r>
            <a:r>
              <a:rPr lang="en-IN" sz="2200" dirty="0" err="1">
                <a:latin typeface="Times New Roman" panose="02020603050405020304" pitchFamily="18" charset="0"/>
                <a:cs typeface="Times New Roman" panose="02020603050405020304" pitchFamily="18" charset="0"/>
              </a:rPr>
              <a:t>abcd^e-fgh</a:t>
            </a:r>
            <a:r>
              <a:rPr lang="en-IN" sz="2200" dirty="0">
                <a:latin typeface="Times New Roman" panose="02020603050405020304" pitchFamily="18" charset="0"/>
                <a:cs typeface="Times New Roman" panose="02020603050405020304" pitchFamily="18" charset="0"/>
              </a:rPr>
              <a:t>*+^*+i-</a:t>
            </a:r>
          </a:p>
          <a:p>
            <a:pPr>
              <a:spcBef>
                <a:spcPts val="600"/>
              </a:spcBef>
            </a:pPr>
            <a:r>
              <a:rPr lang="en-IN" sz="2200" dirty="0">
                <a:latin typeface="Times New Roman" panose="02020603050405020304" pitchFamily="18" charset="0"/>
                <a:cs typeface="Times New Roman" panose="02020603050405020304" pitchFamily="18" charset="0"/>
              </a:rPr>
              <a:t> d: </a:t>
            </a:r>
            <a:r>
              <a:rPr lang="en-IN" sz="2200" dirty="0" err="1">
                <a:latin typeface="Times New Roman" panose="02020603050405020304" pitchFamily="18" charset="0"/>
                <a:cs typeface="Times New Roman" panose="02020603050405020304" pitchFamily="18" charset="0"/>
              </a:rPr>
              <a:t>abcd^e-fgh</a:t>
            </a:r>
            <a:r>
              <a:rPr lang="en-IN" sz="2200" dirty="0">
                <a:latin typeface="Times New Roman" panose="02020603050405020304" pitchFamily="18" charset="0"/>
                <a:cs typeface="Times New Roman" panose="02020603050405020304" pitchFamily="18" charset="0"/>
              </a:rPr>
              <a:t>*+*^+i- </a:t>
            </a:r>
          </a:p>
          <a:p>
            <a:pPr>
              <a:lnSpc>
                <a:spcPct val="150000"/>
              </a:lnSpc>
            </a:pPr>
            <a:endParaRPr lang="en-US" sz="22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dirty="0"/>
              <a:t>Data  Structure         Unit2  </a:t>
            </a:r>
          </a:p>
        </p:txBody>
      </p:sp>
      <p:sp>
        <p:nvSpPr>
          <p:cNvPr id="10" name="Rectangle 1">
            <a:extLst>
              <a:ext uri="{FF2B5EF4-FFF2-40B4-BE49-F238E27FC236}">
                <a16:creationId xmlns:a16="http://schemas.microsoft.com/office/drawing/2014/main" id="{895C4C82-431E-1809-FE8F-F302B606837C}"/>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3864647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95536" y="1257821"/>
            <a:ext cx="8367464" cy="2580515"/>
          </a:xfrm>
          <a:prstGeom prst="rect">
            <a:avLst/>
          </a:prstGeom>
        </p:spPr>
        <p:txBody>
          <a:bodyPr wrap="square">
            <a:spAutoFit/>
          </a:bodyPr>
          <a:lstStyle/>
          <a:p>
            <a:pPr algn="just">
              <a:spcBef>
                <a:spcPts val="600"/>
              </a:spcBef>
            </a:pPr>
            <a:r>
              <a:rPr lang="en-IN" sz="2200" b="1" dirty="0">
                <a:latin typeface="Times New Roman" panose="02020603050405020304" pitchFamily="18" charset="0"/>
                <a:cs typeface="Times New Roman" panose="02020603050405020304" pitchFamily="18" charset="0"/>
              </a:rPr>
              <a:t>5. Convert the expression from Infix to Postfix a + b * c - d ^ e ^ f?</a:t>
            </a:r>
          </a:p>
          <a:p>
            <a:pPr algn="just">
              <a:spcBef>
                <a:spcPts val="600"/>
              </a:spcBef>
            </a:pPr>
            <a:r>
              <a:rPr lang="en-IN" sz="2200" dirty="0">
                <a:latin typeface="Times New Roman" panose="02020603050405020304" pitchFamily="18" charset="0"/>
                <a:cs typeface="Times New Roman" panose="02020603050405020304" pitchFamily="18" charset="0"/>
              </a:rPr>
              <a:t> a: </a:t>
            </a:r>
            <a:r>
              <a:rPr lang="en-IN" sz="2200" dirty="0" err="1">
                <a:latin typeface="Times New Roman" panose="02020603050405020304" pitchFamily="18" charset="0"/>
                <a:cs typeface="Times New Roman" panose="02020603050405020304" pitchFamily="18" charset="0"/>
              </a:rPr>
              <a:t>abc</a:t>
            </a:r>
            <a:r>
              <a:rPr lang="en-IN" sz="2200" dirty="0">
                <a:latin typeface="Times New Roman" panose="02020603050405020304" pitchFamily="18" charset="0"/>
                <a:cs typeface="Times New Roman" panose="02020603050405020304" pitchFamily="18" charset="0"/>
              </a:rPr>
              <a:t> * + </a:t>
            </a:r>
            <a:r>
              <a:rPr lang="en-IN" sz="2200" dirty="0" err="1">
                <a:latin typeface="Times New Roman" panose="02020603050405020304" pitchFamily="18" charset="0"/>
                <a:cs typeface="Times New Roman" panose="02020603050405020304" pitchFamily="18" charset="0"/>
              </a:rPr>
              <a:t>def</a:t>
            </a:r>
            <a:r>
              <a:rPr lang="en-IN" sz="2200" dirty="0">
                <a:latin typeface="Times New Roman" panose="02020603050405020304" pitchFamily="18" charset="0"/>
                <a:cs typeface="Times New Roman" panose="02020603050405020304" pitchFamily="18" charset="0"/>
              </a:rPr>
              <a:t> ^^-</a:t>
            </a:r>
          </a:p>
          <a:p>
            <a:pPr algn="just">
              <a:spcBef>
                <a:spcPts val="600"/>
              </a:spcBef>
            </a:pPr>
            <a:r>
              <a:rPr lang="en-IN" sz="2200" dirty="0">
                <a:latin typeface="Times New Roman" panose="02020603050405020304" pitchFamily="18" charset="0"/>
                <a:cs typeface="Times New Roman" panose="02020603050405020304" pitchFamily="18" charset="0"/>
              </a:rPr>
              <a:t> b: </a:t>
            </a:r>
            <a:r>
              <a:rPr lang="en-IN" sz="2200" dirty="0" err="1">
                <a:latin typeface="Times New Roman" panose="02020603050405020304" pitchFamily="18" charset="0"/>
                <a:cs typeface="Times New Roman" panose="02020603050405020304" pitchFamily="18" charset="0"/>
              </a:rPr>
              <a:t>abc</a:t>
            </a:r>
            <a:r>
              <a:rPr lang="en-IN" sz="2200" dirty="0">
                <a:latin typeface="Times New Roman" panose="02020603050405020304" pitchFamily="18" charset="0"/>
                <a:cs typeface="Times New Roman" panose="02020603050405020304" pitchFamily="18" charset="0"/>
              </a:rPr>
              <a:t> * + de ^ f ^-\</a:t>
            </a:r>
          </a:p>
          <a:p>
            <a:pPr algn="just">
              <a:spcBef>
                <a:spcPts val="600"/>
              </a:spcBef>
            </a:pPr>
            <a:r>
              <a:rPr lang="en-IN" sz="2200" dirty="0">
                <a:latin typeface="Times New Roman" panose="02020603050405020304" pitchFamily="18" charset="0"/>
                <a:cs typeface="Times New Roman" panose="02020603050405020304" pitchFamily="18" charset="0"/>
              </a:rPr>
              <a:t> c: </a:t>
            </a:r>
            <a:r>
              <a:rPr lang="en-IN" sz="2200" dirty="0" err="1">
                <a:latin typeface="Times New Roman" panose="02020603050405020304" pitchFamily="18" charset="0"/>
                <a:cs typeface="Times New Roman" panose="02020603050405020304" pitchFamily="18" charset="0"/>
              </a:rPr>
              <a:t>ab</a:t>
            </a:r>
            <a:r>
              <a:rPr lang="en-IN" sz="2200" dirty="0">
                <a:latin typeface="Times New Roman" panose="02020603050405020304" pitchFamily="18" charset="0"/>
                <a:cs typeface="Times New Roman" panose="02020603050405020304" pitchFamily="18" charset="0"/>
              </a:rPr>
              <a:t> + c *d - e ^ f ^</a:t>
            </a:r>
          </a:p>
          <a:p>
            <a:pPr algn="just">
              <a:spcBef>
                <a:spcPts val="600"/>
              </a:spcBef>
            </a:pPr>
            <a:r>
              <a:rPr lang="en-IN" sz="2200" dirty="0">
                <a:latin typeface="Times New Roman" panose="02020603050405020304" pitchFamily="18" charset="0"/>
                <a:cs typeface="Times New Roman" panose="02020603050405020304" pitchFamily="18" charset="0"/>
              </a:rPr>
              <a:t> d: -+ a * </a:t>
            </a:r>
            <a:r>
              <a:rPr lang="en-IN" sz="2200" dirty="0" err="1">
                <a:latin typeface="Times New Roman" panose="02020603050405020304" pitchFamily="18" charset="0"/>
                <a:cs typeface="Times New Roman" panose="02020603050405020304" pitchFamily="18" charset="0"/>
              </a:rPr>
              <a:t>bc</a:t>
            </a:r>
            <a:r>
              <a:rPr lang="en-IN" sz="2200" dirty="0">
                <a:latin typeface="Times New Roman" panose="02020603050405020304" pitchFamily="18" charset="0"/>
                <a:cs typeface="Times New Roman" panose="02020603050405020304" pitchFamily="18" charset="0"/>
              </a:rPr>
              <a:t> ^^ de</a:t>
            </a:r>
          </a:p>
          <a:p>
            <a:pPr>
              <a:lnSpc>
                <a:spcPct val="150000"/>
              </a:lnSpc>
            </a:pPr>
            <a:endParaRPr lang="en-US" sz="2400"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
        <p:nvSpPr>
          <p:cNvPr id="5" name="Rectangle 1">
            <a:extLst>
              <a:ext uri="{FF2B5EF4-FFF2-40B4-BE49-F238E27FC236}">
                <a16:creationId xmlns:a16="http://schemas.microsoft.com/office/drawing/2014/main" id="{5AD9EF2C-BCD3-152E-2ADE-7F8E92AD302F}"/>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40360846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0" y="413266"/>
            <a:ext cx="91440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Correct Answers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
        <p:nvSpPr>
          <p:cNvPr id="2049" name="Rectangle 1"/>
          <p:cNvSpPr>
            <a:spLocks noGrp="1" noChangeArrowheads="1"/>
          </p:cNvSpPr>
          <p:nvPr>
            <p:ph idx="1"/>
          </p:nvPr>
        </p:nvSpPr>
        <p:spPr bwMode="auto">
          <a:xfrm>
            <a:off x="363488" y="1426702"/>
            <a:ext cx="1828800" cy="30008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1.b</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2.c </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3.c</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4.c </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ts val="600"/>
              </a:spcBef>
              <a:spcAft>
                <a:spcPts val="60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5.a</a:t>
            </a:r>
            <a:endPar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spcBef>
                <a:spcPct val="0"/>
              </a:spcBef>
              <a:spcAft>
                <a:spcPct val="0"/>
              </a:spcAft>
              <a:buClrTx/>
              <a:buSzTx/>
              <a:buFontTx/>
              <a:buNone/>
              <a:tabLst/>
            </a:pPr>
            <a:endParaRPr kumimoji="0" lang="en-US" sz="240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18265842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Practice Questions </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395536" y="1257821"/>
            <a:ext cx="8280920" cy="4832092"/>
          </a:xfrm>
          <a:prstGeom prst="rect">
            <a:avLst/>
          </a:prstGeom>
        </p:spPr>
        <p:txBody>
          <a:bodyPr wrap="square">
            <a:spAutoFit/>
          </a:bodyPr>
          <a:lstStyle/>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Translate the following infix expression to its postfix equivalent expression: A + B * (C + D) / F + D * E Also write the algorithm that you used for this conversion and evaluate the postfix expression’s value for A=10, B=27, C=3 D=5 F=4 and E</a:t>
            </a:r>
            <a:r>
              <a:rPr lang="en-US" sz="2400" dirty="0">
                <a:latin typeface="Times New Roman" panose="02020603050405020304" pitchFamily="18" charset="0"/>
                <a:cs typeface="Times New Roman" panose="02020603050405020304" pitchFamily="18" charset="0"/>
                <a:sym typeface="Symbol"/>
              </a:rPr>
              <a:t></a:t>
            </a:r>
            <a:r>
              <a:rPr lang="en-US" sz="2400" dirty="0">
                <a:latin typeface="Times New Roman" panose="02020603050405020304" pitchFamily="18" charset="0"/>
                <a:cs typeface="Times New Roman" panose="02020603050405020304" pitchFamily="18" charset="0"/>
              </a:rPr>
              <a:t> 2</a:t>
            </a:r>
          </a:p>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How can you use stack to convert an infix expression to postfix? Convert infix expression (A + B)*(C - D) to postfix using stack.</a:t>
            </a:r>
          </a:p>
          <a:p>
            <a:pPr marL="342900" lvl="0" indent="-342900" algn="just">
              <a:spcBef>
                <a:spcPts val="600"/>
              </a:spcBef>
              <a:buFont typeface="Wingdings" pitchFamily="2" charset="2"/>
              <a:buChar char="Ø"/>
            </a:pPr>
            <a:r>
              <a:rPr lang="fr-FR" sz="2400" dirty="0" err="1">
                <a:latin typeface="Times New Roman" panose="02020603050405020304" pitchFamily="18" charset="0"/>
                <a:cs typeface="Times New Roman" panose="02020603050405020304" pitchFamily="18" charset="0"/>
              </a:rPr>
              <a:t>Infix</a:t>
            </a:r>
            <a:r>
              <a:rPr lang="fr-FR" sz="2400" dirty="0">
                <a:latin typeface="Times New Roman" panose="02020603050405020304" pitchFamily="18" charset="0"/>
                <a:cs typeface="Times New Roman" panose="02020603050405020304" pitchFamily="18" charset="0"/>
              </a:rPr>
              <a:t> Expression: ( AX + ( B * C ) ) </a:t>
            </a:r>
          </a:p>
          <a:p>
            <a:pPr marL="1371600" lvl="2" indent="-457200" algn="just">
              <a:spcBef>
                <a:spcPts val="600"/>
              </a:spcBef>
              <a:buFont typeface="+mj-lt"/>
              <a:buAutoNum type="alphaLcParenR"/>
            </a:pP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Postfix</a:t>
            </a:r>
            <a:r>
              <a:rPr lang="fr-FR" sz="2400" dirty="0">
                <a:latin typeface="Times New Roman" panose="02020603050405020304" pitchFamily="18" charset="0"/>
                <a:cs typeface="Times New Roman" panose="02020603050405020304" pitchFamily="18" charset="0"/>
              </a:rPr>
              <a:t> Expression</a:t>
            </a:r>
          </a:p>
          <a:p>
            <a:pPr marL="1371600" lvl="2" indent="-457200" algn="just">
              <a:spcBef>
                <a:spcPts val="600"/>
              </a:spcBef>
              <a:buFont typeface="+mj-lt"/>
              <a:buAutoNum type="alphaLcParenR"/>
            </a:pP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Prefix</a:t>
            </a:r>
            <a:r>
              <a:rPr lang="fr-FR" sz="2400" dirty="0">
                <a:latin typeface="Times New Roman" panose="02020603050405020304" pitchFamily="18" charset="0"/>
                <a:cs typeface="Times New Roman" panose="02020603050405020304" pitchFamily="18" charset="0"/>
              </a:rPr>
              <a:t> Expression</a:t>
            </a:r>
            <a:endParaRPr lang="en-US" sz="2400" dirty="0">
              <a:latin typeface="Times New Roman" panose="02020603050405020304" pitchFamily="18" charset="0"/>
              <a:cs typeface="Times New Roman" panose="02020603050405020304" pitchFamily="18" charset="0"/>
            </a:endParaRPr>
          </a:p>
          <a:p>
            <a:pPr lvl="0" algn="just"/>
            <a:endParaRPr lang="en-IN"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9121175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Practice Questions </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12" name="Rectangle 11"/>
          <p:cNvSpPr/>
          <p:nvPr/>
        </p:nvSpPr>
        <p:spPr>
          <a:xfrm>
            <a:off x="179512" y="1257821"/>
            <a:ext cx="8784976" cy="5509200"/>
          </a:xfrm>
          <a:prstGeom prst="rect">
            <a:avLst/>
          </a:prstGeom>
        </p:spPr>
        <p:txBody>
          <a:bodyPr wrap="square">
            <a:spAutoFit/>
          </a:bodyPr>
          <a:lstStyle/>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Infix Expression: ( AX * ( BX * ( ( ( CY + AY ) + BY ) * CX ) ) ) ;</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Postfix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marL="342900" lvl="0" indent="-342900" algn="just">
              <a:spcBef>
                <a:spcPts val="600"/>
              </a:spcBef>
              <a:buFont typeface="Wingdings" pitchFamily="2" charset="2"/>
              <a:buChar char="Ø"/>
            </a:pPr>
            <a:r>
              <a:rPr lang="en-US" sz="2400" dirty="0">
                <a:latin typeface="Times New Roman" panose="02020603050405020304" pitchFamily="18" charset="0"/>
                <a:cs typeface="Times New Roman" panose="02020603050405020304" pitchFamily="18" charset="0"/>
              </a:rPr>
              <a:t>Infix Expression: ( ( H * ( ( ( ( A + ( ( B + C ) * D ) ) * F ) * G ) * E ) ) + J ) ;</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Postfix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marL="342900" indent="-342900" algn="just">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Postfix: </a:t>
            </a:r>
            <a:r>
              <a:rPr lang="en-IN" sz="2400" dirty="0" err="1">
                <a:latin typeface="Times New Roman" panose="02020603050405020304" pitchFamily="18" charset="0"/>
                <a:cs typeface="Times New Roman" panose="02020603050405020304" pitchFamily="18" charset="0"/>
              </a:rPr>
              <a:t>abc</a:t>
            </a:r>
            <a:r>
              <a:rPr lang="en-IN" sz="2400" dirty="0">
                <a:latin typeface="Times New Roman" panose="02020603050405020304" pitchFamily="18" charset="0"/>
                <a:cs typeface="Times New Roman" panose="02020603050405020304" pitchFamily="18" charset="0"/>
              </a:rPr>
              <a:t>*d/+</a:t>
            </a:r>
            <a:r>
              <a:rPr lang="en-IN" sz="2400" dirty="0" err="1">
                <a:latin typeface="Times New Roman" panose="02020603050405020304" pitchFamily="18" charset="0"/>
                <a:cs typeface="Times New Roman" panose="02020603050405020304" pitchFamily="18" charset="0"/>
              </a:rPr>
              <a:t>ed</a:t>
            </a:r>
            <a:r>
              <a:rPr lang="en-IN" sz="2400" dirty="0">
                <a:latin typeface="Times New Roman" panose="02020603050405020304" pitchFamily="18" charset="0"/>
                <a:cs typeface="Times New Roman" panose="02020603050405020304" pitchFamily="18" charset="0"/>
              </a:rPr>
              <a:t>*-</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Infix Expression</a:t>
            </a:r>
          </a:p>
          <a:p>
            <a:pPr marL="914400" lvl="1" indent="-4572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Prefix Expression</a:t>
            </a:r>
          </a:p>
          <a:p>
            <a:pPr lvl="1" algn="just"/>
            <a:endParaRPr lang="en-IN" sz="2400" dirty="0"/>
          </a:p>
          <a:p>
            <a:pPr algn="just"/>
            <a:endParaRPr lang="en-US" sz="2400" dirty="0"/>
          </a:p>
          <a:p>
            <a:pPr lvl="0" algn="just"/>
            <a:endParaRPr lang="en-IN"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2249377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Rectangle 9"/>
          <p:cNvSpPr/>
          <p:nvPr/>
        </p:nvSpPr>
        <p:spPr>
          <a:xfrm>
            <a:off x="323528" y="1293834"/>
            <a:ext cx="8390978" cy="3431709"/>
          </a:xfrm>
          <a:prstGeom prst="rect">
            <a:avLst/>
          </a:prstGeom>
        </p:spPr>
        <p:txBody>
          <a:bodyPr wrap="square">
            <a:spAutoFit/>
          </a:bodyPr>
          <a:lstStyle/>
          <a:p>
            <a:pPr algn="just">
              <a:spcBef>
                <a:spcPts val="600"/>
              </a:spcBef>
            </a:pPr>
            <a:r>
              <a:rPr lang="en-IN" sz="2400" b="1" dirty="0">
                <a:latin typeface="Times New Roman" panose="02020603050405020304" pitchFamily="18" charset="0"/>
                <a:cs typeface="Times New Roman" panose="02020603050405020304" pitchFamily="18" charset="0"/>
              </a:rPr>
              <a:t>Approach to reverse a string using a stack</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Push the elements/characters of the string individually into the stack of data type characters.</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Pop the elements/characters individually from the Stack until the stack becomes vacant.</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Add a popped component to the character array.</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Convert character array to string.</a:t>
            </a:r>
          </a:p>
          <a:p>
            <a:pPr marL="285750" indent="-285750" algn="just">
              <a:spcBef>
                <a:spcPts val="600"/>
              </a:spcBef>
              <a:buFont typeface="Wingdings" pitchFamily="2" charset="2"/>
              <a:buChar char="Ø"/>
            </a:pPr>
            <a:r>
              <a:rPr lang="en-IN" sz="2400" dirty="0">
                <a:latin typeface="Times New Roman" panose="02020603050405020304" pitchFamily="18" charset="0"/>
                <a:cs typeface="Times New Roman" panose="02020603050405020304" pitchFamily="18" charset="0"/>
              </a:rPr>
              <a:t>Return turned around the string.</a:t>
            </a:r>
          </a:p>
        </p:txBody>
      </p:sp>
    </p:spTree>
    <p:extLst>
      <p:ext uri="{BB962C8B-B14F-4D97-AF65-F5344CB8AC3E}">
        <p14:creationId xmlns:p14="http://schemas.microsoft.com/office/powerpoint/2010/main" val="3206243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539552" y="413266"/>
            <a:ext cx="86044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Reverse a Data</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3" name="AutoShape 2" descr="UNIT-1 UNIT – I Introduction to data structures: Abstract data type (ADT),  Stacks and Queues circular queues and their implementation with arrays.  Stack. - ppt downlo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5221" t="18866" r="937" b="5474"/>
          <a:stretch/>
        </p:blipFill>
        <p:spPr bwMode="auto">
          <a:xfrm>
            <a:off x="214938" y="1120489"/>
            <a:ext cx="8023860" cy="518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70008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FF0000"/>
                </a:solidFill>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529868"/>
            <a:ext cx="7290619" cy="4191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61219" y="5772462"/>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6"/>
              </a:rPr>
              <a:t>https://www.geeksforgeeks.org/function-call-stack-in-c/</a:t>
            </a:r>
            <a:endParaRPr lang="en-IN" dirty="0">
              <a:latin typeface="Times New Roman" panose="02020603050405020304" pitchFamily="18"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4168269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262" y="3813719"/>
            <a:ext cx="7229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285478" y="1295756"/>
            <a:ext cx="8679010" cy="2308324"/>
          </a:xfrm>
          <a:prstGeom prst="rect">
            <a:avLst/>
          </a:prstGeom>
          <a:noFill/>
        </p:spPr>
        <p:txBody>
          <a:bodyPr wrap="square" rtlCol="0">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Stack plays an important role in programs that call several functions in succession. Suppose we have a program containing three functions: A, B, and C. function A invokes function B, which invokes the function C.</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4749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dirty="0">
                <a:solidFill>
                  <a:srgbClr val="FF0000"/>
                </a:solidFill>
                <a:latin typeface="Times New Roman" pitchFamily="18" charset="0"/>
                <a:cs typeface="Times New Roman" pitchFamily="18" charset="0"/>
              </a:rPr>
              <a:t> </a:t>
            </a:r>
            <a:r>
              <a:rPr lang="en-US" sz="3200" b="1" dirty="0">
                <a:solidFill>
                  <a:srgbClr val="FF0000"/>
                </a:solidFill>
                <a:cs typeface="Times New Roman" pitchFamily="18" charset="0"/>
              </a:rPr>
              <a:t>Function Calls</a:t>
            </a:r>
            <a:endParaRPr lang="en-US" sz="2800" b="1" dirty="0">
              <a:solidFill>
                <a:srgbClr val="FF0000"/>
              </a:solidFill>
              <a:cs typeface="Times New Roman" pitchFamily="18" charset="0"/>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5064" y="3228851"/>
            <a:ext cx="706755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95536" y="1367549"/>
            <a:ext cx="8291263" cy="1200329"/>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Consider </a:t>
            </a:r>
            <a:r>
              <a:rPr lang="en-IN" sz="2400" dirty="0" err="1">
                <a:latin typeface="Times New Roman" panose="02020603050405020304" pitchFamily="18" charset="0"/>
                <a:cs typeface="Times New Roman" panose="02020603050405020304" pitchFamily="18" charset="0"/>
              </a:rPr>
              <a:t>addrA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addrB</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addrC</a:t>
            </a:r>
            <a:r>
              <a:rPr lang="en-IN" sz="2400" dirty="0">
                <a:latin typeface="Times New Roman" panose="02020603050405020304" pitchFamily="18" charset="0"/>
                <a:cs typeface="Times New Roman" panose="02020603050405020304" pitchFamily="18" charset="0"/>
              </a:rPr>
              <a:t> be the addresses of the statements to which control is returned after completing the function A, B, and C, respectively.</a:t>
            </a:r>
            <a:endParaRPr lang="en-IN" sz="2400" b="1" dirty="0"/>
          </a:p>
        </p:txBody>
      </p:sp>
    </p:spTree>
    <p:extLst>
      <p:ext uri="{BB962C8B-B14F-4D97-AF65-F5344CB8AC3E}">
        <p14:creationId xmlns:p14="http://schemas.microsoft.com/office/powerpoint/2010/main" val="2633593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413266"/>
            <a:ext cx="87484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Rectangle 2"/>
          <p:cNvSpPr/>
          <p:nvPr/>
        </p:nvSpPr>
        <p:spPr>
          <a:xfrm>
            <a:off x="609600" y="5758160"/>
            <a:ext cx="7162800"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https://www.geeksforgeeks.org/c-program-for-tower-of-hanoi//</a:t>
            </a:r>
            <a:endParaRPr lang="en-IN"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79" y="1230428"/>
            <a:ext cx="8401323" cy="456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ooter Placeholder 7"/>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1047557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476BE0E1-B039-A403-C771-F1F21ACBFD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Tower of Hanoi Problem</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1" name="TextBox 10"/>
          <p:cNvSpPr txBox="1"/>
          <p:nvPr/>
        </p:nvSpPr>
        <p:spPr>
          <a:xfrm>
            <a:off x="289021" y="1200727"/>
            <a:ext cx="8550179" cy="4616648"/>
          </a:xfrm>
          <a:prstGeom prst="rect">
            <a:avLst/>
          </a:prstGeom>
          <a:noFill/>
        </p:spPr>
        <p:txBody>
          <a:bodyPr wrap="square" lIns="91440" tIns="45720" rIns="91440" bIns="45720" rtlCol="0" anchor="t">
            <a:spAutoFit/>
          </a:bodyPr>
          <a:lstStyle/>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Calculate the total number of moves required i.e. "pow(2, n) - 1" here n is number of disks.</a:t>
            </a:r>
          </a:p>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If number of disks (i.e. n) is even then interchange destination  pole and auxiliary pole.</a:t>
            </a:r>
          </a:p>
          <a:p>
            <a:pPr marL="457200" indent="-457200">
              <a:spcBef>
                <a:spcPts val="600"/>
              </a:spcBef>
              <a:spcAft>
                <a:spcPts val="600"/>
              </a:spcAft>
              <a:buAutoNum type="arabicPeriod"/>
            </a:pPr>
            <a:r>
              <a:rPr lang="en-IN" sz="2400" dirty="0">
                <a:latin typeface="Times New Roman" panose="02020603050405020304" pitchFamily="18" charset="0"/>
                <a:cs typeface="Times New Roman" panose="02020603050405020304" pitchFamily="18" charset="0"/>
              </a:rPr>
              <a:t> for i = 1 to total number of moves:</a:t>
            </a:r>
          </a:p>
          <a:p>
            <a:pPr marL="628650" indent="-628650">
              <a:spcBef>
                <a:spcPts val="600"/>
              </a:spcBef>
              <a:spcAft>
                <a:spcPts val="600"/>
              </a:spcAft>
            </a:pPr>
            <a:r>
              <a:rPr lang="en-IN" sz="2400" dirty="0">
                <a:latin typeface="Times New Roman" panose="02020603050405020304" pitchFamily="18" charset="0"/>
                <a:cs typeface="Times New Roman" panose="02020603050405020304" pitchFamily="18" charset="0"/>
              </a:rPr>
              <a:t>        if i%3 == 1:  legal movement of top disk between source pole and  destination pole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2:    legal movement top disk between source pole and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i%3 == 0:     legal movement top disk between auxiliary pole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and destination pole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94249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85476" y="1251129"/>
            <a:ext cx="7832481"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253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5616" y="2892419"/>
            <a:ext cx="6454527" cy="172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7505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25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3729"/>
          <a:stretch>
            <a:fillRect/>
          </a:stretch>
        </p:blipFill>
        <p:spPr bwMode="auto">
          <a:xfrm>
            <a:off x="1170179" y="2495194"/>
            <a:ext cx="6803641" cy="308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13273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51520" y="1251129"/>
            <a:ext cx="7866438"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35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2614167"/>
            <a:ext cx="7272808" cy="2639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81976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457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540" y="2491504"/>
            <a:ext cx="7358567" cy="337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04241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560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2450324"/>
            <a:ext cx="6778720" cy="3550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51989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66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4806" y="2504545"/>
            <a:ext cx="7283152" cy="322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34597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85478" y="413266"/>
            <a:ext cx="88585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95536" y="1251129"/>
            <a:ext cx="7722422"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76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6749" y="2436845"/>
            <a:ext cx="7128792" cy="3209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08277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413266"/>
            <a:ext cx="8964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Example:</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85478" y="787925"/>
            <a:ext cx="8751017" cy="1015663"/>
          </a:xfrm>
          <a:prstGeom prst="rect">
            <a:avLst/>
          </a:prstGeom>
          <a:noFill/>
        </p:spPr>
        <p:txBody>
          <a:bodyPr wrap="square" rtlCol="0">
            <a:spAutoFit/>
          </a:bodyPr>
          <a:lstStyle/>
          <a:p>
            <a:endParaRPr lang="en-US" sz="2400" b="1" u="sng" dirty="0"/>
          </a:p>
          <a:p>
            <a:r>
              <a:rPr lang="en-US" dirty="0"/>
              <a:t> </a:t>
            </a:r>
          </a:p>
          <a:p>
            <a:endParaRPr lang="en-IN" dirty="0"/>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285476" y="1251129"/>
            <a:ext cx="7832481" cy="907941"/>
          </a:xfrm>
          <a:prstGeom prst="rect">
            <a:avLst/>
          </a:prstGeom>
          <a:noFill/>
        </p:spPr>
        <p:txBody>
          <a:bodyPr wrap="square" rtlCol="0">
            <a:spAutoFit/>
          </a:bodyPr>
          <a:lstStyle/>
          <a:p>
            <a:pPr>
              <a:spcBef>
                <a:spcPts val="600"/>
              </a:spcBef>
            </a:pPr>
            <a:r>
              <a:rPr lang="en-IN" sz="2400" dirty="0">
                <a:latin typeface="Times New Roman" panose="02020603050405020304" pitchFamily="18" charset="0"/>
                <a:cs typeface="Times New Roman" panose="02020603050405020304" pitchFamily="18" charset="0"/>
              </a:rPr>
              <a:t>Let us understand with a simple example with 3 disks:</a:t>
            </a:r>
          </a:p>
          <a:p>
            <a:pPr>
              <a:spcBef>
                <a:spcPts val="600"/>
              </a:spcBef>
            </a:pPr>
            <a:r>
              <a:rPr lang="en-IN" sz="2400" dirty="0">
                <a:latin typeface="Times New Roman" panose="02020603050405020304" pitchFamily="18" charset="0"/>
                <a:cs typeface="Times New Roman" panose="02020603050405020304" pitchFamily="18" charset="0"/>
              </a:rPr>
              <a:t>So, total number of moves required = 7</a:t>
            </a:r>
          </a:p>
        </p:txBody>
      </p:sp>
      <p:pic>
        <p:nvPicPr>
          <p:cNvPr id="286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821" y="2421033"/>
            <a:ext cx="7508357" cy="336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10881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413266"/>
            <a:ext cx="88924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dirty="0">
                <a:solidFill>
                  <a:srgbClr val="FF0000"/>
                </a:solidFill>
                <a:cs typeface="Times New Roman" pitchFamily="18" charset="0"/>
              </a:rPr>
              <a:t>Code for Tower of Hanoi (C++) </a:t>
            </a: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Footer Placeholder 7"/>
          <p:cNvSpPr>
            <a:spLocks noGrp="1"/>
          </p:cNvSpPr>
          <p:nvPr>
            <p:ph type="ftr" sz="quarter" idx="11"/>
          </p:nvPr>
        </p:nvSpPr>
        <p:spPr/>
        <p:txBody>
          <a:bodyPr/>
          <a:lstStyle/>
          <a:p>
            <a:r>
              <a:rPr lang="en-IN"/>
              <a:t>Data  Structure         Unit2  </a:t>
            </a:r>
          </a:p>
        </p:txBody>
      </p:sp>
      <p:sp>
        <p:nvSpPr>
          <p:cNvPr id="10" name="TextBox 9"/>
          <p:cNvSpPr txBox="1"/>
          <p:nvPr/>
        </p:nvSpPr>
        <p:spPr>
          <a:xfrm>
            <a:off x="323528" y="1251129"/>
            <a:ext cx="8352928"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void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n, char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char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if (n == 0) {</a:t>
            </a:r>
          </a:p>
          <a:p>
            <a:r>
              <a:rPr lang="en-IN" sz="2400" dirty="0">
                <a:latin typeface="Times New Roman" panose="02020603050405020304" pitchFamily="18" charset="0"/>
                <a:cs typeface="Times New Roman" panose="02020603050405020304" pitchFamily="18" charset="0"/>
              </a:rPr>
              <a:t>        return;</a:t>
            </a:r>
          </a:p>
          <a:p>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cout</a:t>
            </a:r>
            <a:r>
              <a:rPr lang="en-IN" sz="2400" dirty="0">
                <a:latin typeface="Times New Roman" panose="02020603050405020304" pitchFamily="18" charset="0"/>
                <a:cs typeface="Times New Roman" panose="02020603050405020304" pitchFamily="18" charset="0"/>
              </a:rPr>
              <a:t> &lt;&lt; "Move disk " &lt;&lt; n &lt;&lt; " from rod " &lt;&lt; </a:t>
            </a:r>
            <a:r>
              <a:rPr lang="en-IN" sz="2400" dirty="0" err="1">
                <a:latin typeface="Times New Roman" panose="02020603050405020304" pitchFamily="18" charset="0"/>
                <a:cs typeface="Times New Roman" panose="02020603050405020304" pitchFamily="18" charset="0"/>
              </a:rPr>
              <a:t>from_rod</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&lt;&lt; " to rod " &lt;&lt;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&lt;&lt; </a:t>
            </a:r>
            <a:r>
              <a:rPr lang="en-IN" sz="2400" dirty="0" err="1">
                <a:latin typeface="Times New Roman" panose="02020603050405020304" pitchFamily="18" charset="0"/>
                <a:cs typeface="Times New Roman" panose="02020603050405020304" pitchFamily="18" charset="0"/>
              </a:rPr>
              <a:t>endl</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towerOfHanoi</a:t>
            </a:r>
            <a:r>
              <a:rPr lang="en-IN" sz="2400" dirty="0">
                <a:latin typeface="Times New Roman" panose="02020603050405020304" pitchFamily="18" charset="0"/>
                <a:cs typeface="Times New Roman" panose="02020603050405020304" pitchFamily="18" charset="0"/>
              </a:rPr>
              <a:t>(n - 1, </a:t>
            </a:r>
            <a:r>
              <a:rPr lang="en-IN" sz="2400" dirty="0" err="1">
                <a:latin typeface="Times New Roman" panose="02020603050405020304" pitchFamily="18" charset="0"/>
                <a:cs typeface="Times New Roman" panose="02020603050405020304" pitchFamily="18" charset="0"/>
              </a:rPr>
              <a:t>aux_rod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to_rod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from_rod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t>
            </a:r>
          </a:p>
        </p:txBody>
      </p:sp>
      <p:sp>
        <p:nvSpPr>
          <p:cNvPr id="3" name="TextBox 2"/>
          <p:cNvSpPr txBox="1"/>
          <p:nvPr/>
        </p:nvSpPr>
        <p:spPr>
          <a:xfrm>
            <a:off x="971600" y="5354891"/>
            <a:ext cx="4392488" cy="369332"/>
          </a:xfrm>
          <a:prstGeom prst="rect">
            <a:avLst/>
          </a:prstGeom>
          <a:noFill/>
        </p:spPr>
        <p:txBody>
          <a:bodyPr wrap="square" rtlCol="0">
            <a:spAutoFit/>
          </a:bodyPr>
          <a:lstStyle/>
          <a:p>
            <a:r>
              <a:rPr lang="en-US" dirty="0">
                <a:hlinkClick r:id="rId5"/>
              </a:rPr>
              <a:t>Complete code here</a:t>
            </a:r>
            <a:endParaRPr lang="en-US" dirty="0"/>
          </a:p>
        </p:txBody>
      </p:sp>
    </p:spTree>
    <p:extLst>
      <p:ext uri="{BB962C8B-B14F-4D97-AF65-F5344CB8AC3E}">
        <p14:creationId xmlns:p14="http://schemas.microsoft.com/office/powerpoint/2010/main" val="31394975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251520" y="298973"/>
            <a:ext cx="82089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061448"/>
            <a:ext cx="8748463" cy="5647700"/>
          </a:xfrm>
          <a:prstGeom prst="rect">
            <a:avLst/>
          </a:prstGeom>
          <a:noFill/>
        </p:spPr>
        <p:txBody>
          <a:bodyPr wrap="square" rtlCol="0">
            <a:spAutoFit/>
          </a:bodyPr>
          <a:lstStyle/>
          <a:p>
            <a:pPr marL="457200" indent="-457200" algn="just">
              <a:spcBef>
                <a:spcPts val="600"/>
              </a:spcBef>
              <a:buFont typeface="+mj-lt"/>
              <a:buAutoNum type="arabicPeriod"/>
            </a:pPr>
            <a:r>
              <a:rPr lang="en-US" sz="2400" dirty="0">
                <a:solidFill>
                  <a:srgbClr val="0D0D0D"/>
                </a:solidFill>
                <a:latin typeface="Times New Roman" panose="02020603050405020304" pitchFamily="18" charset="0"/>
                <a:cs typeface="Times New Roman" panose="02020603050405020304" pitchFamily="18" charset="0"/>
              </a:rPr>
              <a:t>What does LIFO stand for in the context of stack data structure?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Last In, First Out</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Last In, Last Out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First In, First Out </a:t>
            </a:r>
          </a:p>
          <a:p>
            <a:pPr marL="800100" lvl="1" indent="-342900" algn="just">
              <a:spcBef>
                <a:spcPts val="600"/>
              </a:spcBef>
              <a:buAutoNum type="alphaLcParenR"/>
            </a:pPr>
            <a:r>
              <a:rPr lang="en-US" sz="2400" dirty="0">
                <a:solidFill>
                  <a:srgbClr val="0D0D0D"/>
                </a:solidFill>
                <a:latin typeface="Times New Roman" panose="02020603050405020304" pitchFamily="18" charset="0"/>
                <a:cs typeface="Times New Roman" panose="02020603050405020304" pitchFamily="18" charset="0"/>
              </a:rPr>
              <a:t> First In, Last Out</a:t>
            </a:r>
            <a:r>
              <a:rPr lang="en-US" sz="2400" dirty="0">
                <a:latin typeface="Times New Roman" panose="02020603050405020304" pitchFamily="18" charset="0"/>
                <a:cs typeface="Times New Roman" panose="02020603050405020304" pitchFamily="18" charset="0"/>
              </a:rPr>
              <a:t> </a:t>
            </a:r>
          </a:p>
          <a:p>
            <a:pPr marL="342900" indent="-342900" algn="just">
              <a:spcBef>
                <a:spcPts val="600"/>
              </a:spcBef>
              <a:buAutoNum type="arabicPeriod"/>
            </a:pPr>
            <a:r>
              <a:rPr lang="en-US" sz="2400" dirty="0">
                <a:latin typeface="Times New Roman" panose="02020603050405020304" pitchFamily="18" charset="0"/>
                <a:cs typeface="Times New Roman" panose="02020603050405020304" pitchFamily="18" charset="0"/>
              </a:rPr>
              <a:t>In an array-based implementation of a stack, which end is used for push and pop operations?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Front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Middle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Top </a:t>
            </a:r>
          </a:p>
          <a:p>
            <a:pPr marL="800100" lvl="1" indent="-342900" algn="just">
              <a:spcBef>
                <a:spcPts val="600"/>
              </a:spcBef>
              <a:buFont typeface="+mj-lt"/>
              <a:buAutoNum type="alphaLcParenR"/>
            </a:pPr>
            <a:r>
              <a:rPr lang="en-US" sz="2400" dirty="0">
                <a:latin typeface="Times New Roman" panose="02020603050405020304" pitchFamily="18" charset="0"/>
                <a:cs typeface="Times New Roman" panose="02020603050405020304" pitchFamily="18" charset="0"/>
              </a:rPr>
              <a:t> Bottom</a:t>
            </a:r>
          </a:p>
          <a:p>
            <a:pPr marL="800100" lvl="1" indent="-342900" algn="just">
              <a:spcBef>
                <a:spcPts val="600"/>
              </a:spcBef>
            </a:pPr>
            <a:endParaRPr lang="en-US" sz="2400" dirty="0">
              <a:latin typeface="Times New Roman" panose="02020603050405020304" pitchFamily="18" charset="0"/>
              <a:cs typeface="Times New Roman" panose="02020603050405020304" pitchFamily="18" charset="0"/>
            </a:endParaRPr>
          </a:p>
          <a:p>
            <a:pPr algn="just">
              <a:spcBef>
                <a:spcPts val="600"/>
              </a:spcBef>
            </a:pPr>
            <a:endParaRPr lang="en-IN"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7005905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323528" y="298973"/>
            <a:ext cx="8136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529" y="1281080"/>
            <a:ext cx="8424936" cy="3339376"/>
          </a:xfrm>
          <a:prstGeom prst="rect">
            <a:avLst/>
          </a:prstGeom>
          <a:noFill/>
        </p:spPr>
        <p:txBody>
          <a:bodyPr wrap="square" rtlCol="0">
            <a:spAutoFit/>
          </a:bodyPr>
          <a:lstStyle/>
          <a:p>
            <a:pPr marL="342900" indent="-342900" algn="just">
              <a:spcBef>
                <a:spcPts val="600"/>
              </a:spcBef>
            </a:pPr>
            <a:r>
              <a:rPr lang="en-US" sz="2400" dirty="0">
                <a:solidFill>
                  <a:srgbClr val="0D0D0D"/>
                </a:solidFill>
                <a:latin typeface="Times New Roman" panose="02020603050405020304" pitchFamily="18" charset="0"/>
                <a:cs typeface="Times New Roman" panose="02020603050405020304" pitchFamily="18" charset="0"/>
              </a:rPr>
              <a:t>3. What is the significance of infix, postfix, and prefix notations in stack-based evaluations?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They represent different types of data structures.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 They are used to convert expressions to binary trees.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 They determine the order of operations in arithmetic expressions. </a:t>
            </a:r>
          </a:p>
          <a:p>
            <a:pPr marL="800100" lvl="1" indent="-342900" algn="just">
              <a:spcBef>
                <a:spcPts val="600"/>
              </a:spcBef>
              <a:buFont typeface="+mj-lt"/>
              <a:buAutoNum type="alphaLcParenR"/>
            </a:pPr>
            <a:r>
              <a:rPr lang="en-US" sz="2400" dirty="0">
                <a:solidFill>
                  <a:srgbClr val="0D0D0D"/>
                </a:solidFill>
                <a:latin typeface="Times New Roman" panose="02020603050405020304" pitchFamily="18" charset="0"/>
                <a:cs typeface="Times New Roman" panose="02020603050405020304" pitchFamily="18" charset="0"/>
              </a:rPr>
              <a:t>They are used for heap data structure operations.</a:t>
            </a:r>
            <a:endParaRPr lang="en-US" sz="2400" dirty="0">
              <a:latin typeface="Times New Roman" panose="02020603050405020304" pitchFamily="18" charset="0"/>
              <a:cs typeface="Times New Roman" panose="02020603050405020304" pitchFamily="18" charset="0"/>
            </a:endParaRPr>
          </a:p>
          <a:p>
            <a:pPr algn="just">
              <a:spcBef>
                <a:spcPts val="600"/>
              </a:spcBef>
            </a:pPr>
            <a:endParaRPr lang="en-IN"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0544644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9833"/>
            <a:ext cx="8748463" cy="4847481"/>
          </a:xfrm>
          <a:prstGeom prst="rect">
            <a:avLst/>
          </a:prstGeom>
          <a:noFill/>
        </p:spPr>
        <p:txBody>
          <a:bodyPr wrap="square" rtlCol="0">
            <a:spAutoFit/>
          </a:bodyPr>
          <a:lstStyle/>
          <a:p>
            <a:pPr algn="just">
              <a:spcBef>
                <a:spcPts val="600"/>
              </a:spcBef>
            </a:pPr>
            <a:r>
              <a:rPr lang="en-US" sz="2400" dirty="0">
                <a:latin typeface="Times New Roman" panose="02020603050405020304" pitchFamily="18" charset="0"/>
                <a:cs typeface="Times New Roman" panose="02020603050405020304" pitchFamily="18" charset="0"/>
              </a:rPr>
              <a:t>4. Which of the following is an example of a postfix expression?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A + B * C</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A + B + C</a:t>
            </a:r>
          </a:p>
          <a:p>
            <a:pPr algn="just">
              <a:spcBef>
                <a:spcPts val="600"/>
              </a:spcBef>
            </a:pPr>
            <a:r>
              <a:rPr lang="en-US" sz="2400" dirty="0">
                <a:latin typeface="Times New Roman" panose="02020603050405020304" pitchFamily="18" charset="0"/>
                <a:cs typeface="Times New Roman" panose="02020603050405020304" pitchFamily="18" charset="0"/>
              </a:rPr>
              <a:t>5. Which problem is often solved using the Tower of Hanoi problem?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Sorting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Searching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Recursion </a:t>
            </a:r>
          </a:p>
          <a:p>
            <a:pPr marL="800100" lvl="1" indent="-342900" algn="just">
              <a:spcBef>
                <a:spcPts val="600"/>
              </a:spcBef>
              <a:buAutoNum type="alphaLcParenR"/>
            </a:pPr>
            <a:r>
              <a:rPr lang="en-US" sz="2400" dirty="0">
                <a:latin typeface="Times New Roman" panose="02020603050405020304" pitchFamily="18" charset="0"/>
                <a:cs typeface="Times New Roman" panose="02020603050405020304" pitchFamily="18" charset="0"/>
              </a:rPr>
              <a:t> Graph Traversal </a:t>
            </a:r>
          </a:p>
          <a:p>
            <a:pPr lvl="1"/>
            <a:endParaRPr lang="en-IN" sz="24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9358563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Conceptualize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p:cNvSpPr txBox="1"/>
          <p:nvPr/>
        </p:nvSpPr>
        <p:spPr>
          <a:xfrm>
            <a:off x="180021" y="1266470"/>
            <a:ext cx="8892480" cy="3970318"/>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Answers:</a:t>
            </a:r>
          </a:p>
          <a:p>
            <a:pPr>
              <a:lnSpc>
                <a:spcPct val="150000"/>
              </a:lnSpc>
            </a:pPr>
            <a:r>
              <a:rPr lang="en-US" sz="2400" dirty="0">
                <a:latin typeface="Times New Roman" panose="02020603050405020304" pitchFamily="18" charset="0"/>
                <a:cs typeface="Times New Roman" panose="02020603050405020304" pitchFamily="18" charset="0"/>
              </a:rPr>
              <a:t>1.a) Last In, First Out</a:t>
            </a:r>
          </a:p>
          <a:p>
            <a:pPr>
              <a:lnSpc>
                <a:spcPct val="150000"/>
              </a:lnSpc>
            </a:pPr>
            <a:r>
              <a:rPr lang="en-US" sz="2400" dirty="0">
                <a:latin typeface="Times New Roman" panose="02020603050405020304" pitchFamily="18" charset="0"/>
                <a:cs typeface="Times New Roman" panose="02020603050405020304" pitchFamily="18" charset="0"/>
              </a:rPr>
              <a:t>2.c) Top</a:t>
            </a:r>
          </a:p>
          <a:p>
            <a:pPr>
              <a:lnSpc>
                <a:spcPct val="150000"/>
              </a:lnSpc>
            </a:pPr>
            <a:r>
              <a:rPr lang="en-US" sz="2400" dirty="0">
                <a:latin typeface="Times New Roman" panose="02020603050405020304" pitchFamily="18" charset="0"/>
                <a:cs typeface="Times New Roman" panose="02020603050405020304" pitchFamily="18" charset="0"/>
              </a:rPr>
              <a:t>3.c) They determine the order of operations in arithmetic expressions.</a:t>
            </a:r>
          </a:p>
          <a:p>
            <a:pPr>
              <a:lnSpc>
                <a:spcPct val="150000"/>
              </a:lnSpc>
            </a:pPr>
            <a:r>
              <a:rPr lang="en-US" sz="2400" dirty="0">
                <a:latin typeface="Times New Roman" panose="02020603050405020304" pitchFamily="18" charset="0"/>
                <a:cs typeface="Times New Roman" panose="02020603050405020304" pitchFamily="18" charset="0"/>
              </a:rPr>
              <a:t>4.c) A * B + C</a:t>
            </a:r>
          </a:p>
          <a:p>
            <a:pPr>
              <a:lnSpc>
                <a:spcPct val="150000"/>
              </a:lnSpc>
            </a:pPr>
            <a:r>
              <a:rPr lang="en-US" sz="2400" dirty="0">
                <a:latin typeface="Times New Roman" panose="02020603050405020304" pitchFamily="18" charset="0"/>
                <a:cs typeface="Times New Roman" panose="02020603050405020304" pitchFamily="18" charset="0"/>
              </a:rPr>
              <a:t>5.c) Recursion</a:t>
            </a:r>
          </a:p>
          <a:p>
            <a:endParaRPr lang="en-US" dirty="0"/>
          </a:p>
          <a:p>
            <a:endParaRPr lang="en-US"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70243141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251520" y="1365239"/>
            <a:ext cx="8256138" cy="3062377"/>
          </a:xfrm>
          <a:prstGeom prst="rect">
            <a:avLst/>
          </a:prstGeom>
        </p:spPr>
        <p:txBody>
          <a:bodyPr wrap="square">
            <a:spAutoFit/>
          </a:bodyPr>
          <a:lstStyle/>
          <a:p>
            <a:pPr marL="457200" indent="-457200" algn="just" fontAlgn="base">
              <a:spcBef>
                <a:spcPts val="600"/>
              </a:spcBef>
              <a:buFont typeface="+mj-lt"/>
              <a:buAutoNum type="arabicPeriod"/>
            </a:pPr>
            <a:r>
              <a:rPr lang="pt-BR" sz="2300" dirty="0">
                <a:latin typeface="Times New Roman" panose="02020603050405020304" pitchFamily="18" charset="0"/>
                <a:cs typeface="Times New Roman" panose="02020603050405020304" pitchFamily="18" charset="0"/>
              </a:rPr>
              <a:t>What is the equivalent infix expression of the following postfix expression?</a:t>
            </a:r>
          </a:p>
          <a:p>
            <a:pPr algn="ctr" fontAlgn="base">
              <a:spcBef>
                <a:spcPts val="600"/>
              </a:spcBef>
            </a:pPr>
            <a:r>
              <a:rPr lang="pt-BR" sz="2300" dirty="0">
                <a:latin typeface="Times New Roman" panose="02020603050405020304" pitchFamily="18" charset="0"/>
                <a:cs typeface="Times New Roman" panose="02020603050405020304" pitchFamily="18" charset="0"/>
              </a:rPr>
              <a:t>           M, N, O, +, *, P, /, Q, R, S, T, /, +, *, –</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N*(M+Q)/Q-P*(S+R/T)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(((M*(N+O))/P)-(Q*(R+(S/T))))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O * (M + N)/P – Q * (R + S/T)</a:t>
            </a:r>
          </a:p>
          <a:p>
            <a:pPr marL="914400" lvl="1" indent="-457200" algn="just" fontAlgn="base">
              <a:spcBef>
                <a:spcPts val="600"/>
              </a:spcBef>
              <a:buFont typeface="+mj-lt"/>
              <a:buAutoNum type="alphaLcParenR"/>
            </a:pPr>
            <a:r>
              <a:rPr lang="pt-BR" sz="2300" dirty="0">
                <a:latin typeface="Times New Roman" panose="02020603050405020304" pitchFamily="18" charset="0"/>
                <a:cs typeface="Times New Roman" panose="02020603050405020304" pitchFamily="18" charset="0"/>
              </a:rPr>
              <a:t>M * (N + O)/Q – P * (R/S + T)</a:t>
            </a:r>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2797222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57622" y="1206856"/>
            <a:ext cx="8390841" cy="5047536"/>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2. What is the postfix representation of the following infix expression?</a:t>
            </a:r>
          </a:p>
          <a:p>
            <a:pPr fontAlgn="base"/>
            <a:r>
              <a:rPr lang="en-US" sz="2300" dirty="0">
                <a:latin typeface="Times New Roman" panose="02020603050405020304" pitchFamily="18" charset="0"/>
                <a:cs typeface="Times New Roman" panose="02020603050405020304" pitchFamily="18" charset="0"/>
              </a:rPr>
              <a:t>                                 (A + B) * C – D * E / F</a:t>
            </a:r>
          </a:p>
          <a:p>
            <a:pPr fontAlgn="base"/>
            <a:endParaRPr lang="en-US" sz="2300" dirty="0">
              <a:latin typeface="Times New Roman" panose="02020603050405020304" pitchFamily="18" charset="0"/>
              <a:cs typeface="Times New Roman" panose="02020603050405020304" pitchFamily="18" charset="0"/>
            </a:endParaRP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r>
              <a:rPr lang="en-US" sz="2300" dirty="0">
                <a:latin typeface="Times New Roman" panose="02020603050405020304" pitchFamily="18" charset="0"/>
                <a:cs typeface="Times New Roman" panose="02020603050405020304" pitchFamily="18" charset="0"/>
              </a:rPr>
              <a:t>A B + C * D E * F / –</a:t>
            </a:r>
          </a:p>
          <a:p>
            <a:pPr marL="914400" lvl="1" indent="-457200" fontAlgn="base">
              <a:buFont typeface="+mj-lt"/>
              <a:buAutoNum type="alphaLcParenR"/>
            </a:pPr>
            <a:endParaRPr lang="en-US" sz="2300" dirty="0">
              <a:latin typeface="Times New Roman" panose="02020603050405020304" pitchFamily="18" charset="0"/>
              <a:cs typeface="Times New Roman" panose="02020603050405020304" pitchFamily="18" charset="0"/>
            </a:endParaRPr>
          </a:p>
          <a:p>
            <a:pPr fontAlgn="base"/>
            <a:r>
              <a:rPr lang="en-US" sz="2300" dirty="0">
                <a:latin typeface="Times New Roman" panose="02020603050405020304" pitchFamily="18" charset="0"/>
                <a:cs typeface="Times New Roman" panose="02020603050405020304" pitchFamily="18" charset="0"/>
              </a:rPr>
              <a:t>3. The result evaluating the postfix expression 10 5 + 60 6 / * 8 − is</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284</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213</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142</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71</a:t>
            </a:r>
          </a:p>
        </p:txBody>
      </p:sp>
      <p:sp>
        <p:nvSpPr>
          <p:cNvPr id="11" name="Rectangle 10"/>
          <p:cNvSpPr/>
          <p:nvPr/>
        </p:nvSpPr>
        <p:spPr>
          <a:xfrm>
            <a:off x="838200" y="4876800"/>
            <a:ext cx="5181600" cy="369332"/>
          </a:xfrm>
          <a:prstGeom prst="rect">
            <a:avLst/>
          </a:prstGeom>
        </p:spPr>
        <p:txBody>
          <a:bodyPr wrap="square">
            <a:spAutoFit/>
          </a:bodyPr>
          <a:lstStyle/>
          <a:p>
            <a:r>
              <a:rPr lang="pt-BR" b="1" i="1" u="sng" dirty="0"/>
              <a:t> </a:t>
            </a:r>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C10BDE02-0F85-182F-B752-43CA686D0F9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053024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323528" y="1185858"/>
            <a:ext cx="8352928" cy="4593565"/>
          </a:xfrm>
          <a:prstGeom prst="rect">
            <a:avLst/>
          </a:prstGeom>
        </p:spPr>
        <p:txBody>
          <a:bodyPr wrap="square">
            <a:spAutoFit/>
          </a:bodyPr>
          <a:lstStyle/>
          <a:p>
            <a:pPr algn="just" fontAlgn="base">
              <a:lnSpc>
                <a:spcPct val="150000"/>
              </a:lnSpc>
            </a:pPr>
            <a:r>
              <a:rPr lang="en-US" sz="2300" dirty="0">
                <a:latin typeface="Times New Roman" panose="02020603050405020304" pitchFamily="18" charset="0"/>
                <a:cs typeface="Times New Roman" panose="02020603050405020304" pitchFamily="18" charset="0"/>
              </a:rPr>
              <a:t>4. The five items P,Q,R,S and T are pushed in a stack, one after the other starting from P. The stack is popped four times and each element is inserted in a queue. Then two elements are deleted from the queue and pushed back on the stack. now one item is popped from the stack. The popped item is:  </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P</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R</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Q</a:t>
            </a:r>
          </a:p>
          <a:p>
            <a:pPr marL="971550" lvl="1" indent="-514350" fontAlgn="base">
              <a:buFont typeface="+mj-lt"/>
              <a:buAutoNum type="alphaLcParenR"/>
            </a:pPr>
            <a:r>
              <a:rPr lang="en-US" sz="2300" dirty="0">
                <a:latin typeface="Times New Roman" panose="02020603050405020304" pitchFamily="18" charset="0"/>
                <a:cs typeface="Times New Roman" panose="02020603050405020304" pitchFamily="18" charset="0"/>
              </a:rPr>
              <a:t>S</a:t>
            </a:r>
          </a:p>
          <a:p>
            <a:pPr fontAlgn="base"/>
            <a:endParaRPr lang="en-US" sz="2800" dirty="0"/>
          </a:p>
        </p:txBody>
      </p:sp>
      <p:sp>
        <p:nvSpPr>
          <p:cNvPr id="3" name="Footer Placeholder 2"/>
          <p:cNvSpPr>
            <a:spLocks noGrp="1"/>
          </p:cNvSpPr>
          <p:nvPr>
            <p:ph type="ftr" sz="quarter" idx="11"/>
          </p:nvPr>
        </p:nvSpPr>
        <p:spPr>
          <a:xfrm>
            <a:off x="5461418" y="6117540"/>
            <a:ext cx="2895600" cy="365125"/>
          </a:xfrm>
        </p:spPr>
        <p:txBody>
          <a:bodyPr/>
          <a:lstStyle/>
          <a:p>
            <a:r>
              <a:rPr lang="en-IN"/>
              <a:t>Data  Structure         Unit2  </a:t>
            </a:r>
            <a:endParaRPr lang="en-IN" dirty="0"/>
          </a:p>
        </p:txBody>
      </p:sp>
      <p:sp>
        <p:nvSpPr>
          <p:cNvPr id="8" name="Rectangle 1">
            <a:extLst>
              <a:ext uri="{FF2B5EF4-FFF2-40B4-BE49-F238E27FC236}">
                <a16:creationId xmlns:a16="http://schemas.microsoft.com/office/drawing/2014/main" id="{3A95520D-67E2-4539-0F57-94372D5BC453}"/>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3476778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524056" cy="1661993"/>
          </a:xfrm>
          <a:prstGeom prst="rect">
            <a:avLst/>
          </a:prstGeom>
        </p:spPr>
        <p:txBody>
          <a:bodyPr wrap="square">
            <a:spAutoFit/>
          </a:bodyPr>
          <a:lstStyle/>
          <a:p>
            <a:pPr algn="just" fontAlgn="base"/>
            <a:r>
              <a:rPr lang="en-US" sz="2300" dirty="0">
                <a:latin typeface="Times New Roman" panose="02020603050405020304" pitchFamily="18" charset="0"/>
                <a:cs typeface="Times New Roman" panose="02020603050405020304" pitchFamily="18" charset="0"/>
              </a:rPr>
              <a:t>5. A stack is implemented with an array of ‘A [0..N – 1]’ and a variable ‘pos’. The push and pop operations are defined by the following code.</a:t>
            </a:r>
          </a:p>
          <a:p>
            <a:pPr fontAlgn="base"/>
            <a:endParaRPr lang="en-US" sz="2800" dirty="0">
              <a:latin typeface="Times New Roman" panose="02020603050405020304" pitchFamily="18" charset="0"/>
              <a:cs typeface="Times New Roman" panose="02020603050405020304" pitchFamily="18" charset="0"/>
            </a:endParaRPr>
          </a:p>
          <a:p>
            <a:pPr fontAlgn="base"/>
            <a:endParaRPr lang="en-US" sz="2800" dirty="0"/>
          </a:p>
        </p:txBody>
      </p:sp>
      <p:pic>
        <p:nvPicPr>
          <p:cNvPr id="7170" name="Picture 2"/>
          <p:cNvPicPr>
            <a:picLocks noChangeAspect="1" noChangeArrowheads="1"/>
          </p:cNvPicPr>
          <p:nvPr/>
        </p:nvPicPr>
        <p:blipFill>
          <a:blip r:embed="rId5"/>
          <a:srcRect/>
          <a:stretch>
            <a:fillRect/>
          </a:stretch>
        </p:blipFill>
        <p:spPr bwMode="auto">
          <a:xfrm>
            <a:off x="2375520" y="2123485"/>
            <a:ext cx="3060576" cy="1526663"/>
          </a:xfrm>
          <a:prstGeom prst="rect">
            <a:avLst/>
          </a:prstGeom>
          <a:noFill/>
          <a:ln w="9525">
            <a:noFill/>
            <a:miter lim="800000"/>
            <a:headEnd/>
            <a:tailEnd/>
          </a:ln>
          <a:effectLst/>
        </p:spPr>
      </p:pic>
      <p:sp>
        <p:nvSpPr>
          <p:cNvPr id="11" name="Rectangle 10"/>
          <p:cNvSpPr/>
          <p:nvPr/>
        </p:nvSpPr>
        <p:spPr>
          <a:xfrm>
            <a:off x="381000" y="3710046"/>
            <a:ext cx="8295456" cy="2523768"/>
          </a:xfrm>
          <a:prstGeom prst="rect">
            <a:avLst/>
          </a:prstGeom>
        </p:spPr>
        <p:txBody>
          <a:bodyPr wrap="square">
            <a:spAutoFit/>
          </a:bodyPr>
          <a:lstStyle/>
          <a:p>
            <a:pPr fontAlgn="base">
              <a:spcBef>
                <a:spcPts val="600"/>
              </a:spcBef>
            </a:pPr>
            <a:r>
              <a:rPr lang="en-IN" sz="2300" dirty="0">
                <a:latin typeface="Times New Roman" panose="02020603050405020304" pitchFamily="18" charset="0"/>
                <a:cs typeface="Times New Roman" panose="02020603050405020304" pitchFamily="18" charset="0"/>
              </a:rPr>
              <a:t>Which of the following will initialize an empty stack with capacity N for the above implementation?</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-1</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0</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1</a:t>
            </a:r>
          </a:p>
          <a:p>
            <a:pPr fontAlgn="base">
              <a:spcBef>
                <a:spcPts val="600"/>
              </a:spcBef>
            </a:pPr>
            <a:r>
              <a:rPr lang="en-IN" sz="2300" dirty="0" err="1">
                <a:latin typeface="Times New Roman" panose="02020603050405020304" pitchFamily="18" charset="0"/>
                <a:cs typeface="Times New Roman" panose="02020603050405020304" pitchFamily="18" charset="0"/>
              </a:rPr>
              <a:t>pos</a:t>
            </a:r>
            <a:r>
              <a:rPr lang="en-IN" sz="2300" dirty="0">
                <a:latin typeface="Times New Roman" panose="02020603050405020304" pitchFamily="18" charset="0"/>
                <a:cs typeface="Times New Roman" panose="02020603050405020304" pitchFamily="18" charset="0"/>
              </a:rPr>
              <a:t> ← N – 1</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07A5BBD6-DBB8-E2BF-17E6-5126347F3B08}"/>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5018810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4" y="1271568"/>
            <a:ext cx="8748463" cy="5186035"/>
          </a:xfrm>
          <a:prstGeom prst="rect">
            <a:avLst/>
          </a:prstGeom>
          <a:noFill/>
        </p:spPr>
        <p:txBody>
          <a:bodyPr wrap="square" rtlCol="0">
            <a:spAutoFit/>
          </a:bodyPr>
          <a:lstStyle/>
          <a:p>
            <a:pPr algn="just">
              <a:spcBef>
                <a:spcPts val="600"/>
              </a:spcBef>
            </a:pPr>
            <a:r>
              <a:rPr lang="en-IN" sz="2300" dirty="0">
                <a:latin typeface="Times New Roman" panose="02020603050405020304" pitchFamily="18" charset="0"/>
                <a:cs typeface="Times New Roman" panose="02020603050405020304" pitchFamily="18" charset="0"/>
              </a:rPr>
              <a:t>6. Consider the following postfix expression with single-digit operands:</a:t>
            </a:r>
          </a:p>
          <a:p>
            <a:pPr lvl="1" algn="just">
              <a:spcBef>
                <a:spcPts val="600"/>
              </a:spcBef>
            </a:pPr>
            <a:r>
              <a:rPr lang="en-IN" sz="2300" dirty="0">
                <a:latin typeface="Times New Roman" panose="02020603050405020304" pitchFamily="18" charset="0"/>
                <a:cs typeface="Times New Roman" panose="02020603050405020304" pitchFamily="18" charset="0"/>
              </a:rPr>
              <a:t>6 2 3 * / 4 2 * + 6 8 * –</a:t>
            </a:r>
          </a:p>
          <a:p>
            <a:pPr algn="just">
              <a:spcBef>
                <a:spcPts val="600"/>
              </a:spcBef>
            </a:pPr>
            <a:r>
              <a:rPr lang="en-IN" sz="2300" dirty="0">
                <a:latin typeface="Times New Roman" panose="02020603050405020304" pitchFamily="18" charset="0"/>
                <a:cs typeface="Times New Roman" panose="02020603050405020304" pitchFamily="18" charset="0"/>
              </a:rPr>
              <a:t>The top two elements of the stack after the second * is evaluated are:</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6, 3</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8, 1</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8, 2</a:t>
            </a:r>
          </a:p>
          <a:p>
            <a:pPr marL="342900" indent="-3429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6, 2</a:t>
            </a:r>
          </a:p>
          <a:p>
            <a:pPr>
              <a:spcBef>
                <a:spcPts val="600"/>
              </a:spcBef>
            </a:pPr>
            <a:r>
              <a:rPr lang="en-IN" sz="2300" dirty="0">
                <a:latin typeface="Times New Roman" panose="02020603050405020304" pitchFamily="18" charset="0"/>
                <a:cs typeface="Times New Roman" panose="02020603050405020304" pitchFamily="18" charset="0"/>
              </a:rPr>
              <a:t>7. What is the outcome of the prefix expression +, -, *, 3, 2, /, 8, 4, 1?</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12</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5</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11</a:t>
            </a:r>
          </a:p>
          <a:p>
            <a:pPr marL="457200" indent="-457200" fontAlgn="base">
              <a:spcBef>
                <a:spcPts val="600"/>
              </a:spcBef>
              <a:buFont typeface="+mj-lt"/>
              <a:buAutoNum type="alphaLcParenR"/>
            </a:pPr>
            <a:r>
              <a:rPr lang="en-IN" sz="2300" dirty="0">
                <a:latin typeface="Times New Roman" panose="02020603050405020304" pitchFamily="18" charset="0"/>
                <a:cs typeface="Times New Roman" panose="02020603050405020304" pitchFamily="18" charset="0"/>
              </a:rPr>
              <a:t>4</a:t>
            </a: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BD874FD4-534D-5165-1E30-F872F6E2E714}"/>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6846263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99451"/>
            <a:ext cx="8748463" cy="4893647"/>
          </a:xfrm>
          <a:prstGeom prst="rect">
            <a:avLst/>
          </a:prstGeom>
          <a:noFill/>
        </p:spPr>
        <p:txBody>
          <a:bodyPr wrap="square" rtlCol="0">
            <a:spAutoFit/>
          </a:bodyPr>
          <a:lstStyle/>
          <a:p>
            <a:r>
              <a:rPr lang="en-IN" sz="2300" dirty="0">
                <a:latin typeface="Times New Roman" panose="02020603050405020304" pitchFamily="18" charset="0"/>
                <a:cs typeface="Times New Roman" panose="02020603050405020304" pitchFamily="18" charset="0"/>
              </a:rPr>
              <a:t>8. Which of the following applications may use a stack?</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(a) Parenthesis balancing program</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(b) Process scheduling operating system</a:t>
            </a:r>
          </a:p>
          <a:p>
            <a:endParaRPr lang="en-IN" sz="23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(c) Conversion of infix arithmetic expression to postfix form</a:t>
            </a:r>
          </a:p>
          <a:p>
            <a:endParaRPr lang="en-IN" sz="2300" dirty="0">
              <a:latin typeface="Times New Roman" panose="02020603050405020304" pitchFamily="18" charset="0"/>
              <a:cs typeface="Times New Roman" panose="02020603050405020304" pitchFamily="18" charset="0"/>
            </a:endParaRP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and (b)</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(b) and (c)</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and (c)</a:t>
            </a:r>
          </a:p>
          <a:p>
            <a:pPr marL="342900" indent="-342900" fontAlgn="base">
              <a:buFont typeface="+mj-lt"/>
              <a:buAutoNum type="alphaLcParenR"/>
            </a:pPr>
            <a:r>
              <a:rPr lang="en-IN" sz="2300" dirty="0">
                <a:latin typeface="Times New Roman" panose="02020603050405020304" pitchFamily="18" charset="0"/>
                <a:cs typeface="Times New Roman" panose="02020603050405020304" pitchFamily="18" charset="0"/>
              </a:rPr>
              <a:t>(a), (b) and (c)</a:t>
            </a:r>
          </a:p>
          <a:p>
            <a:endParaRPr lang="en-IN" sz="2400"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3" name="Footer Placeholder 2"/>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B42BB60E-FA93-02DB-5E7A-9DA0349FF299}"/>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417319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01588" y="1293834"/>
            <a:ext cx="8577335" cy="2616101"/>
          </a:xfrm>
          <a:prstGeom prst="rect">
            <a:avLst/>
          </a:prstGeom>
          <a:noFill/>
        </p:spPr>
        <p:txBody>
          <a:bodyPr wrap="square" rtlCol="0">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9. A stack can be implemented using queue, but then we need to use at least:</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3 queues</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2 queues</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only one queue is sufficient</a:t>
            </a:r>
          </a:p>
          <a:p>
            <a:pPr marL="342900" indent="-342900" algn="just" fontAlgn="base">
              <a:spcBef>
                <a:spcPts val="600"/>
              </a:spcBef>
              <a:buFont typeface="+mj-lt"/>
              <a:buAutoNum type="alphaLcParenR"/>
            </a:pPr>
            <a:r>
              <a:rPr lang="en-IN" sz="2400" dirty="0">
                <a:latin typeface="Times New Roman" panose="02020603050405020304" pitchFamily="18" charset="0"/>
                <a:cs typeface="Times New Roman" panose="02020603050405020304" pitchFamily="18" charset="0"/>
              </a:rPr>
              <a:t>none of the options</a:t>
            </a: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58F99BE1-F0C8-18D6-1595-58AD2668209F}"/>
              </a:ext>
            </a:extLst>
          </p:cNvPr>
          <p:cNvSpPr>
            <a:spLocks noChangeArrowheads="1"/>
          </p:cNvSpPr>
          <p:nvPr/>
        </p:nvSpPr>
        <p:spPr bwMode="auto">
          <a:xfrm>
            <a:off x="179512" y="275932"/>
            <a:ext cx="817750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Test Yourself</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7704638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Answers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Footer Placeholder 3"/>
          <p:cNvSpPr>
            <a:spLocks noGrp="1"/>
          </p:cNvSpPr>
          <p:nvPr>
            <p:ph type="ftr" sz="quarter" idx="11"/>
          </p:nvPr>
        </p:nvSpPr>
        <p:spPr/>
        <p:txBody>
          <a:bodyPr/>
          <a:lstStyle/>
          <a:p>
            <a:r>
              <a:rPr lang="en-IN"/>
              <a:t>Data  Structure         Unit2  </a:t>
            </a:r>
          </a:p>
        </p:txBody>
      </p:sp>
      <p:sp>
        <p:nvSpPr>
          <p:cNvPr id="12" name="Rectangle 11"/>
          <p:cNvSpPr/>
          <p:nvPr/>
        </p:nvSpPr>
        <p:spPr>
          <a:xfrm>
            <a:off x="467544" y="1524000"/>
            <a:ext cx="7381056" cy="4191981"/>
          </a:xfrm>
          <a:prstGeom prst="rect">
            <a:avLst/>
          </a:prstGeom>
        </p:spPr>
        <p:txBody>
          <a:bodyPr wrap="square">
            <a:spAutoFit/>
          </a:bodyPr>
          <a:lstStyle/>
          <a:p>
            <a:pPr marL="342900" lvl="0" indent="-342900">
              <a:lnSpc>
                <a:spcPct val="150000"/>
              </a:lnSpc>
              <a:buFont typeface="+mj-lt"/>
              <a:buAutoNum type="arabicPeriod"/>
            </a:pPr>
            <a:r>
              <a:rPr lang="pt-BR" sz="2000" b="1" dirty="0">
                <a:latin typeface="Times New Roman" panose="02020603050405020304" pitchFamily="18" charset="0"/>
                <a:cs typeface="Times New Roman" panose="02020603050405020304" pitchFamily="18" charset="0"/>
              </a:rPr>
              <a:t>Option 2 : (((M * (N + O)) / P) – (Q * (R + (S / T)))) </a:t>
            </a:r>
            <a:endParaRPr lang="en-US" sz="2000" b="1" dirty="0">
              <a:latin typeface="Times New Roman" panose="02020603050405020304" pitchFamily="18" charset="0"/>
              <a:cs typeface="Times New Roman" panose="02020603050405020304" pitchFamily="18" charset="0"/>
            </a:endParaRP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A B + C * D E * F / –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3 : 142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S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4 : pos ← N – 1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2 : 8, 1 </a:t>
            </a:r>
          </a:p>
          <a:p>
            <a:pPr marL="342900" lvl="0" indent="-342900">
              <a:lnSpc>
                <a:spcPct val="150000"/>
              </a:lnSpc>
              <a:buFont typeface="+mj-lt"/>
              <a:buAutoNum type="arabicPeriod"/>
            </a:pPr>
            <a:r>
              <a:rPr lang="en-US" sz="2000" b="1" dirty="0">
                <a:latin typeface="Times New Roman" panose="02020603050405020304" pitchFamily="18" charset="0"/>
                <a:cs typeface="Times New Roman" panose="02020603050405020304" pitchFamily="18" charset="0"/>
              </a:rPr>
              <a:t>Option 2 : 5 </a:t>
            </a:r>
          </a:p>
          <a:p>
            <a:pPr marL="342900" lvl="0" indent="-3429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Option 3 : (a) and (c) </a:t>
            </a: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Option 2 : 2 queues </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0621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395536" y="1328161"/>
            <a:ext cx="8352928" cy="3570208"/>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Let S be a stack size of 4&gt;=1, and it is initially empty. Suppose we push the numbers 1, 2, 3, and 4, and then perform 4 pop operations. Let one push operation takes </a:t>
            </a:r>
            <a:r>
              <a:rPr lang="en-US" sz="2400" dirty="0">
                <a:latin typeface="Times New Roman" panose="02020603050405020304" pitchFamily="18" charset="0"/>
                <a:cs typeface="Times New Roman" panose="02020603050405020304" pitchFamily="18" charset="0"/>
              </a:rPr>
              <a:t>5 ns; one pop operation takes 5 ns; the time between the end of one such stack operation and the start of the next operation is 2 ns</a:t>
            </a:r>
            <a:r>
              <a:rPr lang="en-IN" sz="2400" dirty="0">
                <a:latin typeface="Times New Roman" panose="02020603050405020304" pitchFamily="18" charset="0"/>
                <a:cs typeface="Times New Roman" panose="02020603050405020304" pitchFamily="18" charset="0"/>
              </a:rPr>
              <a:t>.</a:t>
            </a:r>
          </a:p>
          <a:p>
            <a:pPr marL="268288" indent="-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   The stack life of a particular element p&gt;=1 is defined as the time elapsed from the end of push (P) to the start of the operation that removes (P) from the stack. The average stack life of an element of this stack is........................(in ns).</a:t>
            </a:r>
          </a:p>
        </p:txBody>
      </p:sp>
      <p:sp>
        <p:nvSpPr>
          <p:cNvPr id="2" name="Footer Placeholder 1"/>
          <p:cNvSpPr>
            <a:spLocks noGrp="1"/>
          </p:cNvSpPr>
          <p:nvPr>
            <p:ph type="ftr" sz="quarter" idx="11"/>
          </p:nvPr>
        </p:nvSpPr>
        <p:spPr/>
        <p:txBody>
          <a:bodyPr/>
          <a:lstStyle/>
          <a:p>
            <a:r>
              <a:rPr lang="en-IN"/>
              <a:t>Data  Structure         Unit2  </a:t>
            </a:r>
            <a:endParaRPr lang="en-IN" dirty="0"/>
          </a:p>
        </p:txBody>
      </p:sp>
    </p:spTree>
    <p:extLst>
      <p:ext uri="{BB962C8B-B14F-4D97-AF65-F5344CB8AC3E}">
        <p14:creationId xmlns:p14="http://schemas.microsoft.com/office/powerpoint/2010/main" val="23088246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8" name="Picture 2">
            <a:extLst>
              <a:ext uri="{FF2B5EF4-FFF2-40B4-BE49-F238E27FC236}">
                <a16:creationId xmlns:a16="http://schemas.microsoft.com/office/drawing/2014/main" id="{5B3C4D24-C06F-BD3B-9F1D-8F2B381E1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467544" y="1328161"/>
            <a:ext cx="8167600" cy="3570208"/>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Assume stack A has the entries p, q and r (with p on top and r on bottom). Initially stack B is empty. An entry popped out of stack A can be printed immediately or pushed to stack B. A entry popped out of stack B can only be printed.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least number of stack permutations of input sequence that start with a particular letter</a:t>
            </a:r>
          </a:p>
          <a:p>
            <a:pPr marL="285750" indent="-285750">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Consider the following infix expression which is to be converted to postfix expression using stack.</a:t>
            </a:r>
            <a:br>
              <a:rPr lang="en-IN" sz="2400" dirty="0"/>
            </a:br>
            <a:endParaRPr lang="en-IN" sz="2400" dirty="0"/>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7087" y="4642329"/>
            <a:ext cx="6029672" cy="687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755576" y="5407432"/>
            <a:ext cx="5105400" cy="461665"/>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What is the size of the stack?</a:t>
            </a:r>
          </a:p>
        </p:txBody>
      </p:sp>
      <p:sp>
        <p:nvSpPr>
          <p:cNvPr id="3" name="Footer Placeholder 2"/>
          <p:cNvSpPr>
            <a:spLocks noGrp="1"/>
          </p:cNvSpPr>
          <p:nvPr>
            <p:ph type="ftr" sz="quarter" idx="11"/>
          </p:nvPr>
        </p:nvSpPr>
        <p:spPr/>
        <p:txBody>
          <a:bodyPr/>
          <a:lstStyle/>
          <a:p>
            <a:r>
              <a:rPr lang="en-IN"/>
              <a:t>Data  Structure         Unit2  </a:t>
            </a:r>
          </a:p>
        </p:txBody>
      </p:sp>
      <p:sp>
        <p:nvSpPr>
          <p:cNvPr id="11" name="Rectangle 1">
            <a:extLst>
              <a:ext uri="{FF2B5EF4-FFF2-40B4-BE49-F238E27FC236}">
                <a16:creationId xmlns:a16="http://schemas.microsoft.com/office/drawing/2014/main" id="{D0E558F0-29B1-EE12-ECEC-D22C56DF1376}"/>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4600888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4" name="Rectangle 3"/>
          <p:cNvSpPr/>
          <p:nvPr/>
        </p:nvSpPr>
        <p:spPr>
          <a:xfrm>
            <a:off x="395536" y="1328161"/>
            <a:ext cx="8352928" cy="3139321"/>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Choose the equivalent prefix form of the following expression</a:t>
            </a:r>
          </a:p>
          <a:p>
            <a:pPr marL="285750" indent="-17463" algn="just">
              <a:spcBef>
                <a:spcPts val="600"/>
              </a:spcBef>
              <a:spcAft>
                <a:spcPts val="600"/>
              </a:spcAft>
            </a:pPr>
            <a:r>
              <a:rPr lang="en-IN" sz="2400" b="1" dirty="0">
                <a:latin typeface="Times New Roman" panose="02020603050405020304" pitchFamily="18" charset="0"/>
                <a:cs typeface="Times New Roman" panose="02020603050405020304" pitchFamily="18" charset="0"/>
              </a:rPr>
              <a:t>(a+(b-c))*((d-e)/(</a:t>
            </a:r>
            <a:r>
              <a:rPr lang="en-IN" sz="2400" b="1" dirty="0" err="1">
                <a:latin typeface="Times New Roman" panose="02020603050405020304" pitchFamily="18" charset="0"/>
                <a:cs typeface="Times New Roman" panose="02020603050405020304" pitchFamily="18" charset="0"/>
              </a:rPr>
              <a:t>f+g-h</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anose="02020603050405020304" pitchFamily="18" charset="0"/>
              </a:rPr>
              <a:t>A stack of size (1 to N) and the initial position of top pointer is 0.</a:t>
            </a:r>
          </a:p>
          <a:p>
            <a:pPr marL="285750" indent="-17463" algn="just">
              <a:spcBef>
                <a:spcPts val="600"/>
              </a:spcBef>
              <a:spcAft>
                <a:spcPts val="600"/>
              </a:spcAft>
            </a:pPr>
            <a:r>
              <a:rPr lang="en-IN" sz="2400" dirty="0">
                <a:latin typeface="Times New Roman" panose="02020603050405020304" pitchFamily="18" charset="0"/>
                <a:cs typeface="Times New Roman" panose="02020603050405020304" pitchFamily="18" charset="0"/>
              </a:rPr>
              <a:t>Get (i, S) is a routine to get </a:t>
            </a:r>
            <a:r>
              <a:rPr lang="en-IN" sz="2400" dirty="0" err="1">
                <a:latin typeface="Times New Roman" panose="02020603050405020304" pitchFamily="18" charset="0"/>
                <a:cs typeface="Times New Roman" panose="02020603050405020304" pitchFamily="18" charset="0"/>
              </a:rPr>
              <a:t>i</a:t>
            </a:r>
            <a:r>
              <a:rPr lang="en-IN" sz="2400" baseline="30000" dirty="0" err="1">
                <a:latin typeface="Times New Roman" panose="02020603050405020304" pitchFamily="18" charset="0"/>
                <a:cs typeface="Times New Roman" panose="02020603050405020304" pitchFamily="18" charset="0"/>
              </a:rPr>
              <a:t>th</a:t>
            </a:r>
            <a:r>
              <a:rPr lang="en-IN" sz="2400" dirty="0">
                <a:latin typeface="Times New Roman" panose="02020603050405020304" pitchFamily="18" charset="0"/>
                <a:cs typeface="Times New Roman" panose="02020603050405020304" pitchFamily="18" charset="0"/>
              </a:rPr>
              <a:t> element from stack ‘S’ with respect to top. Then, what is the underflow condition on stack to perform get() operation.</a:t>
            </a:r>
          </a:p>
        </p:txBody>
      </p:sp>
      <p:sp>
        <p:nvSpPr>
          <p:cNvPr id="3" name="Rectangle 2"/>
          <p:cNvSpPr/>
          <p:nvPr/>
        </p:nvSpPr>
        <p:spPr>
          <a:xfrm>
            <a:off x="683568" y="4874296"/>
            <a:ext cx="8659688" cy="369332"/>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hlinkClick r:id="rId5"/>
              </a:rPr>
              <a:t>https://gateoverflow.in/115691/stack-underflow</a:t>
            </a:r>
            <a:endParaRPr lang="en-IN" dirty="0"/>
          </a:p>
        </p:txBody>
      </p:sp>
      <p:sp>
        <p:nvSpPr>
          <p:cNvPr id="2" name="Footer Placeholder 1"/>
          <p:cNvSpPr>
            <a:spLocks noGrp="1"/>
          </p:cNvSpPr>
          <p:nvPr>
            <p:ph type="ftr" sz="quarter" idx="11"/>
          </p:nvPr>
        </p:nvSpPr>
        <p:spPr/>
        <p:txBody>
          <a:bodyPr/>
          <a:lstStyle/>
          <a:p>
            <a:r>
              <a:rPr lang="en-IN"/>
              <a:t>Data  Structure         Unit2  </a:t>
            </a:r>
          </a:p>
        </p:txBody>
      </p:sp>
      <p:sp>
        <p:nvSpPr>
          <p:cNvPr id="8" name="Rectangle 1">
            <a:extLst>
              <a:ext uri="{FF2B5EF4-FFF2-40B4-BE49-F238E27FC236}">
                <a16:creationId xmlns:a16="http://schemas.microsoft.com/office/drawing/2014/main" id="{803428F7-7105-1BB0-801A-02CFA89550B5}"/>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Assignment</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8105810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382000" cy="3647152"/>
          </a:xfrm>
          <a:prstGeom prst="rect">
            <a:avLst/>
          </a:prstGeom>
        </p:spPr>
        <p:txBody>
          <a:bodyPr wrap="square">
            <a:spAutoFit/>
          </a:bodyPr>
          <a:lstStyle/>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What is the time efficiency of the push() and pop() operations of stacks?</a:t>
            </a:r>
          </a:p>
          <a:p>
            <a:pPr marL="0" lvl="1" algn="just">
              <a:spcBef>
                <a:spcPts val="600"/>
              </a:spcBef>
              <a:spcAft>
                <a:spcPts val="600"/>
              </a:spcAft>
            </a:pPr>
            <a:r>
              <a:rPr lang="en-US" sz="2400" dirty="0">
                <a:latin typeface="Times New Roman" panose="02020603050405020304" pitchFamily="18" charset="0"/>
                <a:cs typeface="Times New Roman" panose="02020603050405020304" pitchFamily="18" charset="0"/>
              </a:rPr>
              <a:t>The push() and pop() methods implemented in stacks take constant time to execute. i.e. the time to execute is very quick and is not dependent on the number of items on the stack. In Big O notation this is represented as O(1).</a:t>
            </a:r>
          </a:p>
          <a:p>
            <a:pPr lvl="1" algn="just"/>
            <a:endParaRPr lang="en-US" sz="2400" b="1" dirty="0"/>
          </a:p>
          <a:p>
            <a:endParaRPr lang="en-US" sz="2400" dirty="0"/>
          </a:p>
          <a:p>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4369539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194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304800" y="1143000"/>
            <a:ext cx="8443664" cy="5262979"/>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What is a stack and how does it work?</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A stack is a linear data structure that follows the Last In, First Out (LIFO) principle. It means the last element added to the stack is the first one to be removed. Operations on a stack are performed at one end, typically called the top. Common operations include push (to add an element), pop (to remove the top element), and peek (to view the top element without removing it).</a:t>
            </a:r>
          </a:p>
          <a:p>
            <a:pPr algn="just">
              <a:spcBef>
                <a:spcPts val="600"/>
              </a:spcBef>
            </a:pPr>
            <a:r>
              <a:rPr lang="en-US" sz="2300" b="1" dirty="0">
                <a:latin typeface="Times New Roman" panose="02020603050405020304" pitchFamily="18" charset="0"/>
                <a:cs typeface="Times New Roman" panose="02020603050405020304" pitchFamily="18" charset="0"/>
              </a:rPr>
              <a:t>How do you implement a stack using an array?</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To implement a stack using an array, we typically use an array with a fixed size and a variable to keep track of the top element's index. When pushing an element, we increment the top index and insert the element at that position. When popping an element, we retrieve the element at the top index and decrement the top index.</a:t>
            </a:r>
          </a:p>
          <a:p>
            <a:pPr algn="just"/>
            <a:endParaRPr lang="en-US" sz="2400" dirty="0"/>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A910C640-021F-C160-78C8-A9B5757E9637}"/>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5572620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591872" cy="3893374"/>
          </a:xfrm>
          <a:prstGeom prst="rect">
            <a:avLst/>
          </a:prstGeom>
        </p:spPr>
        <p:txBody>
          <a:bodyPr wrap="square">
            <a:spAutoFit/>
          </a:bodyPr>
          <a:lstStyle/>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What are infix, postfix, and prefix notations? Can you provide examples of each?</a:t>
            </a:r>
          </a:p>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a:t>
            </a:r>
          </a:p>
          <a:p>
            <a:pPr algn="just">
              <a:spcBef>
                <a:spcPts val="600"/>
              </a:spcBef>
              <a:spcAft>
                <a:spcPts val="600"/>
              </a:spcAft>
            </a:pPr>
            <a:r>
              <a:rPr lang="en-US" sz="2300" b="1" dirty="0">
                <a:latin typeface="Times New Roman" panose="02020603050405020304" pitchFamily="18" charset="0"/>
                <a:cs typeface="Times New Roman" panose="02020603050405020304" pitchFamily="18" charset="0"/>
              </a:rPr>
              <a:t>Infix notation: </a:t>
            </a:r>
            <a:r>
              <a:rPr lang="en-US" sz="2300" dirty="0">
                <a:latin typeface="Times New Roman" panose="02020603050405020304" pitchFamily="18" charset="0"/>
                <a:cs typeface="Times New Roman" panose="02020603050405020304" pitchFamily="18" charset="0"/>
              </a:rPr>
              <a:t>It is the standard way of writing arithmetic expressions, where operators are placed between operands. Example: (2 + 3) * 4</a:t>
            </a:r>
          </a:p>
          <a:p>
            <a:pPr marL="0" lvl="2" algn="just">
              <a:spcBef>
                <a:spcPts val="600"/>
              </a:spcBef>
              <a:spcAft>
                <a:spcPts val="600"/>
              </a:spcAft>
            </a:pPr>
            <a:r>
              <a:rPr lang="en-US" sz="2300" b="1" dirty="0">
                <a:latin typeface="Times New Roman" panose="02020603050405020304" pitchFamily="18" charset="0"/>
                <a:cs typeface="Times New Roman" panose="02020603050405020304" pitchFamily="18" charset="0"/>
              </a:rPr>
              <a:t>Postfix notation: </a:t>
            </a:r>
            <a:r>
              <a:rPr lang="en-US" sz="2300" dirty="0">
                <a:latin typeface="Times New Roman" panose="02020603050405020304" pitchFamily="18" charset="0"/>
                <a:cs typeface="Times New Roman" panose="02020603050405020304" pitchFamily="18" charset="0"/>
              </a:rPr>
              <a:t>Also known as Reverse Polish Notation (RPN), operators are placed after their operands. Example: 2 3 + 4 *</a:t>
            </a:r>
          </a:p>
          <a:p>
            <a:pPr marL="0" lvl="2" algn="just">
              <a:spcBef>
                <a:spcPts val="600"/>
              </a:spcBef>
              <a:spcAft>
                <a:spcPts val="600"/>
              </a:spcAft>
            </a:pPr>
            <a:r>
              <a:rPr lang="en-US" sz="2300" b="1" dirty="0">
                <a:latin typeface="Times New Roman" panose="02020603050405020304" pitchFamily="18" charset="0"/>
                <a:cs typeface="Times New Roman" panose="02020603050405020304" pitchFamily="18" charset="0"/>
              </a:rPr>
              <a:t>Prefix notation: </a:t>
            </a:r>
            <a:r>
              <a:rPr lang="en-US" sz="2300" dirty="0">
                <a:latin typeface="Times New Roman" panose="02020603050405020304" pitchFamily="18" charset="0"/>
                <a:cs typeface="Times New Roman" panose="02020603050405020304" pitchFamily="18" charset="0"/>
              </a:rPr>
              <a:t>Also known as Polish Notation, operators are placed before their operands. Example: * + 2 3 4</a:t>
            </a:r>
            <a:endParaRPr lang="en-US" sz="2300" dirty="0"/>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84248D4E-3522-8BFD-380D-DFCE536A165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159226719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228600" y="1295400"/>
            <a:ext cx="8382000" cy="4570482"/>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What factors determine the time complexity of an algorithm?</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Time complexity depends on the number of basic operations performed by the algorithm as the size of the input increases. Common factors influencing time complexity include loop iterations, recursion depth, and the number of comparisons or assignments.</a:t>
            </a:r>
          </a:p>
          <a:p>
            <a:pPr algn="just">
              <a:spcBef>
                <a:spcPts val="600"/>
              </a:spcBef>
            </a:pPr>
            <a:r>
              <a:rPr lang="en-US" sz="2300" b="1" dirty="0">
                <a:latin typeface="Times New Roman" panose="02020603050405020304" pitchFamily="18" charset="0"/>
                <a:cs typeface="Times New Roman" panose="02020603050405020304" pitchFamily="18" charset="0"/>
              </a:rPr>
              <a:t>How can stacks be used to implement function calls in programming languages?</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Stacks are used to manage function calls and their local variables in programming languages. When a function is called, its parameters and return address are pushed onto the stack. Local variables are allocated space on the stack, and when the function completes execution, its frame is popped off the stack.</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7BFA1E81-D46E-2EA6-0FF4-44F46EE6D63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91216783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395536" y="1295400"/>
            <a:ext cx="8280920" cy="4924425"/>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are recursion and stacks related?</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dirty="0">
                <a:latin typeface="Times New Roman" panose="02020603050405020304" pitchFamily="18" charset="0"/>
                <a:cs typeface="Times New Roman" panose="02020603050405020304" pitchFamily="18" charset="0"/>
              </a:rPr>
              <a:t> Recursion involves a function calling itself, which leads to a chain of function calls. Each function call creates a new activation record (or stack frame), which is stored on the call stack. As recursion progresses, the stack grows with each function call and shrinks as functions return.</a:t>
            </a:r>
          </a:p>
          <a:p>
            <a:pPr algn="just">
              <a:spcBef>
                <a:spcPts val="600"/>
              </a:spcBef>
            </a:pPr>
            <a:r>
              <a:rPr lang="en-US" sz="2300" b="1" dirty="0">
                <a:latin typeface="Times New Roman" panose="02020603050405020304" pitchFamily="18" charset="0"/>
                <a:cs typeface="Times New Roman" panose="02020603050405020304" pitchFamily="18" charset="0"/>
              </a:rPr>
              <a:t>What factors influence the space complexity of a stack-based algorithm?</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Space complexity depends on the amount of memory required by the algorithm, including variables, data structures, and recursion depth. For stack-based algorithms, space complexity is often influenced by the size of the call stack, especially in recursive algorithms.</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051FD25D-EF28-3043-8E3B-C41CD39FA7ED}"/>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28097636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p:cNvSpPr/>
          <p:nvPr/>
        </p:nvSpPr>
        <p:spPr>
          <a:xfrm>
            <a:off x="431538" y="1293834"/>
            <a:ext cx="8280921" cy="3354765"/>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would you analyze the space complexity of an algorithm for converting infix to postfix expressions?</a:t>
            </a:r>
          </a:p>
          <a:p>
            <a:pPr algn="just">
              <a:spcBef>
                <a:spcPts val="600"/>
              </a:spcBef>
            </a:pPr>
            <a:r>
              <a:rPr lang="en-US" sz="2300" b="1" i="1" dirty="0">
                <a:latin typeface="Times New Roman" panose="02020603050405020304" pitchFamily="18" charset="0"/>
                <a:cs typeface="Times New Roman" panose="02020603050405020304" pitchFamily="18" charset="0"/>
              </a:rPr>
              <a:t>Answer: </a:t>
            </a:r>
            <a:r>
              <a:rPr lang="en-US" sz="2300" dirty="0">
                <a:latin typeface="Times New Roman" panose="02020603050405020304" pitchFamily="18" charset="0"/>
                <a:cs typeface="Times New Roman" panose="02020603050405020304" pitchFamily="18" charset="0"/>
              </a:rPr>
              <a:t>The space complexity of such an algorithm depends on the usage of additional data structures, such as stacks, to store operands, operators, and intermediate results. If the algorithm uses only a stack to convert the expression, the space complexity would be O(n), where n is the length of the input expression. However, if additional data structures are used, such as arrays or linked lists, the space complexity may vary accordingly</a:t>
            </a:r>
          </a:p>
        </p:txBody>
      </p:sp>
      <p:sp>
        <p:nvSpPr>
          <p:cNvPr id="3" name="Footer Placeholder 2"/>
          <p:cNvSpPr>
            <a:spLocks noGrp="1"/>
          </p:cNvSpPr>
          <p:nvPr>
            <p:ph type="ftr" sz="quarter" idx="11"/>
          </p:nvPr>
        </p:nvSpPr>
        <p:spPr/>
        <p:txBody>
          <a:bodyPr/>
          <a:lstStyle/>
          <a:p>
            <a:r>
              <a:rPr lang="en-IN"/>
              <a:t>Data  Structure         Unit2  </a:t>
            </a:r>
          </a:p>
        </p:txBody>
      </p:sp>
      <p:sp>
        <p:nvSpPr>
          <p:cNvPr id="4" name="Rectangle 1">
            <a:extLst>
              <a:ext uri="{FF2B5EF4-FFF2-40B4-BE49-F238E27FC236}">
                <a16:creationId xmlns:a16="http://schemas.microsoft.com/office/drawing/2014/main" id="{59C2FA56-B01F-6197-BBFF-8B20C2C62503}"/>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5562989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B61D7-BDFD-72C1-9F8A-D01361ACAFF0}"/>
            </a:ext>
          </a:extLst>
        </p:cNvPr>
        <p:cNvGrpSpPr/>
        <p:nvPr/>
      </p:nvGrpSpPr>
      <p:grpSpPr>
        <a:xfrm>
          <a:off x="0" y="0"/>
          <a:ext cx="0" cy="0"/>
          <a:chOff x="0" y="0"/>
          <a:chExt cx="0" cy="0"/>
        </a:xfrm>
      </p:grpSpPr>
      <p:pic>
        <p:nvPicPr>
          <p:cNvPr id="23554" name="Picture 2">
            <a:extLst>
              <a:ext uri="{FF2B5EF4-FFF2-40B4-BE49-F238E27FC236}">
                <a16:creationId xmlns:a16="http://schemas.microsoft.com/office/drawing/2014/main" id="{E8039FC3-ECF5-08CD-8AFF-2AE98CC5EB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5D1DB943-B37D-1402-CC34-9ABE7FD95C7B}"/>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A1C86989-9DF1-04B3-0ED8-6E3CFBECEEF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D11CE64-175D-B970-5FC5-F691AC53BC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EEC4A67-BC35-F01A-1B68-34236633706D}"/>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2D596FEE-399B-0827-83D1-190521FB2184}"/>
              </a:ext>
            </a:extLst>
          </p:cNvPr>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3" name="Rectangle 12">
            <a:extLst>
              <a:ext uri="{FF2B5EF4-FFF2-40B4-BE49-F238E27FC236}">
                <a16:creationId xmlns:a16="http://schemas.microsoft.com/office/drawing/2014/main" id="{219505CA-7568-7F27-6F92-5217F90A9678}"/>
              </a:ext>
            </a:extLst>
          </p:cNvPr>
          <p:cNvSpPr/>
          <p:nvPr/>
        </p:nvSpPr>
        <p:spPr>
          <a:xfrm>
            <a:off x="323528" y="1288611"/>
            <a:ext cx="8280921" cy="2646878"/>
          </a:xfrm>
          <a:prstGeom prst="rect">
            <a:avLst/>
          </a:prstGeom>
        </p:spPr>
        <p:txBody>
          <a:bodyPr wrap="square">
            <a:spAutoFit/>
          </a:bodyPr>
          <a:lstStyle/>
          <a:p>
            <a:pPr algn="just">
              <a:spcBef>
                <a:spcPts val="600"/>
              </a:spcBef>
            </a:pPr>
            <a:r>
              <a:rPr lang="en-US" sz="2300" b="1" dirty="0">
                <a:latin typeface="Times New Roman" panose="02020603050405020304" pitchFamily="18" charset="0"/>
                <a:cs typeface="Times New Roman" panose="02020603050405020304" pitchFamily="18" charset="0"/>
              </a:rPr>
              <a:t>How do you handle stack underflow in an array-based implementation?</a:t>
            </a:r>
          </a:p>
          <a:p>
            <a:pPr algn="just">
              <a:spcBef>
                <a:spcPts val="600"/>
              </a:spcBef>
            </a:pPr>
            <a:r>
              <a:rPr lang="en-US" sz="2300" b="1" i="1" dirty="0">
                <a:latin typeface="Times New Roman" panose="02020603050405020304" pitchFamily="18" charset="0"/>
                <a:cs typeface="Times New Roman" panose="02020603050405020304" pitchFamily="18" charset="0"/>
              </a:rPr>
              <a:t>Answer:</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Stack underflow occurs when popping from an empty stack. To handle this, we can check if the stack is empty before performing a pop operation. If the stack is empty and a pop operation is attempted, it should raise an error or return a special value indicating underflow.</a:t>
            </a:r>
          </a:p>
        </p:txBody>
      </p:sp>
      <p:sp>
        <p:nvSpPr>
          <p:cNvPr id="3" name="Footer Placeholder 2">
            <a:extLst>
              <a:ext uri="{FF2B5EF4-FFF2-40B4-BE49-F238E27FC236}">
                <a16:creationId xmlns:a16="http://schemas.microsoft.com/office/drawing/2014/main" id="{8442F4DE-69CE-7C08-9FF0-1CDF25F28A0A}"/>
              </a:ext>
            </a:extLst>
          </p:cNvPr>
          <p:cNvSpPr>
            <a:spLocks noGrp="1"/>
          </p:cNvSpPr>
          <p:nvPr>
            <p:ph type="ftr" sz="quarter" idx="11"/>
          </p:nvPr>
        </p:nvSpPr>
        <p:spPr/>
        <p:txBody>
          <a:bodyPr/>
          <a:lstStyle/>
          <a:p>
            <a:r>
              <a:rPr lang="en-IN"/>
              <a:t>Data  Structure         Unit2  </a:t>
            </a:r>
          </a:p>
        </p:txBody>
      </p:sp>
      <p:sp>
        <p:nvSpPr>
          <p:cNvPr id="2" name="Rectangle 1">
            <a:extLst>
              <a:ext uri="{FF2B5EF4-FFF2-40B4-BE49-F238E27FC236}">
                <a16:creationId xmlns:a16="http://schemas.microsoft.com/office/drawing/2014/main" id="{CAD58B15-6BD6-F0FD-DBAF-597273478C6A}"/>
              </a:ext>
            </a:extLst>
          </p:cNvPr>
          <p:cNvSpPr>
            <a:spLocks noChangeArrowheads="1"/>
          </p:cNvSpPr>
          <p:nvPr/>
        </p:nvSpPr>
        <p:spPr bwMode="auto">
          <a:xfrm>
            <a:off x="228600" y="275932"/>
            <a:ext cx="81284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Questions And Answers (Stack)</a:t>
            </a:r>
            <a:endParaRPr lang="en-IN" sz="3200" b="1" dirty="0">
              <a:solidFill>
                <a:srgbClr val="E31E24"/>
              </a:solidFill>
              <a:cs typeface="Times New Roman" panose="02020603050405020304" pitchFamily="18" charset="0"/>
              <a:sym typeface="Arial"/>
            </a:endParaRPr>
          </a:p>
        </p:txBody>
      </p:sp>
    </p:spTree>
    <p:extLst>
      <p:ext uri="{BB962C8B-B14F-4D97-AF65-F5344CB8AC3E}">
        <p14:creationId xmlns:p14="http://schemas.microsoft.com/office/powerpoint/2010/main" val="71303066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Picture 2">
            <a:extLst>
              <a:ext uri="{FF2B5EF4-FFF2-40B4-BE49-F238E27FC236}">
                <a16:creationId xmlns:a16="http://schemas.microsoft.com/office/drawing/2014/main" id="{5F86AF23-865E-19C1-A22F-24767E9A3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75" y="-12700"/>
            <a:ext cx="9175750" cy="688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97768" y="1677874"/>
            <a:ext cx="8748463" cy="646331"/>
          </a:xfrm>
          <a:prstGeom prst="rect">
            <a:avLst/>
          </a:prstGeom>
          <a:noFill/>
        </p:spPr>
        <p:txBody>
          <a:bodyPr wrap="square" rtlCol="0">
            <a:spAutoFit/>
          </a:bodyPr>
          <a:lstStyle/>
          <a:p>
            <a:r>
              <a:rPr lang="en-US" dirty="0"/>
              <a:t> </a:t>
            </a:r>
          </a:p>
          <a:p>
            <a:endParaRPr lang="en-IN" dirty="0"/>
          </a:p>
        </p:txBody>
      </p:sp>
      <p:sp>
        <p:nvSpPr>
          <p:cNvPr id="8" name="Rectangle 1">
            <a:extLst>
              <a:ext uri="{FF2B5EF4-FFF2-40B4-BE49-F238E27FC236}">
                <a16:creationId xmlns:a16="http://schemas.microsoft.com/office/drawing/2014/main" id="{64C06AB1-0FEA-D879-1F4C-A54AF13BBDA7}"/>
              </a:ext>
            </a:extLst>
          </p:cNvPr>
          <p:cNvSpPr>
            <a:spLocks noChangeArrowheads="1"/>
          </p:cNvSpPr>
          <p:nvPr/>
        </p:nvSpPr>
        <p:spPr bwMode="auto">
          <a:xfrm>
            <a:off x="395536" y="275932"/>
            <a:ext cx="79614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Key Takeaways</a:t>
            </a:r>
            <a:endParaRPr lang="en-IN" sz="3200" b="1" dirty="0">
              <a:solidFill>
                <a:srgbClr val="E31E24"/>
              </a:solidFill>
              <a:cs typeface="Times New Roman" panose="02020603050405020304" pitchFamily="18" charset="0"/>
              <a:sym typeface="Arial"/>
            </a:endParaRPr>
          </a:p>
        </p:txBody>
      </p:sp>
      <p:sp>
        <p:nvSpPr>
          <p:cNvPr id="10" name="Rectangle 9"/>
          <p:cNvSpPr/>
          <p:nvPr/>
        </p:nvSpPr>
        <p:spPr>
          <a:xfrm>
            <a:off x="152400" y="1219200"/>
            <a:ext cx="8991600" cy="954107"/>
          </a:xfrm>
          <a:prstGeom prst="rect">
            <a:avLst/>
          </a:prstGeom>
        </p:spPr>
        <p:txBody>
          <a:bodyPr wrap="square">
            <a:spAutoFit/>
          </a:bodyPr>
          <a:lstStyle/>
          <a:p>
            <a:pPr fontAlgn="base"/>
            <a:endParaRPr lang="en-US" sz="2800" dirty="0"/>
          </a:p>
          <a:p>
            <a:pPr fontAlgn="base"/>
            <a:endParaRPr lang="en-US" sz="2800" dirty="0"/>
          </a:p>
        </p:txBody>
      </p:sp>
      <p:sp>
        <p:nvSpPr>
          <p:cNvPr id="14" name="Content Placeholder 13">
            <a:extLst>
              <a:ext uri="{FF2B5EF4-FFF2-40B4-BE49-F238E27FC236}">
                <a16:creationId xmlns:a16="http://schemas.microsoft.com/office/drawing/2014/main" id="{A834CE92-AB7A-0EAB-76EB-8308C88DE7B4}"/>
              </a:ext>
            </a:extLst>
          </p:cNvPr>
          <p:cNvSpPr>
            <a:spLocks noGrp="1"/>
          </p:cNvSpPr>
          <p:nvPr>
            <p:ph idx="1"/>
          </p:nvPr>
        </p:nvSpPr>
        <p:spPr>
          <a:xfrm>
            <a:off x="395536" y="1293834"/>
            <a:ext cx="8064896" cy="4525963"/>
          </a:xfrm>
        </p:spPr>
        <p:txBody>
          <a:bodyPr>
            <a:normAutofit lnSpcReduction="10000"/>
          </a:bodyPr>
          <a:lstStyle/>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is widely used because of its </a:t>
            </a:r>
            <a:r>
              <a:rPr lang="en-US" altLang="en-US" sz="2400" b="1" dirty="0">
                <a:latin typeface="Times New Roman" panose="02020603050405020304" pitchFamily="18" charset="0"/>
                <a:cs typeface="Times New Roman" panose="02020603050405020304" pitchFamily="18" charset="0"/>
              </a:rPr>
              <a:t>LIFO behavior</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Expression conversion and evaluation become simple using stack.</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helps manage </a:t>
            </a:r>
            <a:r>
              <a:rPr lang="en-US" altLang="en-US" sz="2400" b="1" dirty="0">
                <a:latin typeface="Times New Roman" panose="02020603050405020304" pitchFamily="18" charset="0"/>
                <a:cs typeface="Times New Roman" panose="02020603050405020304" pitchFamily="18" charset="0"/>
              </a:rPr>
              <a:t>function calls and recursion</a:t>
            </a:r>
            <a:r>
              <a:rPr lang="en-US" altLang="en-US" sz="2400" dirty="0">
                <a:latin typeface="Times New Roman" panose="02020603050405020304" pitchFamily="18" charset="0"/>
                <a:cs typeface="Times New Roman" panose="02020603050405020304" pitchFamily="18" charset="0"/>
              </a:rPr>
              <a:t> via the call stack.</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Backtracking problems like </a:t>
            </a:r>
            <a:r>
              <a:rPr lang="en-US" altLang="en-US" sz="2400" b="1" dirty="0">
                <a:latin typeface="Times New Roman" panose="02020603050405020304" pitchFamily="18" charset="0"/>
                <a:cs typeface="Times New Roman" panose="02020603050405020304" pitchFamily="18" charset="0"/>
              </a:rPr>
              <a:t>Tower of Hanoi</a:t>
            </a:r>
            <a:r>
              <a:rPr lang="en-US" altLang="en-US" sz="2400" dirty="0">
                <a:latin typeface="Times New Roman" panose="02020603050405020304" pitchFamily="18" charset="0"/>
                <a:cs typeface="Times New Roman" panose="02020603050405020304" pitchFamily="18" charset="0"/>
              </a:rPr>
              <a:t> rely on stack/recursion.</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is useful in </a:t>
            </a:r>
            <a:r>
              <a:rPr lang="en-US" altLang="en-US" sz="2400" b="1" dirty="0">
                <a:latin typeface="Times New Roman" panose="02020603050405020304" pitchFamily="18" charset="0"/>
                <a:cs typeface="Times New Roman" panose="02020603050405020304" pitchFamily="18" charset="0"/>
              </a:rPr>
              <a:t>reversing data</a:t>
            </a:r>
            <a:r>
              <a:rPr lang="en-US" altLang="en-US" sz="2400" dirty="0">
                <a:latin typeface="Times New Roman" panose="02020603050405020304" pitchFamily="18" charset="0"/>
                <a:cs typeface="Times New Roman" panose="02020603050405020304" pitchFamily="18" charset="0"/>
              </a:rPr>
              <a:t>, checking balanced parentheses, and parsing expressions.</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Most stack-based algorithms work in </a:t>
            </a:r>
            <a:r>
              <a:rPr lang="en-US" altLang="en-US" sz="2400" b="1" dirty="0">
                <a:latin typeface="Times New Roman" panose="02020603050405020304" pitchFamily="18" charset="0"/>
                <a:cs typeface="Times New Roman" panose="02020603050405020304" pitchFamily="18" charset="0"/>
              </a:rPr>
              <a:t>linear time O(n)</a:t>
            </a:r>
            <a:r>
              <a:rPr lang="en-US" altLang="en-US" sz="24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400" dirty="0">
                <a:latin typeface="Times New Roman" panose="02020603050405020304" pitchFamily="18" charset="0"/>
                <a:cs typeface="Times New Roman" panose="02020603050405020304" pitchFamily="18" charset="0"/>
              </a:rPr>
              <a:t>Stack plays a crucial role in </a:t>
            </a:r>
            <a:r>
              <a:rPr lang="en-US" altLang="en-US" sz="2400" b="1" dirty="0">
                <a:latin typeface="Times New Roman" panose="02020603050405020304" pitchFamily="18" charset="0"/>
                <a:cs typeface="Times New Roman" panose="02020603050405020304" pitchFamily="18" charset="0"/>
              </a:rPr>
              <a:t>compilers, operating systems, and interpreters</a:t>
            </a:r>
            <a:r>
              <a:rPr lang="en-US" altLang="en-US" sz="2400" dirty="0">
                <a:latin typeface="Times New Roman" panose="02020603050405020304" pitchFamily="18" charset="0"/>
                <a:cs typeface="Times New Roman" panose="02020603050405020304" pitchFamily="18" charset="0"/>
              </a:rPr>
              <a:t>.</a:t>
            </a:r>
          </a:p>
          <a:p>
            <a:endParaRPr lang="en-IN" dirty="0"/>
          </a:p>
        </p:txBody>
      </p:sp>
      <p:sp>
        <p:nvSpPr>
          <p:cNvPr id="3" name="Footer Placeholder 2"/>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2243657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632311"/>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algn="just">
              <a:spcBef>
                <a:spcPts val="600"/>
              </a:spcBef>
            </a:pPr>
            <a:r>
              <a:rPr lang="en-US" sz="1600" dirty="0">
                <a:latin typeface="Times New Roman" panose="02020603050405020304" pitchFamily="18" charset="0"/>
                <a:cs typeface="Times New Roman" panose="02020603050405020304" pitchFamily="18" charset="0"/>
                <a:hlinkClick r:id="rId5"/>
              </a:rPr>
              <a:t>https://practicepaper.in/gate-cse/stack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6"/>
              </a:rPr>
              <a:t>https://www.geeksforgeeks.org/introduction-to-stack-data-structure-and-algorithm-tutorials/?ref=lbp</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7"/>
              </a:rPr>
              <a:t>https://www.javatpoint.com/data-structure-stack</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8"/>
              </a:rPr>
              <a:t>https://www.fullstack.cafe/interview-questions/stacks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9"/>
              </a:rPr>
              <a:t>https://www.interviewkickstart.com/learn/stack-data-structure</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0"/>
              </a:rPr>
              <a:t>https://www.youtube.com/watch?v=HRDHgKrYHgU</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1"/>
              </a:rPr>
              <a:t>https://www.youtube.com/watch?v=Ci9jZSRn3os</a:t>
            </a:r>
            <a:endParaRPr lang="en-US" sz="1600" dirty="0">
              <a:latin typeface="Times New Roman" panose="02020603050405020304" pitchFamily="18" charset="0"/>
              <a:cs typeface="Times New Roman" panose="02020603050405020304" pitchFamily="18" charset="0"/>
            </a:endParaRPr>
          </a:p>
          <a:p>
            <a:pPr algn="just">
              <a:spcBef>
                <a:spcPts val="600"/>
              </a:spcBef>
            </a:pPr>
            <a:r>
              <a:rPr lang="en-US" sz="1600" dirty="0">
                <a:latin typeface="Times New Roman" panose="02020603050405020304" pitchFamily="18" charset="0"/>
                <a:cs typeface="Times New Roman" panose="02020603050405020304" pitchFamily="18" charset="0"/>
                <a:hlinkClick r:id="rId12"/>
              </a:rPr>
              <a:t>https://www.udemy.com/topic/data-structures/</a:t>
            </a:r>
            <a:endParaRPr 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112</a:t>
            </a:fld>
            <a:endParaRPr lang="en-IN"/>
          </a:p>
        </p:txBody>
      </p:sp>
    </p:spTree>
    <p:extLst>
      <p:ext uri="{BB962C8B-B14F-4D97-AF65-F5344CB8AC3E}">
        <p14:creationId xmlns:p14="http://schemas.microsoft.com/office/powerpoint/2010/main" val="38954645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113</a:t>
            </a:fld>
            <a:endParaRPr lang="en-IN"/>
          </a:p>
        </p:txBody>
      </p:sp>
    </p:spTree>
    <p:extLst>
      <p:ext uri="{BB962C8B-B14F-4D97-AF65-F5344CB8AC3E}">
        <p14:creationId xmlns:p14="http://schemas.microsoft.com/office/powerpoint/2010/main" val="146689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23453</TotalTime>
  <Words>7836</Words>
  <Application>Microsoft Office PowerPoint</Application>
  <PresentationFormat>On-screen Show (4:3)</PresentationFormat>
  <Paragraphs>1290</Paragraphs>
  <Slides>113</Slides>
  <Notes>111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113</vt:i4>
      </vt:variant>
    </vt:vector>
  </HeadingPairs>
  <TitlesOfParts>
    <vt:vector size="121"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Jyoti Yadav</cp:lastModifiedBy>
  <cp:revision>1449</cp:revision>
  <cp:lastPrinted>2022-09-05T08:43:44Z</cp:lastPrinted>
  <dcterms:created xsi:type="dcterms:W3CDTF">2020-01-16T09:05:56Z</dcterms:created>
  <dcterms:modified xsi:type="dcterms:W3CDTF">2026-01-15T06:39:15Z</dcterms:modified>
</cp:coreProperties>
</file>